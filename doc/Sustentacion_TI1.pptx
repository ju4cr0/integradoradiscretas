
<file path=[Content_Types].xml><?xml version="1.0" encoding="utf-8"?>
<Types xmlns="http://schemas.openxmlformats.org/package/2006/content-type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rts/chart1.xml" ContentType="application/vnd.openxmlformats-officedocument.drawingml.chart+xml"/>
  <Override PartName="/ppt/notesSlides/notesSlide20.xml" ContentType="application/vnd.openxmlformats-officedocument.presentationml.notesSlide+xml"/>
  <Override PartName="/ppt/charts/chart2.xml" ContentType="application/vnd.openxmlformats-officedocument.drawingml.chart+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8"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85A611D-DB90-4D67-B786-2FB6ED0E4FCF}" v="2" dt="2026-10-23T19:22:49.13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77" d="100"/>
          <a:sy n="77" d="100"/>
        </p:scale>
        <p:origin x="243" y="39"/>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uan ariza" userId="b32c2be74dd93c62" providerId="LiveId" clId="{9951F977-C877-4D0F-AC62-044CB88B7586}"/>
    <pc:docChg chg="delSld modSld">
      <pc:chgData name="juan ariza" userId="b32c2be74dd93c62" providerId="LiveId" clId="{9951F977-C877-4D0F-AC62-044CB88B7586}" dt="2026-10-23T19:22:49.135" v="6" actId="20578"/>
      <pc:docMkLst>
        <pc:docMk/>
      </pc:docMkLst>
      <pc:sldChg chg="modSp mod">
        <pc:chgData name="juan ariza" userId="b32c2be74dd93c62" providerId="LiveId" clId="{9951F977-C877-4D0F-AC62-044CB88B7586}" dt="2026-10-21T19:49:31.156" v="0" actId="20577"/>
        <pc:sldMkLst>
          <pc:docMk/>
          <pc:sldMk cId="0" sldId="256"/>
        </pc:sldMkLst>
        <pc:spChg chg="mod">
          <ac:chgData name="juan ariza" userId="b32c2be74dd93c62" providerId="LiveId" clId="{9951F977-C877-4D0F-AC62-044CB88B7586}" dt="2026-10-21T19:49:31.156" v="0" actId="20577"/>
          <ac:spMkLst>
            <pc:docMk/>
            <pc:sldMk cId="0" sldId="256"/>
            <ac:spMk id="5" creationId="{00000000-0000-0000-0000-000000000000}"/>
          </ac:spMkLst>
        </pc:spChg>
      </pc:sldChg>
      <pc:sldChg chg="addSp delSp modSp mod">
        <pc:chgData name="juan ariza" userId="b32c2be74dd93c62" providerId="LiveId" clId="{9951F977-C877-4D0F-AC62-044CB88B7586}" dt="2026-10-23T18:04:42.317" v="5"/>
        <pc:sldMkLst>
          <pc:docMk/>
          <pc:sldMk cId="0" sldId="267"/>
        </pc:sldMkLst>
        <pc:spChg chg="add del mod">
          <ac:chgData name="juan ariza" userId="b32c2be74dd93c62" providerId="LiveId" clId="{9951F977-C877-4D0F-AC62-044CB88B7586}" dt="2026-10-23T18:04:42.317" v="5"/>
          <ac:spMkLst>
            <pc:docMk/>
            <pc:sldMk cId="0" sldId="267"/>
            <ac:spMk id="12" creationId="{5F3D1580-5389-02AF-A4A9-1333EE01C583}"/>
          </ac:spMkLst>
        </pc:spChg>
      </pc:sldChg>
      <pc:sldChg chg="modSp">
        <pc:chgData name="juan ariza" userId="b32c2be74dd93c62" providerId="LiveId" clId="{9951F977-C877-4D0F-AC62-044CB88B7586}" dt="2026-10-23T19:22:49.135" v="6" actId="20578"/>
        <pc:sldMkLst>
          <pc:docMk/>
          <pc:sldMk cId="0" sldId="272"/>
        </pc:sldMkLst>
        <pc:spChg chg="mod">
          <ac:chgData name="juan ariza" userId="b32c2be74dd93c62" providerId="LiveId" clId="{9951F977-C877-4D0F-AC62-044CB88B7586}" dt="2026-10-23T19:22:49.135" v="6" actId="20578"/>
          <ac:spMkLst>
            <pc:docMk/>
            <pc:sldMk cId="0" sldId="272"/>
            <ac:spMk id="4" creationId="{00000000-0000-0000-0000-000000000000}"/>
          </ac:spMkLst>
        </pc:sp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s-ES"/>
  <c:roundedCorners val="1"/>
  <c:style val="2"/>
  <c:chart>
    <c:autoTitleDeleted val="1"/>
    <c:plotArea>
      <c:layout/>
      <c:scatterChart>
        <c:scatterStyle val="lineMarker"/>
        <c:varyColors val="0"/>
        <c:ser>
          <c:idx val="0"/>
          <c:order val="0"/>
          <c:tx>
            <c:strRef>
              <c:f>Sheet1!$B$1</c:f>
              <c:strCache>
                <c:ptCount val="1"/>
                <c:pt idx="0">
                  <c:v>Random inversions</c:v>
                </c:pt>
              </c:strCache>
            </c:strRef>
          </c:tx>
          <c:spPr>
            <a:ln w="28575">
              <a:solidFill>
                <a:srgbClr val="2A9D8F"/>
              </a:solidFill>
            </a:ln>
          </c:spPr>
          <c:marker>
            <c:symbol val="circle"/>
            <c:size val="7"/>
            <c:spPr>
              <a:solidFill>
                <a:srgbClr val="2A9D8F"/>
              </a:solidFill>
              <a:ln>
                <a:solidFill>
                  <a:srgbClr val="2A9D8F"/>
                </a:solidFill>
              </a:ln>
            </c:spPr>
          </c:marker>
          <c:xVal>
            <c:numRef>
              <c:f>Sheet1!$A$2:$A$8</c:f>
              <c:numCache>
                <c:formatCode>General</c:formatCode>
                <c:ptCount val="7"/>
                <c:pt idx="0">
                  <c:v>16</c:v>
                </c:pt>
                <c:pt idx="1">
                  <c:v>64</c:v>
                </c:pt>
                <c:pt idx="2">
                  <c:v>1024</c:v>
                </c:pt>
                <c:pt idx="3">
                  <c:v>8192</c:v>
                </c:pt>
                <c:pt idx="4">
                  <c:v>16384</c:v>
                </c:pt>
                <c:pt idx="5">
                  <c:v>65536</c:v>
                </c:pt>
                <c:pt idx="6">
                  <c:v>1048576</c:v>
                </c:pt>
              </c:numCache>
            </c:numRef>
          </c:xVal>
          <c:yVal>
            <c:numRef>
              <c:f>Sheet1!$B$2:$B$8</c:f>
              <c:numCache>
                <c:formatCode>General</c:formatCode>
                <c:ptCount val="7"/>
                <c:pt idx="0">
                  <c:v>0.1564701</c:v>
                </c:pt>
                <c:pt idx="1">
                  <c:v>0.5324399</c:v>
                </c:pt>
                <c:pt idx="2">
                  <c:v>2.0578</c:v>
                </c:pt>
                <c:pt idx="3">
                  <c:v>7.758570199999999</c:v>
                </c:pt>
                <c:pt idx="4">
                  <c:v>9.3959601</c:v>
                </c:pt>
                <c:pt idx="5">
                  <c:v>48.2527602</c:v>
                </c:pt>
                <c:pt idx="6">
                  <c:v>1057.87804</c:v>
                </c:pt>
              </c:numCache>
            </c:numRef>
          </c:yVal>
          <c:smooth val="0"/>
          <c:extLst>
            <c:ext xmlns:c16="http://schemas.microsoft.com/office/drawing/2014/chart" uri="{C3380CC4-5D6E-409C-BE32-E72D297353CC}">
              <c16:uniqueId val="{00000000-769C-4B57-8EB3-84FC2AFCFD10}"/>
            </c:ext>
          </c:extLst>
        </c:ser>
        <c:ser>
          <c:idx val="1"/>
          <c:order val="1"/>
          <c:tx>
            <c:strRef>
              <c:f>Sheet1!$B$10</c:f>
              <c:strCache>
                <c:ptCount val="1"/>
                <c:pt idx="0">
                  <c:v>Decreasing inversions</c:v>
                </c:pt>
              </c:strCache>
            </c:strRef>
          </c:tx>
          <c:spPr>
            <a:ln w="28575">
              <a:solidFill>
                <a:srgbClr val="1F6F78"/>
              </a:solidFill>
            </a:ln>
          </c:spPr>
          <c:marker>
            <c:symbol val="circle"/>
            <c:size val="7"/>
            <c:spPr>
              <a:solidFill>
                <a:srgbClr val="1F6F78"/>
              </a:solidFill>
              <a:ln>
                <a:solidFill>
                  <a:srgbClr val="1F6F78"/>
                </a:solidFill>
              </a:ln>
            </c:spPr>
          </c:marker>
          <c:xVal>
            <c:numRef>
              <c:f>Sheet1!$A$11:$A$17</c:f>
              <c:numCache>
                <c:formatCode>General</c:formatCode>
                <c:ptCount val="7"/>
                <c:pt idx="0">
                  <c:v>16</c:v>
                </c:pt>
                <c:pt idx="1">
                  <c:v>64</c:v>
                </c:pt>
                <c:pt idx="2">
                  <c:v>1024</c:v>
                </c:pt>
                <c:pt idx="3">
                  <c:v>8192</c:v>
                </c:pt>
                <c:pt idx="4">
                  <c:v>16384</c:v>
                </c:pt>
                <c:pt idx="5">
                  <c:v>65536</c:v>
                </c:pt>
                <c:pt idx="6">
                  <c:v>1048576</c:v>
                </c:pt>
              </c:numCache>
            </c:numRef>
          </c:xVal>
          <c:yVal>
            <c:numRef>
              <c:f>Sheet1!$B$11:$B$17</c:f>
              <c:numCache>
                <c:formatCode>General</c:formatCode>
                <c:ptCount val="7"/>
                <c:pt idx="0">
                  <c:v>0.0032898</c:v>
                </c:pt>
                <c:pt idx="1">
                  <c:v>0.0063300000000000006</c:v>
                </c:pt>
                <c:pt idx="2">
                  <c:v>0.23706010000000002</c:v>
                </c:pt>
                <c:pt idx="3">
                  <c:v>3.5084702</c:v>
                </c:pt>
                <c:pt idx="4">
                  <c:v>5.4037098</c:v>
                </c:pt>
                <c:pt idx="5">
                  <c:v>23.707069999999998</c:v>
                </c:pt>
                <c:pt idx="6">
                  <c:v>568.14986</c:v>
                </c:pt>
              </c:numCache>
            </c:numRef>
          </c:yVal>
          <c:smooth val="0"/>
          <c:extLst>
            <c:ext xmlns:c16="http://schemas.microsoft.com/office/drawing/2014/chart" uri="{C3380CC4-5D6E-409C-BE32-E72D297353CC}">
              <c16:uniqueId val="{00000001-769C-4B57-8EB3-84FC2AFCFD10}"/>
            </c:ext>
          </c:extLst>
        </c:ser>
        <c:ser>
          <c:idx val="2"/>
          <c:order val="2"/>
          <c:tx>
            <c:strRef>
              <c:f>Sheet1!$B$19</c:f>
              <c:strCache>
                <c:ptCount val="1"/>
                <c:pt idx="0">
                  <c:v>Random Quick Sort</c:v>
                </c:pt>
              </c:strCache>
            </c:strRef>
          </c:tx>
          <c:spPr>
            <a:ln w="28575">
              <a:solidFill>
                <a:srgbClr val="E76F51"/>
              </a:solidFill>
            </a:ln>
          </c:spPr>
          <c:marker>
            <c:symbol val="circle"/>
            <c:size val="7"/>
            <c:spPr>
              <a:solidFill>
                <a:srgbClr val="E76F51"/>
              </a:solidFill>
              <a:ln>
                <a:solidFill>
                  <a:srgbClr val="E76F51"/>
                </a:solidFill>
              </a:ln>
            </c:spPr>
          </c:marker>
          <c:xVal>
            <c:numRef>
              <c:f>Sheet1!$A$20:$A$26</c:f>
              <c:numCache>
                <c:formatCode>General</c:formatCode>
                <c:ptCount val="7"/>
                <c:pt idx="0">
                  <c:v>16</c:v>
                </c:pt>
                <c:pt idx="1">
                  <c:v>64</c:v>
                </c:pt>
                <c:pt idx="2">
                  <c:v>1024</c:v>
                </c:pt>
                <c:pt idx="3">
                  <c:v>8192</c:v>
                </c:pt>
                <c:pt idx="4">
                  <c:v>16384</c:v>
                </c:pt>
                <c:pt idx="5">
                  <c:v>65536</c:v>
                </c:pt>
                <c:pt idx="6">
                  <c:v>1048576</c:v>
                </c:pt>
              </c:numCache>
            </c:numRef>
          </c:xVal>
          <c:yVal>
            <c:numRef>
              <c:f>Sheet1!$B$20:$B$26</c:f>
              <c:numCache>
                <c:formatCode>General</c:formatCode>
                <c:ptCount val="7"/>
                <c:pt idx="0">
                  <c:v>0.09223</c:v>
                </c:pt>
                <c:pt idx="1">
                  <c:v>0.2366898</c:v>
                </c:pt>
                <c:pt idx="2">
                  <c:v>1.7208803</c:v>
                </c:pt>
                <c:pt idx="3">
                  <c:v>5.8331301</c:v>
                </c:pt>
                <c:pt idx="4">
                  <c:v>8.144110199999998</c:v>
                </c:pt>
                <c:pt idx="5">
                  <c:v>35.9017199</c:v>
                </c:pt>
                <c:pt idx="6">
                  <c:v>980.8121998999999</c:v>
                </c:pt>
              </c:numCache>
            </c:numRef>
          </c:yVal>
          <c:smooth val="0"/>
          <c:extLst>
            <c:ext xmlns:c16="http://schemas.microsoft.com/office/drawing/2014/chart" uri="{C3380CC4-5D6E-409C-BE32-E72D297353CC}">
              <c16:uniqueId val="{00000002-769C-4B57-8EB3-84FC2AFCFD10}"/>
            </c:ext>
          </c:extLst>
        </c:ser>
        <c:ser>
          <c:idx val="3"/>
          <c:order val="3"/>
          <c:tx>
            <c:strRef>
              <c:f>Sheet1!$B$28</c:f>
              <c:strCache>
                <c:ptCount val="1"/>
                <c:pt idx="0">
                  <c:v>Duplicate Quick Sort</c:v>
                </c:pt>
              </c:strCache>
            </c:strRef>
          </c:tx>
          <c:spPr>
            <a:ln w="28575">
              <a:solidFill>
                <a:srgbClr val="E9C46A"/>
              </a:solidFill>
            </a:ln>
          </c:spPr>
          <c:marker>
            <c:symbol val="circle"/>
            <c:size val="7"/>
            <c:spPr>
              <a:solidFill>
                <a:srgbClr val="E9C46A"/>
              </a:solidFill>
              <a:ln>
                <a:solidFill>
                  <a:srgbClr val="E9C46A"/>
                </a:solidFill>
              </a:ln>
            </c:spPr>
          </c:marker>
          <c:xVal>
            <c:numRef>
              <c:f>Sheet1!$A$29:$A$35</c:f>
              <c:numCache>
                <c:formatCode>General</c:formatCode>
                <c:ptCount val="7"/>
                <c:pt idx="0">
                  <c:v>16</c:v>
                </c:pt>
                <c:pt idx="1">
                  <c:v>64</c:v>
                </c:pt>
                <c:pt idx="2">
                  <c:v>1024</c:v>
                </c:pt>
                <c:pt idx="3">
                  <c:v>8192</c:v>
                </c:pt>
                <c:pt idx="4">
                  <c:v>16384</c:v>
                </c:pt>
                <c:pt idx="5">
                  <c:v>65536</c:v>
                </c:pt>
                <c:pt idx="6">
                  <c:v>1048576</c:v>
                </c:pt>
              </c:numCache>
            </c:numRef>
          </c:xVal>
          <c:yVal>
            <c:numRef>
              <c:f>Sheet1!$B$29:$B$35</c:f>
              <c:numCache>
                <c:formatCode>General</c:formatCode>
                <c:ptCount val="7"/>
                <c:pt idx="0">
                  <c:v>0.0012201</c:v>
                </c:pt>
                <c:pt idx="1">
                  <c:v>0.00228</c:v>
                </c:pt>
                <c:pt idx="2">
                  <c:v>0.0317501</c:v>
                </c:pt>
                <c:pt idx="3">
                  <c:v>0.34625959999999995</c:v>
                </c:pt>
                <c:pt idx="4">
                  <c:v>0.7106602000000001</c:v>
                </c:pt>
                <c:pt idx="5">
                  <c:v>4.023209800000001</c:v>
                </c:pt>
                <c:pt idx="6">
                  <c:v>75.77123960000002</c:v>
                </c:pt>
              </c:numCache>
            </c:numRef>
          </c:yVal>
          <c:smooth val="0"/>
          <c:extLst>
            <c:ext xmlns:c16="http://schemas.microsoft.com/office/drawing/2014/chart" uri="{C3380CC4-5D6E-409C-BE32-E72D297353CC}">
              <c16:uniqueId val="{00000003-769C-4B57-8EB3-84FC2AFCFD10}"/>
            </c:ext>
          </c:extLst>
        </c:ser>
        <c:ser>
          <c:idx val="4"/>
          <c:order val="4"/>
          <c:tx>
            <c:strRef>
              <c:f>Sheet1!$B$37</c:f>
              <c:strCache>
                <c:ptCount val="1"/>
                <c:pt idx="0">
                  <c:v>Closest pair</c:v>
                </c:pt>
              </c:strCache>
            </c:strRef>
          </c:tx>
          <c:spPr>
            <a:ln w="28575">
              <a:solidFill>
                <a:srgbClr val="0B3C49"/>
              </a:solidFill>
            </a:ln>
          </c:spPr>
          <c:marker>
            <c:symbol val="circle"/>
            <c:size val="7"/>
            <c:spPr>
              <a:solidFill>
                <a:srgbClr val="0B3C49"/>
              </a:solidFill>
              <a:ln>
                <a:solidFill>
                  <a:srgbClr val="0B3C49"/>
                </a:solidFill>
              </a:ln>
            </c:spPr>
          </c:marker>
          <c:xVal>
            <c:numRef>
              <c:f>Sheet1!$A$38:$A$44</c:f>
              <c:numCache>
                <c:formatCode>General</c:formatCode>
                <c:ptCount val="7"/>
                <c:pt idx="0">
                  <c:v>16</c:v>
                </c:pt>
                <c:pt idx="1">
                  <c:v>64</c:v>
                </c:pt>
                <c:pt idx="2">
                  <c:v>1024</c:v>
                </c:pt>
                <c:pt idx="3">
                  <c:v>8192</c:v>
                </c:pt>
                <c:pt idx="4">
                  <c:v>16384</c:v>
                </c:pt>
                <c:pt idx="5">
                  <c:v>65536</c:v>
                </c:pt>
                <c:pt idx="6">
                  <c:v>1048576</c:v>
                </c:pt>
              </c:numCache>
            </c:numRef>
          </c:xVal>
          <c:yVal>
            <c:numRef>
              <c:f>Sheet1!$B$38:$B$44</c:f>
              <c:numCache>
                <c:formatCode>General</c:formatCode>
                <c:ptCount val="7"/>
                <c:pt idx="0">
                  <c:v>0.1083899</c:v>
                </c:pt>
                <c:pt idx="1">
                  <c:v>0.37664</c:v>
                </c:pt>
                <c:pt idx="2">
                  <c:v>4.8621403999999995</c:v>
                </c:pt>
                <c:pt idx="3">
                  <c:v>10.638860500000002</c:v>
                </c:pt>
                <c:pt idx="4">
                  <c:v>19.8078602</c:v>
                </c:pt>
                <c:pt idx="5">
                  <c:v>114.77000010000002</c:v>
                </c:pt>
                <c:pt idx="6">
                  <c:v>3135.2212200000004</c:v>
                </c:pt>
              </c:numCache>
            </c:numRef>
          </c:yVal>
          <c:smooth val="0"/>
          <c:extLst>
            <c:ext xmlns:c16="http://schemas.microsoft.com/office/drawing/2014/chart" uri="{C3380CC4-5D6E-409C-BE32-E72D297353CC}">
              <c16:uniqueId val="{00000004-769C-4B57-8EB3-84FC2AFCFD10}"/>
            </c:ext>
          </c:extLst>
        </c:ser>
        <c:dLbls>
          <c:showLegendKey val="0"/>
          <c:showVal val="0"/>
          <c:showCatName val="0"/>
          <c:showSerName val="0"/>
          <c:showPercent val="0"/>
          <c:showBubbleSize val="0"/>
        </c:dLbls>
        <c:axId val="-2128940872"/>
        <c:axId val="-2129643912"/>
      </c:scatterChart>
      <c:valAx>
        <c:axId val="-2128940872"/>
        <c:scaling>
          <c:logBase val="10"/>
          <c:orientation val="minMax"/>
          <c:max val="10000000"/>
          <c:min val="10"/>
        </c:scaling>
        <c:delete val="0"/>
        <c:axPos val="b"/>
        <c:title>
          <c:tx>
            <c:rich>
              <a:bodyPr/>
              <a:lstStyle/>
              <a:p>
                <a:r>
                  <a:rPr lang="es-CO" sz="1200" b="0">
                    <a:solidFill>
                      <a:srgbClr val="5B6B73"/>
                    </a:solidFill>
                  </a:rPr>
                  <a:t>n (log scale)</a:t>
                </a:r>
              </a:p>
            </c:rich>
          </c:tx>
          <c:overlay val="0"/>
        </c:title>
        <c:numFmt formatCode="#,##0" sourceLinked="0"/>
        <c:majorTickMark val="out"/>
        <c:minorTickMark val="none"/>
        <c:tickLblPos val="nextTo"/>
        <c:spPr>
          <a:ln>
            <a:solidFill>
              <a:srgbClr val="C9D6D4"/>
            </a:solidFill>
          </a:ln>
        </c:spPr>
        <c:txPr>
          <a:bodyPr/>
          <a:lstStyle/>
          <a:p>
            <a:pPr>
              <a:defRPr sz="1200">
                <a:solidFill>
                  <a:srgbClr val="5B6B73"/>
                </a:solidFill>
              </a:defRPr>
            </a:pPr>
            <a:endParaRPr lang="es-CO"/>
          </a:p>
        </c:txPr>
        <c:crossAx val="-2129643912"/>
        <c:crosses val="min"/>
        <c:crossBetween val="midCat"/>
      </c:valAx>
      <c:valAx>
        <c:axId val="-2129643912"/>
        <c:scaling>
          <c:logBase val="10"/>
          <c:orientation val="minMax"/>
          <c:max val="10000"/>
          <c:min val="1E-3"/>
        </c:scaling>
        <c:delete val="0"/>
        <c:axPos val="l"/>
        <c:majorGridlines>
          <c:spPr>
            <a:ln w="9525">
              <a:solidFill>
                <a:srgbClr val="E3ECEA"/>
              </a:solidFill>
            </a:ln>
          </c:spPr>
        </c:majorGridlines>
        <c:title>
          <c:tx>
            <c:rich>
              <a:bodyPr/>
              <a:lstStyle/>
              <a:p>
                <a:r>
                  <a:rPr lang="en-US" sz="1200" b="0">
                    <a:solidFill>
                      <a:srgbClr val="5B6B73"/>
                    </a:solidFill>
                  </a:rPr>
                  <a:t>mean time in ms (log scale)</a:t>
                </a:r>
              </a:p>
            </c:rich>
          </c:tx>
          <c:overlay val="0"/>
        </c:title>
        <c:numFmt formatCode="General" sourceLinked="0"/>
        <c:majorTickMark val="out"/>
        <c:minorTickMark val="none"/>
        <c:tickLblPos val="nextTo"/>
        <c:spPr>
          <a:ln>
            <a:solidFill>
              <a:srgbClr val="C9D6D4"/>
            </a:solidFill>
          </a:ln>
        </c:spPr>
        <c:txPr>
          <a:bodyPr/>
          <a:lstStyle/>
          <a:p>
            <a:pPr>
              <a:defRPr sz="1200">
                <a:solidFill>
                  <a:srgbClr val="5B6B73"/>
                </a:solidFill>
              </a:defRPr>
            </a:pPr>
            <a:endParaRPr lang="es-CO"/>
          </a:p>
        </c:txPr>
        <c:crossAx val="-2128940872"/>
        <c:crosses val="min"/>
        <c:crossBetween val="midCat"/>
      </c:valAx>
    </c:plotArea>
    <c:legend>
      <c:legendPos val="b"/>
      <c:overlay val="0"/>
      <c:txPr>
        <a:bodyPr/>
        <a:lstStyle/>
        <a:p>
          <a:pPr>
            <a:defRPr sz="1200">
              <a:solidFill>
                <a:srgbClr val="5B6B73"/>
              </a:solidFill>
            </a:defRPr>
          </a:pPr>
          <a:endParaRPr lang="es-CO"/>
        </a:p>
      </c:txPr>
    </c:legend>
    <c:plotVisOnly val="1"/>
    <c:dispBlanksAs val="gap"/>
    <c:showDLblsOverMax val="0"/>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autoTitleDeleted val="0"/>
    <c:plotArea>
      <c:layout/>
      <c:barChart>
        <c:barDir val="col"/>
        <c:grouping val="clustered"/>
        <c:varyColors val="1"/>
        <c:ser>
          <c:idx val="0"/>
          <c:order val="0"/>
          <c:tx>
            <c:strRef>
              <c:f>Sheet1!$B$1</c:f>
              <c:strCache>
                <c:ptCount val="1"/>
                <c:pt idx="0">
                  <c:v>Measured</c:v>
                </c:pt>
              </c:strCache>
            </c:strRef>
          </c:tx>
          <c:spPr>
            <a:solidFill>
              <a:srgbClr val="E76F51"/>
            </a:solidFill>
          </c:spPr>
          <c:invertIfNegative val="1"/>
          <c:dLbls>
            <c:numFmt formatCode="&quot;×&quot;0.0" sourceLinked="0"/>
            <c:spPr>
              <a:noFill/>
              <a:ln>
                <a:noFill/>
              </a:ln>
              <a:effectLst/>
            </c:spPr>
            <c:txPr>
              <a:bodyPr/>
              <a:lstStyle/>
              <a:p>
                <a:pPr>
                  <a:defRPr sz="1200">
                    <a:solidFill>
                      <a:srgbClr val="1D2B33"/>
                    </a:solidFill>
                  </a:defRPr>
                </a:pPr>
                <a:endParaRPr lang="es-CO"/>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Random
inversions</c:v>
                </c:pt>
                <c:pt idx="1">
                  <c:v>Decreasing
inversions</c:v>
                </c:pt>
                <c:pt idx="2">
                  <c:v>Random
Quick Sort</c:v>
                </c:pt>
                <c:pt idx="3">
                  <c:v>Duplicate
Quick Sort</c:v>
                </c:pt>
                <c:pt idx="4">
                  <c:v>Closest
pair</c:v>
                </c:pt>
              </c:strCache>
            </c:strRef>
          </c:cat>
          <c:val>
            <c:numRef>
              <c:f>Sheet1!$B$2:$B$6</c:f>
              <c:numCache>
                <c:formatCode>General</c:formatCode>
                <c:ptCount val="5"/>
                <c:pt idx="0">
                  <c:v>21.9</c:v>
                </c:pt>
                <c:pt idx="1">
                  <c:v>24.0</c:v>
                </c:pt>
                <c:pt idx="2">
                  <c:v>27.3</c:v>
                </c:pt>
                <c:pt idx="3">
                  <c:v>18.8</c:v>
                </c:pt>
                <c:pt idx="4">
                  <c:v>27.3</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DFC0-403C-8C6C-F2C143C88B6A}"/>
            </c:ext>
          </c:extLst>
        </c:ser>
        <c:ser>
          <c:idx val="1"/>
          <c:order val="1"/>
          <c:tx>
            <c:strRef>
              <c:f>Sheet1!$C$1</c:f>
              <c:strCache>
                <c:ptCount val="1"/>
                <c:pt idx="0">
                  <c:v>Theoretical</c:v>
                </c:pt>
              </c:strCache>
            </c:strRef>
          </c:tx>
          <c:spPr>
            <a:solidFill>
              <a:srgbClr val="9FB8BF"/>
            </a:solidFill>
          </c:spPr>
          <c:invertIfNegative val="1"/>
          <c:dLbls>
            <c:numFmt formatCode="&quot;×&quot;0.0" sourceLinked="0"/>
            <c:spPr>
              <a:noFill/>
              <a:ln>
                <a:noFill/>
              </a:ln>
              <a:effectLst/>
            </c:spPr>
            <c:txPr>
              <a:bodyPr/>
              <a:lstStyle/>
              <a:p>
                <a:pPr>
                  <a:defRPr sz="1200">
                    <a:solidFill>
                      <a:srgbClr val="1D2B33"/>
                    </a:solidFill>
                  </a:defRPr>
                </a:pPr>
                <a:endParaRPr lang="es-CO"/>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Random
inversions</c:v>
                </c:pt>
                <c:pt idx="1">
                  <c:v>Decreasing
inversions</c:v>
                </c:pt>
                <c:pt idx="2">
                  <c:v>Random
Quick Sort</c:v>
                </c:pt>
                <c:pt idx="3">
                  <c:v>Duplicate
Quick Sort</c:v>
                </c:pt>
                <c:pt idx="4">
                  <c:v>Closest
pair</c:v>
                </c:pt>
              </c:strCache>
            </c:strRef>
          </c:cat>
          <c:val>
            <c:numRef>
              <c:f>Sheet1!$C$2:$C$6</c:f>
              <c:numCache>
                <c:formatCode>General</c:formatCode>
                <c:ptCount val="5"/>
                <c:pt idx="0">
                  <c:v>20</c:v>
                </c:pt>
                <c:pt idx="1">
                  <c:v>20</c:v>
                </c:pt>
                <c:pt idx="2">
                  <c:v>20</c:v>
                </c:pt>
                <c:pt idx="3">
                  <c:v>16</c:v>
                </c:pt>
                <c:pt idx="4">
                  <c:v>25</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DFC0-403C-8C6C-F2C143C88B6A}"/>
            </c:ext>
          </c:extLst>
        </c:ser>
        <c:dLbls>
          <c:dLblPos val="outEnd"/>
          <c:showLegendKey val="0"/>
          <c:showVal val="1"/>
          <c:showCatName val="0"/>
          <c:showSerName val="0"/>
          <c:showPercent val="0"/>
          <c:showBubbleSize val="0"/>
        </c:dLbls>
        <c:gapWidth val="60"/>
        <c:overlap val="-1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C9D6D4"/>
            </a:solidFill>
          </a:ln>
        </c:spPr>
        <c:txPr>
          <a:bodyPr/>
          <a:lstStyle/>
          <a:p>
            <a:pPr>
              <a:defRPr sz="1200">
                <a:solidFill>
                  <a:srgbClr val="5B6B73"/>
                </a:solidFill>
              </a:defRPr>
            </a:pPr>
            <a:endParaRPr lang="es-CO"/>
          </a:p>
        </c:txPr>
        <c:crossAx val="-2113994440"/>
        <c:crosses val="autoZero"/>
        <c:auto val="1"/>
        <c:lblAlgn val="ctr"/>
        <c:lblOffset val="100"/>
        <c:noMultiLvlLbl val="0"/>
      </c:catAx>
      <c:valAx>
        <c:axId val="-2113994440"/>
        <c:scaling>
          <c:orientation val="minMax"/>
          <c:max val="34"/>
          <c:min val="0"/>
        </c:scaling>
        <c:delete val="1"/>
        <c:axPos val="l"/>
        <c:numFmt formatCode="General" sourceLinked="1"/>
        <c:majorTickMark val="out"/>
        <c:minorTickMark val="none"/>
        <c:tickLblPos val="nextTo"/>
        <c:crossAx val="-2068027336"/>
        <c:crosses val="autoZero"/>
        <c:crossBetween val="between"/>
      </c:valAx>
    </c:plotArea>
    <c:legend>
      <c:legendPos val="t"/>
      <c:overlay val="0"/>
      <c:txPr>
        <a:bodyPr/>
        <a:lstStyle/>
        <a:p>
          <a:pPr>
            <a:defRPr sz="1200">
              <a:solidFill>
                <a:srgbClr val="5B6B73"/>
              </a:solidFill>
            </a:defRPr>
          </a:pPr>
          <a:endParaRPr lang="es-CO"/>
        </a:p>
      </c:txPr>
    </c:legend>
    <c:plotVisOnly val="1"/>
    <c:dispBlanksAs val="gap"/>
    <c:showDLblsOverMax val="1"/>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285223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 present Integrative Assignment 1: three divide-and-conquer algorithms implemented in purely functional Scala, with correctness proofs by induction, complexity analysis and an experimental validation of the running times.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All three problems follow the same scheme: divide, solve recursively and combine. In every case the combining work is linear, and that is what leads to n log n. Quick Sort is a partial exception: its bound is expected, not guaranteed.</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Constraints that shaped the code. Functional: no var, map or filter; everything is recursion with pattern matching over immutable lists, using only List methods that are not higher-order, such as splitAt, length and reverse. Each algorithm is a class with one public method; I/O and the stopwatch live in utils. The count is a Long because n(n−1)/2 overflows Int. QuickSort3 receives its seed in the constructor: randomness affects the work, not correctness.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Project flow: DataGenerator creates the inputs with a fixed seed and saves them in data. InputFiles reads them. The algorithms package has CountingInversions, QuickSort3 and ClosestPair. Benchmark measures and writes raw.csv and means.csv; the Python script fits curves and generates the report. There is one JUnit test class per algorithm. Commands: sbt test, sbt "runMain ti1.Main", sbt "runMain ti1.utils.Benchmark", python scripts/analyze.py.</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First problem.</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An inversion is a pair of POSITIONS, not a swap or a difference of values. In the assignment example [2,3,9,2,9] there are exactly two: the 3 and the 9 against the 2 at position 3. The pair of twos does not count because equality is not an inversion. This is test case INV-01.</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mergeAndCount walks two sorted lists with an accumulator and a counter. When the left head is greater than the right head, the right head is smaller than ALL the elements left on the left, so we add leftRemaining, not 1. On a tie we take from the left and do not count. leftRemaining is computed once and decreased only when we take from the left, so the length is never recomputed: each step is O(1) and the merge is linear. In the table, remaining is leftRemaining and count is the inversions parameter.</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Structural induction: I do not assume the result of the current call; I assume the calls on strictly smaller lists are correct and justify how they are combined. The merge lemma says it returns the sorted merge and the number of cross pairs b &gt; c; sorting each half does not change how many cross pairs there are. Complexity: master theorem with a = 2, b = 2, f(n) = Θ(n) = n^(log_b a): case 2, Θ(n log n) for any input order. Space O(n) and O(log n) frames.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Second problem.</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partition3 walks the list once with three accumulators and pattern matching, without filter, and does not reverse them because the order inside each group does not matter. Lemma: each element goes to exactly one group depending on whether it is &lt;, = or &gt; the pivot. Since the pivot belongs to A, E is not empty and L, G are strictly smaller: it terminates. The pivot index comes from one LCG step and floorMod, with the state passed explicitly: same input and seed, same output. Randomness affects the time, never the result.</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 direct recursion Q(L) ++ E ++ Q(G) has two calls that are not in tail position, so it cannot be @tailrec. sortWithAcc is a single @tailrec loop over a list of pending groups: a group of equal values goes straight to the output, and any other group is partitioned and replaced by its greater, equal and less parts, in that order. Taking the greatest group first and prepending to acc keeps acc sorted, so no list is ever reversed. Expanding a group is exactly Q(A) = Q(L) ++ E ++ Q(G), so correctness is inherited from the definition.</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expected case follows Cormen chapter 7. The worst case is a pivot that is always the minimum or maximum; a random pivot makes it very unlikely but not impossible. The 3-way partition is what makes the case with repeated values cheap: with k distinct values the depth is at most k, so with fixed k it is linear. Experimentally: 76 ms versus 981 ms with one million elements.</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Third problem.</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Splitting by x solves the pairs inside each half, but the optimum can cross the line: in the drawing the orange pair is closer than any of the green pairs and is split between L and R. The strip recovers those candidates. Distances are compared squared and the square root is taken only once at the end. Coordinates are converted to Double before subtracting, so Int extremes do not overflow (test CP-06).</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Without this lemma, saying the halves are correct does not prove the crossing case. We take the 2δ by δ rectangle starting at p and split it into 8 squares of side δ/2: two points of the same half in one square would be at most δ/√2 apart, less than δ, contradicting that δ is the minimum of that half. If we scanned ALL pairs in the strip, combining would be quadratic. In this implementation the strip is re-sorted by y in every call, so C(n) = 2C(n/2) + Θ(n log n) = Θ(n log² n). Returning each half sorted by y and merging would give Θ(n log n); I kept the simpler version described in the assignment.</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How I verified that it works and that the theory holds.</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They run with sbt test: 20 JUnit tests, all passing, one test class per algorithm. The oracles are obvious implementations: counting every pair, insertion sort and comparing every pair of points. The exhaustive tests cover every small case: empty, single element, repeated and negative values. Large inputs check that nothing overflows: 100,000 sorted values for Quick Sort, the worst case for a head pivot, and 10,001 points for closest pair. Two seeds give the same sorted list, which shows that randomness changes the work, not the result. Special point cases: a pair crossing the middle line, all points with the same x, duplicate points (distance 0), Int extremes and invalid input (IllegalArgumentException).</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Inputs are generated with a fixed seed and saved in data/input-*.txt, so the experiment is repeatable. Each input gets 5 untimed warm-up runs; then 11 timed runs, the first is discarded and the other 10 are averaged. The first is discarded because it still includes JIT compilation and class-loading effects. Raw times are in data/raw.csv.</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Log-log plot of the averages in data/means.csv. No curve grows quadratically. Closest pair is the slowest because it re-sorts the strip in every call. With duplicates, Quick Sort is an order of magnitude lower. At Toy sizes the times are microseconds and clock noise dominates; between 8,192 and 16,384 several series grow less than expected because of JIT optimisation between series.</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Multiplying n by 16 should multiply the time by 16 for n, about 20 for n log n and 25 for n log² n. Closest pair grows ×27.3, like n log² n, and Quick Sort with duplicates ×18.8, near linear. The random scenarios grow a little faster than n log n at the largest size because immutable lists take hundreds of MB and the garbage collector works harder. By R² the n log² n model wins almost everywhere, but the differences are in the fourth decimal because the largest point dominates the least-squares error. The fit does not prove a bound; the analysis does.</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Theory predicts the shape of the growth, not the milliseconds. The main sources of error are GC and JIT. To mitigate them: warm-up runs, discarding the first timed run, averaging 10 and fixing the heap. As future work one could use several inputs per size or a tool such as JMH.</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Closing: the three algorithms are correct and purely functional; inversions and Quick Sort run in Θ(n log n) and closest pair in Θ(n log² n), and the experiments follow the predicted shape of the growth. Open for questions.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‹Nº›</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B3C49"/>
        </a:solidFill>
        <a:effectLst/>
      </p:bgPr>
    </p:bg>
    <p:spTree>
      <p:nvGrpSpPr>
        <p:cNvPr id="1" name=""/>
        <p:cNvGrpSpPr/>
        <p:nvPr/>
      </p:nvGrpSpPr>
      <p:grpSpPr>
        <a:xfrm>
          <a:off x="0" y="0"/>
          <a:ext cx="0" cy="0"/>
          <a:chOff x="0" y="0"/>
          <a:chExt cx="0" cy="0"/>
        </a:xfrm>
      </p:grpSpPr>
      <p:sp>
        <p:nvSpPr>
          <p:cNvPr id="2" name="Oval 1"/>
          <p:cNvSpPr/>
          <p:nvPr/>
        </p:nvSpPr>
        <p:spPr>
          <a:xfrm>
            <a:off x="822960" y="1188720"/>
            <a:ext cx="502920" cy="502920"/>
          </a:xfrm>
          <a:prstGeom prst="ellipse">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800" b="1" i="0">
                <a:solidFill>
                  <a:srgbClr val="FFFFFF"/>
                </a:solidFill>
                <a:latin typeface="Cambria"/>
              </a:rPr>
              <a:t>1</a:t>
            </a:r>
          </a:p>
        </p:txBody>
      </p:sp>
      <p:sp>
        <p:nvSpPr>
          <p:cNvPr id="3" name="Oval 2"/>
          <p:cNvSpPr/>
          <p:nvPr/>
        </p:nvSpPr>
        <p:spPr>
          <a:xfrm>
            <a:off x="1508760" y="1188720"/>
            <a:ext cx="502920" cy="502920"/>
          </a:xfrm>
          <a:prstGeom prst="ellipse">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800" b="1" i="0">
                <a:solidFill>
                  <a:srgbClr val="FFFFFF"/>
                </a:solidFill>
                <a:latin typeface="Cambria"/>
              </a:rPr>
              <a:t>2</a:t>
            </a:r>
          </a:p>
        </p:txBody>
      </p:sp>
      <p:sp>
        <p:nvSpPr>
          <p:cNvPr id="4" name="Oval 3"/>
          <p:cNvSpPr/>
          <p:nvPr/>
        </p:nvSpPr>
        <p:spPr>
          <a:xfrm>
            <a:off x="2194560" y="1188720"/>
            <a:ext cx="502920" cy="502920"/>
          </a:xfrm>
          <a:prstGeom prst="ellipse">
            <a:avLst/>
          </a:prstGeom>
          <a:solidFill>
            <a:srgbClr val="E9C46A"/>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800" b="1" i="0">
                <a:solidFill>
                  <a:srgbClr val="0B3C49"/>
                </a:solidFill>
                <a:latin typeface="Cambria"/>
              </a:rPr>
              <a:t>3</a:t>
            </a:r>
          </a:p>
        </p:txBody>
      </p:sp>
      <p:sp>
        <p:nvSpPr>
          <p:cNvPr id="5" name="TextBox 4"/>
          <p:cNvSpPr txBox="1"/>
          <p:nvPr/>
        </p:nvSpPr>
        <p:spPr>
          <a:xfrm>
            <a:off x="822960" y="2011680"/>
            <a:ext cx="10515600" cy="738664"/>
          </a:xfrm>
          <a:prstGeom prst="rect">
            <a:avLst/>
          </a:prstGeom>
          <a:noFill/>
        </p:spPr>
        <p:txBody>
          <a:bodyPr wrap="square" lIns="0" tIns="0" rIns="0" bIns="0" anchor="t">
            <a:spAutoFit/>
          </a:bodyPr>
          <a:lstStyle/>
          <a:p>
            <a:pPr algn="l"/>
            <a:r>
              <a:rPr sz="4800" b="1" i="0" dirty="0">
                <a:solidFill>
                  <a:srgbClr val="FFFFFF"/>
                </a:solidFill>
                <a:latin typeface="Cambria"/>
              </a:rPr>
              <a:t>Divide and conquer</a:t>
            </a:r>
          </a:p>
        </p:txBody>
      </p:sp>
      <p:sp>
        <p:nvSpPr>
          <p:cNvPr id="6" name="TextBox 5"/>
          <p:cNvSpPr txBox="1"/>
          <p:nvPr/>
        </p:nvSpPr>
        <p:spPr>
          <a:xfrm>
            <a:off x="822960" y="3794760"/>
            <a:ext cx="10515600" cy="548640"/>
          </a:xfrm>
          <a:prstGeom prst="rect">
            <a:avLst/>
          </a:prstGeom>
          <a:noFill/>
        </p:spPr>
        <p:txBody>
          <a:bodyPr wrap="square" lIns="0" tIns="0" rIns="0" bIns="0" anchor="t">
            <a:spAutoFit/>
          </a:bodyPr>
          <a:lstStyle/>
          <a:p>
            <a:pPr algn="l"/>
            <a:r>
              <a:rPr sz="2200" b="0" i="0" dirty="0">
                <a:solidFill>
                  <a:srgbClr val="BFD6DB"/>
                </a:solidFill>
                <a:latin typeface="Calibri"/>
              </a:rPr>
              <a:t>Counting inversions · 3-way randomized Quick Sort · Closest pair of points</a:t>
            </a:r>
          </a:p>
        </p:txBody>
      </p:sp>
      <p:sp>
        <p:nvSpPr>
          <p:cNvPr id="7" name="TextBox 6"/>
          <p:cNvSpPr txBox="1"/>
          <p:nvPr/>
        </p:nvSpPr>
        <p:spPr>
          <a:xfrm>
            <a:off x="822960" y="5029200"/>
            <a:ext cx="10515600" cy="914400"/>
          </a:xfrm>
          <a:prstGeom prst="rect">
            <a:avLst/>
          </a:prstGeom>
          <a:noFill/>
        </p:spPr>
        <p:txBody>
          <a:bodyPr wrap="square" lIns="0" tIns="0" rIns="0" bIns="0" anchor="t">
            <a:spAutoFit/>
          </a:bodyPr>
          <a:lstStyle/>
          <a:p>
            <a:pPr algn="l">
              <a:spcAft>
                <a:spcPts val="400"/>
              </a:spcAft>
            </a:pPr>
            <a:r>
              <a:rPr sz="1800" b="1" i="0" dirty="0">
                <a:solidFill>
                  <a:srgbClr val="FFFFFF"/>
                </a:solidFill>
                <a:latin typeface="Calibri"/>
              </a:rPr>
              <a:t>Juan Andrés Ariza López</a:t>
            </a:r>
          </a:p>
          <a:p>
            <a:pPr algn="l">
              <a:spcAft>
                <a:spcPts val="400"/>
              </a:spcAft>
            </a:pPr>
            <a:r>
              <a:rPr sz="1800" b="0" i="0" dirty="0">
                <a:solidFill>
                  <a:srgbClr val="BFD6DB"/>
                </a:solidFill>
                <a:latin typeface="Calibri"/>
              </a:rPr>
              <a:t>Computing and Discrete Structures II · Integrative Assignment 1 · 2026-2</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47472"/>
            <a:ext cx="11064240" cy="731520"/>
          </a:xfrm>
          <a:prstGeom prst="rect">
            <a:avLst/>
          </a:prstGeom>
          <a:noFill/>
        </p:spPr>
        <p:txBody>
          <a:bodyPr wrap="square" lIns="0" tIns="0" rIns="0" bIns="0" anchor="b">
            <a:spAutoFit/>
          </a:bodyPr>
          <a:lstStyle/>
          <a:p>
            <a:pPr algn="l"/>
            <a:r>
              <a:rPr sz="3400" b="1" i="0">
                <a:solidFill>
                  <a:srgbClr val="1D2B33"/>
                </a:solidFill>
                <a:latin typeface="Cambria"/>
              </a:rPr>
              <a:t>Three problems, one strategy</a:t>
            </a:r>
          </a:p>
        </p:txBody>
      </p:sp>
      <p:sp>
        <p:nvSpPr>
          <p:cNvPr id="3" name="Rounded Rectangle 2"/>
          <p:cNvSpPr/>
          <p:nvPr/>
        </p:nvSpPr>
        <p:spPr>
          <a:xfrm>
            <a:off x="548640" y="1508760"/>
            <a:ext cx="3474720" cy="3749039"/>
          </a:xfrm>
          <a:prstGeom prst="roundRect">
            <a:avLst>
              <a:gd name="adj" fmla="val 8000"/>
            </a:avLst>
          </a:prstGeom>
          <a:solidFill>
            <a:srgbClr val="EA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822959" y="1783080"/>
            <a:ext cx="548640" cy="548640"/>
          </a:xfrm>
          <a:prstGeom prst="ellipse">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2000" b="1" i="0">
                <a:solidFill>
                  <a:srgbClr val="FFFFFF"/>
                </a:solidFill>
                <a:latin typeface="Cambria"/>
              </a:rPr>
              <a:t>1</a:t>
            </a:r>
          </a:p>
        </p:txBody>
      </p:sp>
      <p:sp>
        <p:nvSpPr>
          <p:cNvPr id="5" name="TextBox 4"/>
          <p:cNvSpPr txBox="1"/>
          <p:nvPr/>
        </p:nvSpPr>
        <p:spPr>
          <a:xfrm>
            <a:off x="822959" y="2514600"/>
            <a:ext cx="3017520" cy="457200"/>
          </a:xfrm>
          <a:prstGeom prst="rect">
            <a:avLst/>
          </a:prstGeom>
          <a:noFill/>
        </p:spPr>
        <p:txBody>
          <a:bodyPr wrap="square" lIns="0" tIns="0" rIns="0" bIns="0" anchor="t">
            <a:spAutoFit/>
          </a:bodyPr>
          <a:lstStyle/>
          <a:p>
            <a:pPr algn="l"/>
            <a:r>
              <a:rPr sz="2100" b="1" i="0">
                <a:solidFill>
                  <a:srgbClr val="1D2B33"/>
                </a:solidFill>
                <a:latin typeface="Cambria"/>
              </a:rPr>
              <a:t>Counting inversions</a:t>
            </a:r>
          </a:p>
        </p:txBody>
      </p:sp>
      <p:sp>
        <p:nvSpPr>
          <p:cNvPr id="6" name="TextBox 5"/>
          <p:cNvSpPr txBox="1"/>
          <p:nvPr/>
        </p:nvSpPr>
        <p:spPr>
          <a:xfrm>
            <a:off x="822959" y="3017520"/>
            <a:ext cx="3017520" cy="914400"/>
          </a:xfrm>
          <a:prstGeom prst="rect">
            <a:avLst/>
          </a:prstGeom>
          <a:noFill/>
        </p:spPr>
        <p:txBody>
          <a:bodyPr wrap="square" lIns="0" tIns="0" rIns="0" bIns="0" anchor="t">
            <a:spAutoFit/>
          </a:bodyPr>
          <a:lstStyle/>
          <a:p>
            <a:pPr algn="l"/>
            <a:r>
              <a:rPr sz="1500" b="0" i="0">
                <a:solidFill>
                  <a:srgbClr val="5B6B73"/>
                </a:solidFill>
                <a:latin typeface="Calibri"/>
              </a:rPr>
              <a:t>How many pairs i &lt; j satisfy A[i] &gt; A[j]?</a:t>
            </a:r>
          </a:p>
        </p:txBody>
      </p:sp>
      <p:sp>
        <p:nvSpPr>
          <p:cNvPr id="7" name="TextBox 6"/>
          <p:cNvSpPr txBox="1"/>
          <p:nvPr/>
        </p:nvSpPr>
        <p:spPr>
          <a:xfrm>
            <a:off x="822959" y="3931920"/>
            <a:ext cx="3017520" cy="640080"/>
          </a:xfrm>
          <a:prstGeom prst="rect">
            <a:avLst/>
          </a:prstGeom>
          <a:noFill/>
        </p:spPr>
        <p:txBody>
          <a:bodyPr wrap="square" lIns="0" tIns="0" rIns="0" bIns="0" anchor="t">
            <a:spAutoFit/>
          </a:bodyPr>
          <a:lstStyle/>
          <a:p>
            <a:pPr algn="l"/>
            <a:r>
              <a:rPr sz="1500" b="1" i="0">
                <a:solidFill>
                  <a:srgbClr val="1D2B33"/>
                </a:solidFill>
                <a:latin typeface="Calibri"/>
              </a:rPr>
              <a:t>Idea: </a:t>
            </a:r>
            <a:r>
              <a:rPr sz="1500" b="0" i="0">
                <a:solidFill>
                  <a:srgbClr val="1D2B33"/>
                </a:solidFill>
                <a:latin typeface="Calibri"/>
              </a:rPr>
              <a:t>Merge Sort that counts while merging</a:t>
            </a:r>
          </a:p>
        </p:txBody>
      </p:sp>
      <p:sp>
        <p:nvSpPr>
          <p:cNvPr id="8" name="TextBox 7"/>
          <p:cNvSpPr txBox="1"/>
          <p:nvPr/>
        </p:nvSpPr>
        <p:spPr>
          <a:xfrm>
            <a:off x="822959" y="4617720"/>
            <a:ext cx="3017520" cy="457200"/>
          </a:xfrm>
          <a:prstGeom prst="rect">
            <a:avLst/>
          </a:prstGeom>
          <a:noFill/>
        </p:spPr>
        <p:txBody>
          <a:bodyPr wrap="square" lIns="0" tIns="0" rIns="0" bIns="0" anchor="t">
            <a:spAutoFit/>
          </a:bodyPr>
          <a:lstStyle/>
          <a:p>
            <a:pPr algn="l"/>
            <a:r>
              <a:rPr sz="2000" b="1" i="0">
                <a:solidFill>
                  <a:srgbClr val="14505F"/>
                </a:solidFill>
                <a:latin typeface="Cambria"/>
              </a:rPr>
              <a:t>Θ(n log n)</a:t>
            </a:r>
          </a:p>
        </p:txBody>
      </p:sp>
      <p:sp>
        <p:nvSpPr>
          <p:cNvPr id="9" name="Rounded Rectangle 8"/>
          <p:cNvSpPr/>
          <p:nvPr/>
        </p:nvSpPr>
        <p:spPr>
          <a:xfrm>
            <a:off x="4297679" y="1508760"/>
            <a:ext cx="3474720" cy="3749039"/>
          </a:xfrm>
          <a:prstGeom prst="roundRect">
            <a:avLst>
              <a:gd name="adj" fmla="val 8000"/>
            </a:avLst>
          </a:prstGeom>
          <a:solidFill>
            <a:srgbClr val="EA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4571999" y="1783080"/>
            <a:ext cx="548640" cy="548640"/>
          </a:xfrm>
          <a:prstGeom prst="ellipse">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2000" b="1" i="0">
                <a:solidFill>
                  <a:srgbClr val="FFFFFF"/>
                </a:solidFill>
                <a:latin typeface="Cambria"/>
              </a:rPr>
              <a:t>2</a:t>
            </a:r>
          </a:p>
        </p:txBody>
      </p:sp>
      <p:sp>
        <p:nvSpPr>
          <p:cNvPr id="11" name="TextBox 10"/>
          <p:cNvSpPr txBox="1"/>
          <p:nvPr/>
        </p:nvSpPr>
        <p:spPr>
          <a:xfrm>
            <a:off x="4571999" y="2514600"/>
            <a:ext cx="3017520" cy="457200"/>
          </a:xfrm>
          <a:prstGeom prst="rect">
            <a:avLst/>
          </a:prstGeom>
          <a:noFill/>
        </p:spPr>
        <p:txBody>
          <a:bodyPr wrap="square" lIns="0" tIns="0" rIns="0" bIns="0" anchor="t">
            <a:spAutoFit/>
          </a:bodyPr>
          <a:lstStyle/>
          <a:p>
            <a:pPr algn="l"/>
            <a:r>
              <a:rPr sz="2100" b="1" i="0">
                <a:solidFill>
                  <a:srgbClr val="1D2B33"/>
                </a:solidFill>
                <a:latin typeface="Cambria"/>
              </a:rPr>
              <a:t>3-way Quick Sort</a:t>
            </a:r>
          </a:p>
        </p:txBody>
      </p:sp>
      <p:sp>
        <p:nvSpPr>
          <p:cNvPr id="12" name="TextBox 11"/>
          <p:cNvSpPr txBox="1"/>
          <p:nvPr/>
        </p:nvSpPr>
        <p:spPr>
          <a:xfrm>
            <a:off x="4571999" y="3017520"/>
            <a:ext cx="3017520" cy="914400"/>
          </a:xfrm>
          <a:prstGeom prst="rect">
            <a:avLst/>
          </a:prstGeom>
          <a:noFill/>
        </p:spPr>
        <p:txBody>
          <a:bodyPr wrap="square" lIns="0" tIns="0" rIns="0" bIns="0" anchor="t">
            <a:spAutoFit/>
          </a:bodyPr>
          <a:lstStyle/>
          <a:p>
            <a:pPr algn="l"/>
            <a:r>
              <a:rPr sz="1500" b="0" i="0">
                <a:solidFill>
                  <a:srgbClr val="5B6B73"/>
                </a:solidFill>
                <a:latin typeface="Calibri"/>
              </a:rPr>
              <a:t>Sort with a random pivot, splitting less, equal and greater</a:t>
            </a:r>
          </a:p>
        </p:txBody>
      </p:sp>
      <p:sp>
        <p:nvSpPr>
          <p:cNvPr id="13" name="TextBox 12"/>
          <p:cNvSpPr txBox="1"/>
          <p:nvPr/>
        </p:nvSpPr>
        <p:spPr>
          <a:xfrm>
            <a:off x="4571999" y="3931920"/>
            <a:ext cx="3017520" cy="640080"/>
          </a:xfrm>
          <a:prstGeom prst="rect">
            <a:avLst/>
          </a:prstGeom>
          <a:noFill/>
        </p:spPr>
        <p:txBody>
          <a:bodyPr wrap="square" lIns="0" tIns="0" rIns="0" bIns="0" anchor="t">
            <a:spAutoFit/>
          </a:bodyPr>
          <a:lstStyle/>
          <a:p>
            <a:pPr algn="l"/>
            <a:r>
              <a:rPr sz="1500" b="1" i="0">
                <a:solidFill>
                  <a:srgbClr val="1D2B33"/>
                </a:solidFill>
                <a:latin typeface="Calibri"/>
              </a:rPr>
              <a:t>Idea: </a:t>
            </a:r>
            <a:r>
              <a:rPr sz="1500" b="0" i="0">
                <a:solidFill>
                  <a:srgbClr val="1D2B33"/>
                </a:solidFill>
                <a:latin typeface="Calibri"/>
              </a:rPr>
              <a:t>&lt;, =, &gt; partition and explicit seed</a:t>
            </a:r>
          </a:p>
        </p:txBody>
      </p:sp>
      <p:sp>
        <p:nvSpPr>
          <p:cNvPr id="14" name="TextBox 13"/>
          <p:cNvSpPr txBox="1"/>
          <p:nvPr/>
        </p:nvSpPr>
        <p:spPr>
          <a:xfrm>
            <a:off x="4571999" y="4617720"/>
            <a:ext cx="3017520" cy="457200"/>
          </a:xfrm>
          <a:prstGeom prst="rect">
            <a:avLst/>
          </a:prstGeom>
          <a:noFill/>
        </p:spPr>
        <p:txBody>
          <a:bodyPr wrap="square" lIns="0" tIns="0" rIns="0" bIns="0" anchor="t">
            <a:spAutoFit/>
          </a:bodyPr>
          <a:lstStyle/>
          <a:p>
            <a:pPr algn="l"/>
            <a:r>
              <a:rPr sz="2000" b="1" i="0">
                <a:solidFill>
                  <a:srgbClr val="14505F"/>
                </a:solidFill>
                <a:latin typeface="Cambria"/>
              </a:rPr>
              <a:t>Θ(n log n) expected</a:t>
            </a:r>
          </a:p>
        </p:txBody>
      </p:sp>
      <p:sp>
        <p:nvSpPr>
          <p:cNvPr id="15" name="Rounded Rectangle 14"/>
          <p:cNvSpPr/>
          <p:nvPr/>
        </p:nvSpPr>
        <p:spPr>
          <a:xfrm>
            <a:off x="8046719" y="1508760"/>
            <a:ext cx="3474720" cy="3749039"/>
          </a:xfrm>
          <a:prstGeom prst="roundRect">
            <a:avLst>
              <a:gd name="adj" fmla="val 8000"/>
            </a:avLst>
          </a:prstGeom>
          <a:solidFill>
            <a:srgbClr val="EA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8321040" y="1783080"/>
            <a:ext cx="548640" cy="548640"/>
          </a:xfrm>
          <a:prstGeom prst="ellipse">
            <a:avLst/>
          </a:prstGeom>
          <a:solidFill>
            <a:srgbClr val="E9C46A"/>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2000" b="1" i="0">
                <a:solidFill>
                  <a:srgbClr val="0B3C49"/>
                </a:solidFill>
                <a:latin typeface="Cambria"/>
              </a:rPr>
              <a:t>3</a:t>
            </a:r>
          </a:p>
        </p:txBody>
      </p:sp>
      <p:sp>
        <p:nvSpPr>
          <p:cNvPr id="17" name="TextBox 16"/>
          <p:cNvSpPr txBox="1"/>
          <p:nvPr/>
        </p:nvSpPr>
        <p:spPr>
          <a:xfrm>
            <a:off x="8321040" y="2514600"/>
            <a:ext cx="3017520" cy="457200"/>
          </a:xfrm>
          <a:prstGeom prst="rect">
            <a:avLst/>
          </a:prstGeom>
          <a:noFill/>
        </p:spPr>
        <p:txBody>
          <a:bodyPr wrap="square" lIns="0" tIns="0" rIns="0" bIns="0" anchor="t">
            <a:spAutoFit/>
          </a:bodyPr>
          <a:lstStyle/>
          <a:p>
            <a:pPr algn="l"/>
            <a:r>
              <a:rPr sz="2100" b="1" i="0">
                <a:solidFill>
                  <a:srgbClr val="1D2B33"/>
                </a:solidFill>
                <a:latin typeface="Cambria"/>
              </a:rPr>
              <a:t>Closest pair</a:t>
            </a:r>
          </a:p>
        </p:txBody>
      </p:sp>
      <p:sp>
        <p:nvSpPr>
          <p:cNvPr id="18" name="TextBox 17"/>
          <p:cNvSpPr txBox="1"/>
          <p:nvPr/>
        </p:nvSpPr>
        <p:spPr>
          <a:xfrm>
            <a:off x="8321040" y="3017520"/>
            <a:ext cx="3017520" cy="914400"/>
          </a:xfrm>
          <a:prstGeom prst="rect">
            <a:avLst/>
          </a:prstGeom>
          <a:noFill/>
        </p:spPr>
        <p:txBody>
          <a:bodyPr wrap="square" lIns="0" tIns="0" rIns="0" bIns="0" anchor="t">
            <a:spAutoFit/>
          </a:bodyPr>
          <a:lstStyle/>
          <a:p>
            <a:pPr algn="l"/>
            <a:r>
              <a:rPr sz="1500" b="0" i="0">
                <a:solidFill>
                  <a:srgbClr val="5B6B73"/>
                </a:solidFill>
                <a:latin typeface="Calibri"/>
              </a:rPr>
              <a:t>Smallest distance between n points in the plane</a:t>
            </a:r>
          </a:p>
        </p:txBody>
      </p:sp>
      <p:sp>
        <p:nvSpPr>
          <p:cNvPr id="19" name="TextBox 18"/>
          <p:cNvSpPr txBox="1"/>
          <p:nvPr/>
        </p:nvSpPr>
        <p:spPr>
          <a:xfrm>
            <a:off x="8321040" y="3931920"/>
            <a:ext cx="3017520" cy="640080"/>
          </a:xfrm>
          <a:prstGeom prst="rect">
            <a:avLst/>
          </a:prstGeom>
          <a:noFill/>
        </p:spPr>
        <p:txBody>
          <a:bodyPr wrap="square" lIns="0" tIns="0" rIns="0" bIns="0" anchor="t">
            <a:spAutoFit/>
          </a:bodyPr>
          <a:lstStyle/>
          <a:p>
            <a:pPr algn="l"/>
            <a:r>
              <a:rPr sz="1500" b="1" i="0">
                <a:solidFill>
                  <a:srgbClr val="1D2B33"/>
                </a:solidFill>
                <a:latin typeface="Calibri"/>
              </a:rPr>
              <a:t>Idea: </a:t>
            </a:r>
            <a:r>
              <a:rPr sz="1500" b="0" i="0">
                <a:solidFill>
                  <a:srgbClr val="1D2B33"/>
                </a:solidFill>
                <a:latin typeface="Calibri"/>
              </a:rPr>
              <a:t>Split by x and search the strip</a:t>
            </a:r>
          </a:p>
        </p:txBody>
      </p:sp>
      <p:sp>
        <p:nvSpPr>
          <p:cNvPr id="20" name="TextBox 19"/>
          <p:cNvSpPr txBox="1"/>
          <p:nvPr/>
        </p:nvSpPr>
        <p:spPr>
          <a:xfrm>
            <a:off x="8321040" y="4617720"/>
            <a:ext cx="3017520" cy="457200"/>
          </a:xfrm>
          <a:prstGeom prst="rect">
            <a:avLst/>
          </a:prstGeom>
          <a:noFill/>
        </p:spPr>
        <p:txBody>
          <a:bodyPr wrap="square" lIns="0" tIns="0" rIns="0" bIns="0" anchor="t">
            <a:spAutoFit/>
          </a:bodyPr>
          <a:lstStyle/>
          <a:p>
            <a:pPr algn="l"/>
            <a:r>
              <a:rPr sz="2000" b="1" i="0">
                <a:solidFill>
                  <a:srgbClr val="14505F"/>
                </a:solidFill>
                <a:latin typeface="Cambria"/>
              </a:rPr>
              <a:t>Θ(n log² n)</a:t>
            </a:r>
          </a:p>
        </p:txBody>
      </p:sp>
      <p:sp>
        <p:nvSpPr>
          <p:cNvPr id="21" name="TextBox 20"/>
          <p:cNvSpPr txBox="1"/>
          <p:nvPr/>
        </p:nvSpPr>
        <p:spPr>
          <a:xfrm>
            <a:off x="548640" y="5532120"/>
            <a:ext cx="3474720" cy="548640"/>
          </a:xfrm>
          <a:prstGeom prst="rect">
            <a:avLst/>
          </a:prstGeom>
          <a:noFill/>
        </p:spPr>
        <p:txBody>
          <a:bodyPr wrap="square" lIns="0" tIns="0" rIns="0" bIns="0" anchor="t">
            <a:spAutoFit/>
          </a:bodyPr>
          <a:lstStyle/>
          <a:p>
            <a:pPr algn="l"/>
            <a:r>
              <a:rPr sz="1500" b="1" i="0">
                <a:solidFill>
                  <a:srgbClr val="14505F"/>
                </a:solidFill>
                <a:latin typeface="Calibri"/>
              </a:rPr>
              <a:t>Divide: </a:t>
            </a:r>
            <a:r>
              <a:rPr sz="1500" b="0" i="0">
                <a:solidFill>
                  <a:srgbClr val="1D2B33"/>
                </a:solidFill>
                <a:latin typeface="Calibri"/>
              </a:rPr>
              <a:t>split the input into smaller subproblems</a:t>
            </a:r>
          </a:p>
        </p:txBody>
      </p:sp>
      <p:sp>
        <p:nvSpPr>
          <p:cNvPr id="22" name="TextBox 21"/>
          <p:cNvSpPr txBox="1"/>
          <p:nvPr/>
        </p:nvSpPr>
        <p:spPr>
          <a:xfrm>
            <a:off x="4297679" y="5532120"/>
            <a:ext cx="3474720" cy="548640"/>
          </a:xfrm>
          <a:prstGeom prst="rect">
            <a:avLst/>
          </a:prstGeom>
          <a:noFill/>
        </p:spPr>
        <p:txBody>
          <a:bodyPr wrap="square" lIns="0" tIns="0" rIns="0" bIns="0" anchor="t">
            <a:spAutoFit/>
          </a:bodyPr>
          <a:lstStyle/>
          <a:p>
            <a:pPr algn="l"/>
            <a:r>
              <a:rPr sz="1500" b="1" i="0">
                <a:solidFill>
                  <a:srgbClr val="14505F"/>
                </a:solidFill>
                <a:latin typeface="Calibri"/>
              </a:rPr>
              <a:t>Conquer: </a:t>
            </a:r>
            <a:r>
              <a:rPr sz="1500" b="0" i="0">
                <a:solidFill>
                  <a:srgbClr val="1D2B33"/>
                </a:solidFill>
                <a:latin typeface="Calibri"/>
              </a:rPr>
              <a:t>solve each subproblem recursively</a:t>
            </a:r>
          </a:p>
        </p:txBody>
      </p:sp>
      <p:sp>
        <p:nvSpPr>
          <p:cNvPr id="23" name="TextBox 22"/>
          <p:cNvSpPr txBox="1"/>
          <p:nvPr/>
        </p:nvSpPr>
        <p:spPr>
          <a:xfrm>
            <a:off x="8046719" y="5532120"/>
            <a:ext cx="3474720" cy="548640"/>
          </a:xfrm>
          <a:prstGeom prst="rect">
            <a:avLst/>
          </a:prstGeom>
          <a:noFill/>
        </p:spPr>
        <p:txBody>
          <a:bodyPr wrap="square" lIns="0" tIns="0" rIns="0" bIns="0" anchor="t">
            <a:spAutoFit/>
          </a:bodyPr>
          <a:lstStyle/>
          <a:p>
            <a:pPr algn="l"/>
            <a:r>
              <a:rPr sz="1500" b="1" i="0">
                <a:solidFill>
                  <a:srgbClr val="14505F"/>
                </a:solidFill>
                <a:latin typeface="Calibri"/>
              </a:rPr>
              <a:t>Combine: </a:t>
            </a:r>
            <a:r>
              <a:rPr sz="1500" b="0" i="0">
                <a:solidFill>
                  <a:srgbClr val="1D2B33"/>
                </a:solidFill>
                <a:latin typeface="Calibri"/>
              </a:rPr>
              <a:t>combine the solutions of the halves</a:t>
            </a:r>
          </a:p>
        </p:txBody>
      </p:sp>
      <p:sp>
        <p:nvSpPr>
          <p:cNvPr id="24" name="TextBox 23"/>
          <p:cNvSpPr txBox="1"/>
          <p:nvPr/>
        </p:nvSpPr>
        <p:spPr>
          <a:xfrm>
            <a:off x="10881360" y="6400800"/>
            <a:ext cx="822960" cy="274320"/>
          </a:xfrm>
          <a:prstGeom prst="rect">
            <a:avLst/>
          </a:prstGeom>
          <a:noFill/>
        </p:spPr>
        <p:txBody>
          <a:bodyPr wrap="square" lIns="0" tIns="0" rIns="0" bIns="0" anchor="t">
            <a:spAutoFit/>
          </a:bodyPr>
          <a:lstStyle/>
          <a:p>
            <a:pPr algn="r"/>
            <a:r>
              <a:rPr sz="1100" b="0" i="0">
                <a:solidFill>
                  <a:srgbClr val="5B6B73"/>
                </a:solidFill>
                <a:latin typeface="Calibri"/>
              </a:rPr>
              <a:t>2</a:t>
            </a:r>
          </a:p>
        </p:txBody>
      </p:sp>
      <p:sp>
        <p:nvSpPr>
          <p:cNvPr id="25" name="TextBox 24"/>
          <p:cNvSpPr txBox="1"/>
          <p:nvPr/>
        </p:nvSpPr>
        <p:spPr>
          <a:xfrm>
            <a:off x="548640" y="6400800"/>
            <a:ext cx="7315200" cy="274320"/>
          </a:xfrm>
          <a:prstGeom prst="rect">
            <a:avLst/>
          </a:prstGeom>
          <a:noFill/>
        </p:spPr>
        <p:txBody>
          <a:bodyPr wrap="square" lIns="0" tIns="0" rIns="0" bIns="0" anchor="t">
            <a:spAutoFit/>
          </a:bodyPr>
          <a:lstStyle/>
          <a:p>
            <a:pPr algn="l"/>
            <a:r>
              <a:rPr sz="1100" b="0" i="0">
                <a:solidFill>
                  <a:srgbClr val="5B6B73"/>
                </a:solidFill>
                <a:latin typeface="Calibri"/>
              </a:rPr>
              <a:t>CyED II · Integrative Assignment 1 · Divide and conquer in Scala</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47472"/>
            <a:ext cx="11064240" cy="731520"/>
          </a:xfrm>
          <a:prstGeom prst="rect">
            <a:avLst/>
          </a:prstGeom>
          <a:noFill/>
        </p:spPr>
        <p:txBody>
          <a:bodyPr wrap="square" lIns="0" tIns="0" rIns="0" bIns="0" anchor="b">
            <a:spAutoFit/>
          </a:bodyPr>
          <a:lstStyle/>
          <a:p>
            <a:pPr algn="l"/>
            <a:r>
              <a:rPr sz="3400" b="1" i="0">
                <a:solidFill>
                  <a:srgbClr val="1D2B33"/>
                </a:solidFill>
                <a:latin typeface="Cambria"/>
              </a:rPr>
              <a:t>Implementation decisions</a:t>
            </a:r>
          </a:p>
        </p:txBody>
      </p:sp>
      <p:sp>
        <p:nvSpPr>
          <p:cNvPr id="3" name="Rounded Rectangle 2"/>
          <p:cNvSpPr/>
          <p:nvPr/>
        </p:nvSpPr>
        <p:spPr>
          <a:xfrm>
            <a:off x="548640" y="1554480"/>
            <a:ext cx="3474720" cy="2057400"/>
          </a:xfrm>
          <a:prstGeom prst="roundRect">
            <a:avLst>
              <a:gd name="adj" fmla="val 8000"/>
            </a:avLst>
          </a:prstGeom>
          <a:solidFill>
            <a:srgbClr val="EA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822959" y="1828800"/>
            <a:ext cx="548640" cy="548640"/>
          </a:xfrm>
          <a:prstGeom prst="ellipse">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800" b="1" i="0">
                <a:solidFill>
                  <a:srgbClr val="FFFFFF"/>
                </a:solidFill>
                <a:latin typeface="Cambria"/>
              </a:rPr>
              <a:t>λ</a:t>
            </a:r>
          </a:p>
        </p:txBody>
      </p:sp>
      <p:sp>
        <p:nvSpPr>
          <p:cNvPr id="5" name="TextBox 4"/>
          <p:cNvSpPr txBox="1"/>
          <p:nvPr/>
        </p:nvSpPr>
        <p:spPr>
          <a:xfrm>
            <a:off x="1554480" y="1828800"/>
            <a:ext cx="2331720" cy="548640"/>
          </a:xfrm>
          <a:prstGeom prst="rect">
            <a:avLst/>
          </a:prstGeom>
          <a:noFill/>
        </p:spPr>
        <p:txBody>
          <a:bodyPr wrap="square" lIns="0" tIns="0" rIns="0" bIns="0" anchor="ctr">
            <a:spAutoFit/>
          </a:bodyPr>
          <a:lstStyle/>
          <a:p>
            <a:pPr algn="l"/>
            <a:r>
              <a:rPr sz="1800" b="1" i="0">
                <a:solidFill>
                  <a:srgbClr val="1D2B33"/>
                </a:solidFill>
                <a:latin typeface="Cambria"/>
              </a:rPr>
              <a:t>Purely functional</a:t>
            </a:r>
          </a:p>
        </p:txBody>
      </p:sp>
      <p:sp>
        <p:nvSpPr>
          <p:cNvPr id="6" name="TextBox 5"/>
          <p:cNvSpPr txBox="1"/>
          <p:nvPr/>
        </p:nvSpPr>
        <p:spPr>
          <a:xfrm>
            <a:off x="822959" y="2514600"/>
            <a:ext cx="3017520" cy="1005840"/>
          </a:xfrm>
          <a:prstGeom prst="rect">
            <a:avLst/>
          </a:prstGeom>
          <a:noFill/>
        </p:spPr>
        <p:txBody>
          <a:bodyPr wrap="square" lIns="0" tIns="0" rIns="0" bIns="0" anchor="t">
            <a:spAutoFit/>
          </a:bodyPr>
          <a:lstStyle/>
          <a:p>
            <a:pPr algn="l"/>
            <a:r>
              <a:rPr sz="1400" b="0" i="0">
                <a:solidFill>
                  <a:srgbClr val="5B6B73"/>
                </a:solidFill>
                <a:latin typeface="Calibri"/>
              </a:rPr>
              <a:t>Only recursion and pattern matching. No map, filter or other higher-order functions.</a:t>
            </a:r>
          </a:p>
        </p:txBody>
      </p:sp>
      <p:sp>
        <p:nvSpPr>
          <p:cNvPr id="7" name="Rounded Rectangle 6"/>
          <p:cNvSpPr/>
          <p:nvPr/>
        </p:nvSpPr>
        <p:spPr>
          <a:xfrm>
            <a:off x="4297679" y="1554480"/>
            <a:ext cx="3474720" cy="2057400"/>
          </a:xfrm>
          <a:prstGeom prst="roundRect">
            <a:avLst>
              <a:gd name="adj" fmla="val 8000"/>
            </a:avLst>
          </a:prstGeom>
          <a:solidFill>
            <a:srgbClr val="EA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4571999" y="1828800"/>
            <a:ext cx="548640" cy="548640"/>
          </a:xfrm>
          <a:prstGeom prst="ellipse">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800" b="1" i="0">
                <a:solidFill>
                  <a:srgbClr val="FFFFFF"/>
                </a:solidFill>
                <a:latin typeface="Cambria"/>
              </a:rPr>
              <a:t>∅</a:t>
            </a:r>
          </a:p>
        </p:txBody>
      </p:sp>
      <p:sp>
        <p:nvSpPr>
          <p:cNvPr id="9" name="TextBox 8"/>
          <p:cNvSpPr txBox="1"/>
          <p:nvPr/>
        </p:nvSpPr>
        <p:spPr>
          <a:xfrm>
            <a:off x="5303519" y="1828800"/>
            <a:ext cx="2331720" cy="548640"/>
          </a:xfrm>
          <a:prstGeom prst="rect">
            <a:avLst/>
          </a:prstGeom>
          <a:noFill/>
        </p:spPr>
        <p:txBody>
          <a:bodyPr wrap="square" lIns="0" tIns="0" rIns="0" bIns="0" anchor="ctr">
            <a:spAutoFit/>
          </a:bodyPr>
          <a:lstStyle/>
          <a:p>
            <a:pPr algn="l"/>
            <a:r>
              <a:rPr sz="1800" b="1" i="0">
                <a:solidFill>
                  <a:srgbClr val="1D2B33"/>
                </a:solidFill>
                <a:latin typeface="Cambria"/>
              </a:rPr>
              <a:t>Side-effect-free algorithms</a:t>
            </a:r>
          </a:p>
        </p:txBody>
      </p:sp>
      <p:sp>
        <p:nvSpPr>
          <p:cNvPr id="10" name="TextBox 9"/>
          <p:cNvSpPr txBox="1"/>
          <p:nvPr/>
        </p:nvSpPr>
        <p:spPr>
          <a:xfrm>
            <a:off x="4571999" y="2514600"/>
            <a:ext cx="3017520" cy="1005840"/>
          </a:xfrm>
          <a:prstGeom prst="rect">
            <a:avLst/>
          </a:prstGeom>
          <a:noFill/>
        </p:spPr>
        <p:txBody>
          <a:bodyPr wrap="square" lIns="0" tIns="0" rIns="0" bIns="0" anchor="t">
            <a:spAutoFit/>
          </a:bodyPr>
          <a:lstStyle/>
          <a:p>
            <a:pPr algn="l"/>
            <a:r>
              <a:rPr sz="1400" b="0" i="0">
                <a:solidFill>
                  <a:srgbClr val="5B6B73"/>
                </a:solidFill>
                <a:latin typeface="Calibri"/>
              </a:rPr>
              <a:t>File reading and timing live in InputFiles and Benchmark.</a:t>
            </a:r>
          </a:p>
        </p:txBody>
      </p:sp>
      <p:sp>
        <p:nvSpPr>
          <p:cNvPr id="11" name="Rounded Rectangle 10"/>
          <p:cNvSpPr/>
          <p:nvPr/>
        </p:nvSpPr>
        <p:spPr>
          <a:xfrm>
            <a:off x="8046719" y="1554480"/>
            <a:ext cx="3474720" cy="2057400"/>
          </a:xfrm>
          <a:prstGeom prst="roundRect">
            <a:avLst>
              <a:gd name="adj" fmla="val 8000"/>
            </a:avLst>
          </a:prstGeom>
          <a:solidFill>
            <a:srgbClr val="EA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8321040" y="1828800"/>
            <a:ext cx="548640" cy="548640"/>
          </a:xfrm>
          <a:prstGeom prst="ellipse">
            <a:avLst/>
          </a:prstGeom>
          <a:solidFill>
            <a:srgbClr val="E9C46A"/>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800" b="1" i="0">
                <a:solidFill>
                  <a:srgbClr val="0B3C49"/>
                </a:solidFill>
                <a:latin typeface="Cambria"/>
              </a:rPr>
              <a:t>64</a:t>
            </a:r>
          </a:p>
        </p:txBody>
      </p:sp>
      <p:sp>
        <p:nvSpPr>
          <p:cNvPr id="13" name="TextBox 12"/>
          <p:cNvSpPr txBox="1"/>
          <p:nvPr/>
        </p:nvSpPr>
        <p:spPr>
          <a:xfrm>
            <a:off x="9052559" y="1828800"/>
            <a:ext cx="2331720" cy="548640"/>
          </a:xfrm>
          <a:prstGeom prst="rect">
            <a:avLst/>
          </a:prstGeom>
          <a:noFill/>
        </p:spPr>
        <p:txBody>
          <a:bodyPr wrap="square" lIns="0" tIns="0" rIns="0" bIns="0" anchor="ctr">
            <a:spAutoFit/>
          </a:bodyPr>
          <a:lstStyle/>
          <a:p>
            <a:pPr algn="l"/>
            <a:r>
              <a:rPr sz="1800" b="1" i="0">
                <a:solidFill>
                  <a:srgbClr val="1D2B33"/>
                </a:solidFill>
                <a:latin typeface="Cambria"/>
              </a:rPr>
              <a:t>Long for inversions</a:t>
            </a:r>
          </a:p>
        </p:txBody>
      </p:sp>
      <p:sp>
        <p:nvSpPr>
          <p:cNvPr id="14" name="TextBox 13"/>
          <p:cNvSpPr txBox="1"/>
          <p:nvPr/>
        </p:nvSpPr>
        <p:spPr>
          <a:xfrm>
            <a:off x="8321040" y="2514600"/>
            <a:ext cx="3017520" cy="1005840"/>
          </a:xfrm>
          <a:prstGeom prst="rect">
            <a:avLst/>
          </a:prstGeom>
          <a:noFill/>
        </p:spPr>
        <p:txBody>
          <a:bodyPr wrap="square" lIns="0" tIns="0" rIns="0" bIns="0" anchor="t">
            <a:spAutoFit/>
          </a:bodyPr>
          <a:lstStyle/>
          <a:p>
            <a:pPr algn="l"/>
            <a:r>
              <a:rPr sz="1400" b="0" i="0">
                <a:solidFill>
                  <a:srgbClr val="5B6B73"/>
                </a:solidFill>
                <a:latin typeface="Calibri"/>
              </a:rPr>
              <a:t>With n = 2²⁰ there can be 549,755,289,600 inversions; Int stops at 2,147,483,647.</a:t>
            </a:r>
          </a:p>
        </p:txBody>
      </p:sp>
      <p:sp>
        <p:nvSpPr>
          <p:cNvPr id="15" name="Rounded Rectangle 14"/>
          <p:cNvSpPr/>
          <p:nvPr/>
        </p:nvSpPr>
        <p:spPr>
          <a:xfrm>
            <a:off x="548640" y="3886200"/>
            <a:ext cx="3474720" cy="2057400"/>
          </a:xfrm>
          <a:prstGeom prst="roundRect">
            <a:avLst>
              <a:gd name="adj" fmla="val 8000"/>
            </a:avLst>
          </a:prstGeom>
          <a:solidFill>
            <a:srgbClr val="EA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822959" y="4160520"/>
            <a:ext cx="548640" cy="548640"/>
          </a:xfrm>
          <a:prstGeom prst="ellipse">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800" b="1" i="0">
                <a:solidFill>
                  <a:srgbClr val="FFFFFF"/>
                </a:solidFill>
                <a:latin typeface="Cambria"/>
              </a:rPr>
              <a:t>↻</a:t>
            </a:r>
          </a:p>
        </p:txBody>
      </p:sp>
      <p:sp>
        <p:nvSpPr>
          <p:cNvPr id="17" name="TextBox 16"/>
          <p:cNvSpPr txBox="1"/>
          <p:nvPr/>
        </p:nvSpPr>
        <p:spPr>
          <a:xfrm>
            <a:off x="1554480" y="4160520"/>
            <a:ext cx="2331720" cy="548640"/>
          </a:xfrm>
          <a:prstGeom prst="rect">
            <a:avLst/>
          </a:prstGeom>
          <a:noFill/>
        </p:spPr>
        <p:txBody>
          <a:bodyPr wrap="square" lIns="0" tIns="0" rIns="0" bIns="0" anchor="ctr">
            <a:spAutoFit/>
          </a:bodyPr>
          <a:lstStyle/>
          <a:p>
            <a:pPr algn="l"/>
            <a:r>
              <a:rPr sz="1800" b="1" i="0">
                <a:solidFill>
                  <a:srgbClr val="1D2B33"/>
                </a:solidFill>
                <a:latin typeface="Cambria"/>
              </a:rPr>
              <a:t>@tailrec loops</a:t>
            </a:r>
          </a:p>
        </p:txBody>
      </p:sp>
      <p:sp>
        <p:nvSpPr>
          <p:cNvPr id="18" name="TextBox 17"/>
          <p:cNvSpPr txBox="1"/>
          <p:nvPr/>
        </p:nvSpPr>
        <p:spPr>
          <a:xfrm>
            <a:off x="822959" y="4846320"/>
            <a:ext cx="3017520" cy="1005840"/>
          </a:xfrm>
          <a:prstGeom prst="rect">
            <a:avLst/>
          </a:prstGeom>
          <a:noFill/>
        </p:spPr>
        <p:txBody>
          <a:bodyPr wrap="square" lIns="0" tIns="0" rIns="0" bIns="0" anchor="t">
            <a:spAutoFit/>
          </a:bodyPr>
          <a:lstStyle/>
          <a:p>
            <a:pPr algn="l"/>
            <a:r>
              <a:rPr sz="1400" b="0" i="0">
                <a:solidFill>
                  <a:srgbClr val="5B6B73"/>
                </a:solidFill>
                <a:latin typeface="Calibri"/>
              </a:rPr>
              <a:t>Tail recursion with accumulators: million-element lists without stack overflow.</a:t>
            </a:r>
          </a:p>
        </p:txBody>
      </p:sp>
      <p:sp>
        <p:nvSpPr>
          <p:cNvPr id="19" name="Rounded Rectangle 18"/>
          <p:cNvSpPr/>
          <p:nvPr/>
        </p:nvSpPr>
        <p:spPr>
          <a:xfrm>
            <a:off x="4297679" y="3886200"/>
            <a:ext cx="3474720" cy="2057400"/>
          </a:xfrm>
          <a:prstGeom prst="roundRect">
            <a:avLst>
              <a:gd name="adj" fmla="val 8000"/>
            </a:avLst>
          </a:prstGeom>
          <a:solidFill>
            <a:srgbClr val="EA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4571999" y="4160520"/>
            <a:ext cx="548640" cy="548640"/>
          </a:xfrm>
          <a:prstGeom prst="ellipse">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800" b="1" i="0">
                <a:solidFill>
                  <a:srgbClr val="FFFFFF"/>
                </a:solidFill>
                <a:latin typeface="Cambria"/>
              </a:rPr>
              <a:t>#</a:t>
            </a:r>
          </a:p>
        </p:txBody>
      </p:sp>
      <p:sp>
        <p:nvSpPr>
          <p:cNvPr id="21" name="TextBox 20"/>
          <p:cNvSpPr txBox="1"/>
          <p:nvPr/>
        </p:nvSpPr>
        <p:spPr>
          <a:xfrm>
            <a:off x="5303519" y="4160520"/>
            <a:ext cx="2331720" cy="548640"/>
          </a:xfrm>
          <a:prstGeom prst="rect">
            <a:avLst/>
          </a:prstGeom>
          <a:noFill/>
        </p:spPr>
        <p:txBody>
          <a:bodyPr wrap="square" lIns="0" tIns="0" rIns="0" bIns="0" anchor="ctr">
            <a:spAutoFit/>
          </a:bodyPr>
          <a:lstStyle/>
          <a:p>
            <a:pPr algn="l"/>
            <a:r>
              <a:rPr sz="1800" b="1" i="0">
                <a:solidFill>
                  <a:srgbClr val="1D2B33"/>
                </a:solidFill>
                <a:latin typeface="Cambria"/>
              </a:rPr>
              <a:t>Reproducible randomness</a:t>
            </a:r>
          </a:p>
        </p:txBody>
      </p:sp>
      <p:sp>
        <p:nvSpPr>
          <p:cNvPr id="22" name="TextBox 21"/>
          <p:cNvSpPr txBox="1"/>
          <p:nvPr/>
        </p:nvSpPr>
        <p:spPr>
          <a:xfrm>
            <a:off x="4571999" y="4846320"/>
            <a:ext cx="3017520" cy="1005840"/>
          </a:xfrm>
          <a:prstGeom prst="rect">
            <a:avLst/>
          </a:prstGeom>
          <a:noFill/>
        </p:spPr>
        <p:txBody>
          <a:bodyPr wrap="square" lIns="0" tIns="0" rIns="0" bIns="0" anchor="t">
            <a:spAutoFit/>
          </a:bodyPr>
          <a:lstStyle/>
          <a:p>
            <a:pPr algn="l"/>
            <a:r>
              <a:rPr sz="1400" b="0" i="0">
                <a:solidFill>
                  <a:srgbClr val="5B6B73"/>
                </a:solidFill>
                <a:latin typeface="Calibri"/>
              </a:rPr>
              <a:t>QuickSort3 receives the seed in its constructor: same input and seed, same output.</a:t>
            </a:r>
          </a:p>
        </p:txBody>
      </p:sp>
      <p:sp>
        <p:nvSpPr>
          <p:cNvPr id="23" name="Rounded Rectangle 22"/>
          <p:cNvSpPr/>
          <p:nvPr/>
        </p:nvSpPr>
        <p:spPr>
          <a:xfrm>
            <a:off x="8046719" y="3886200"/>
            <a:ext cx="3474720" cy="2057400"/>
          </a:xfrm>
          <a:prstGeom prst="roundRect">
            <a:avLst>
              <a:gd name="adj" fmla="val 8000"/>
            </a:avLst>
          </a:prstGeom>
          <a:solidFill>
            <a:srgbClr val="EA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8321040" y="4160520"/>
            <a:ext cx="548640" cy="548640"/>
          </a:xfrm>
          <a:prstGeom prst="ellipse">
            <a:avLst/>
          </a:prstGeom>
          <a:solidFill>
            <a:srgbClr val="E9C46A"/>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800" b="1" i="0">
                <a:solidFill>
                  <a:srgbClr val="0B3C49"/>
                </a:solidFill>
                <a:latin typeface="Cambria"/>
              </a:rPr>
              <a:t>✓</a:t>
            </a:r>
          </a:p>
        </p:txBody>
      </p:sp>
      <p:sp>
        <p:nvSpPr>
          <p:cNvPr id="25" name="TextBox 24"/>
          <p:cNvSpPr txBox="1"/>
          <p:nvPr/>
        </p:nvSpPr>
        <p:spPr>
          <a:xfrm>
            <a:off x="9052559" y="4160520"/>
            <a:ext cx="2331720" cy="548640"/>
          </a:xfrm>
          <a:prstGeom prst="rect">
            <a:avLst/>
          </a:prstGeom>
          <a:noFill/>
        </p:spPr>
        <p:txBody>
          <a:bodyPr wrap="square" lIns="0" tIns="0" rIns="0" bIns="0" anchor="ctr">
            <a:spAutoFit/>
          </a:bodyPr>
          <a:lstStyle/>
          <a:p>
            <a:pPr algn="l"/>
            <a:r>
              <a:rPr sz="1800" b="1" i="0">
                <a:solidFill>
                  <a:srgbClr val="1D2B33"/>
                </a:solidFill>
                <a:latin typeface="Cambria"/>
              </a:rPr>
              <a:t>Oracle validation</a:t>
            </a:r>
          </a:p>
        </p:txBody>
      </p:sp>
      <p:sp>
        <p:nvSpPr>
          <p:cNvPr id="26" name="TextBox 25"/>
          <p:cNvSpPr txBox="1"/>
          <p:nvPr/>
        </p:nvSpPr>
        <p:spPr>
          <a:xfrm>
            <a:off x="8321040" y="4846320"/>
            <a:ext cx="3017520" cy="1005840"/>
          </a:xfrm>
          <a:prstGeom prst="rect">
            <a:avLst/>
          </a:prstGeom>
          <a:noFill/>
        </p:spPr>
        <p:txBody>
          <a:bodyPr wrap="square" lIns="0" tIns="0" rIns="0" bIns="0" anchor="t">
            <a:spAutoFit/>
          </a:bodyPr>
          <a:lstStyle/>
          <a:p>
            <a:pPr algn="l"/>
            <a:r>
              <a:rPr sz="1400" b="0" i="0">
                <a:solidFill>
                  <a:srgbClr val="5B6B73"/>
                </a:solidFill>
                <a:latin typeface="Calibri"/>
              </a:rPr>
              <a:t>Each algorithm is checked against a brute-force version in the tests.</a:t>
            </a:r>
          </a:p>
        </p:txBody>
      </p:sp>
      <p:sp>
        <p:nvSpPr>
          <p:cNvPr id="27" name="TextBox 26"/>
          <p:cNvSpPr txBox="1"/>
          <p:nvPr/>
        </p:nvSpPr>
        <p:spPr>
          <a:xfrm>
            <a:off x="10881360" y="6400800"/>
            <a:ext cx="822960" cy="274320"/>
          </a:xfrm>
          <a:prstGeom prst="rect">
            <a:avLst/>
          </a:prstGeom>
          <a:noFill/>
        </p:spPr>
        <p:txBody>
          <a:bodyPr wrap="square" lIns="0" tIns="0" rIns="0" bIns="0" anchor="t">
            <a:spAutoFit/>
          </a:bodyPr>
          <a:lstStyle/>
          <a:p>
            <a:pPr algn="r"/>
            <a:r>
              <a:rPr sz="1100" b="0" i="0">
                <a:solidFill>
                  <a:srgbClr val="5B6B73"/>
                </a:solidFill>
                <a:latin typeface="Calibri"/>
              </a:rPr>
              <a:t>3</a:t>
            </a:r>
          </a:p>
        </p:txBody>
      </p:sp>
      <p:sp>
        <p:nvSpPr>
          <p:cNvPr id="28" name="TextBox 27"/>
          <p:cNvSpPr txBox="1"/>
          <p:nvPr/>
        </p:nvSpPr>
        <p:spPr>
          <a:xfrm>
            <a:off x="548640" y="6400800"/>
            <a:ext cx="7315200" cy="274320"/>
          </a:xfrm>
          <a:prstGeom prst="rect">
            <a:avLst/>
          </a:prstGeom>
          <a:noFill/>
        </p:spPr>
        <p:txBody>
          <a:bodyPr wrap="square" lIns="0" tIns="0" rIns="0" bIns="0" anchor="t">
            <a:spAutoFit/>
          </a:bodyPr>
          <a:lstStyle/>
          <a:p>
            <a:pPr algn="l"/>
            <a:r>
              <a:rPr sz="1100" b="0" i="0">
                <a:solidFill>
                  <a:srgbClr val="5B6B73"/>
                </a:solidFill>
                <a:latin typeface="Calibri"/>
              </a:rPr>
              <a:t>CyED II · Integrative Assignment 1 · Divide and conquer in Scala</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47472"/>
            <a:ext cx="11064240" cy="731520"/>
          </a:xfrm>
          <a:prstGeom prst="rect">
            <a:avLst/>
          </a:prstGeom>
          <a:noFill/>
        </p:spPr>
        <p:txBody>
          <a:bodyPr wrap="square" lIns="0" tIns="0" rIns="0" bIns="0" anchor="b">
            <a:spAutoFit/>
          </a:bodyPr>
          <a:lstStyle/>
          <a:p>
            <a:pPr algn="l"/>
            <a:r>
              <a:rPr sz="3400" b="1" i="0">
                <a:solidFill>
                  <a:srgbClr val="1D2B33"/>
                </a:solidFill>
                <a:latin typeface="Cambria"/>
              </a:rPr>
              <a:t>Project layout</a:t>
            </a:r>
          </a:p>
        </p:txBody>
      </p:sp>
      <p:sp>
        <p:nvSpPr>
          <p:cNvPr id="3" name="TextBox 2"/>
          <p:cNvSpPr txBox="1"/>
          <p:nvPr/>
        </p:nvSpPr>
        <p:spPr>
          <a:xfrm>
            <a:off x="548640" y="1078992"/>
            <a:ext cx="11064240" cy="411480"/>
          </a:xfrm>
          <a:prstGeom prst="rect">
            <a:avLst/>
          </a:prstGeom>
          <a:noFill/>
        </p:spPr>
        <p:txBody>
          <a:bodyPr wrap="square" lIns="0" tIns="0" rIns="0" bIns="0" anchor="t">
            <a:spAutoFit/>
          </a:bodyPr>
          <a:lstStyle/>
          <a:p>
            <a:pPr algn="l"/>
            <a:r>
              <a:rPr sz="1600" b="0" i="1">
                <a:solidFill>
                  <a:srgbClr val="5B6B73"/>
                </a:solidFill>
                <a:latin typeface="Calibri"/>
              </a:rPr>
              <a:t>From generated data to report: each part has a single responsibility</a:t>
            </a:r>
          </a:p>
        </p:txBody>
      </p:sp>
      <p:sp>
        <p:nvSpPr>
          <p:cNvPr id="4" name="Rounded Rectangle 3"/>
          <p:cNvSpPr/>
          <p:nvPr/>
        </p:nvSpPr>
        <p:spPr>
          <a:xfrm>
            <a:off x="548640" y="1920240"/>
            <a:ext cx="2423160" cy="1325880"/>
          </a:xfrm>
          <a:prstGeom prst="roundRect">
            <a:avLst>
              <a:gd name="adj" fmla="val 8000"/>
            </a:avLst>
          </a:prstGeom>
          <a:solidFill>
            <a:srgbClr val="EAF3F1"/>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r>
              <a:rPr sz="1700" b="1" i="0">
                <a:solidFill>
                  <a:srgbClr val="1D2B33"/>
                </a:solidFill>
                <a:latin typeface="Calibri"/>
              </a:rPr>
              <a:t>DataGenerator</a:t>
            </a:r>
          </a:p>
          <a:p>
            <a:pPr algn="ctr"/>
            <a:r>
              <a:rPr sz="1300" b="0" i="0">
                <a:solidFill>
                  <a:srgbClr val="5B6B73"/>
                </a:solidFill>
                <a:latin typeface="Calibri"/>
              </a:rPr>
              <a:t>inputs with a fixed seed</a:t>
            </a:r>
          </a:p>
        </p:txBody>
      </p:sp>
      <p:cxnSp>
        <p:nvCxnSpPr>
          <p:cNvPr id="5" name="Connector 4"/>
          <p:cNvCxnSpPr/>
          <p:nvPr/>
        </p:nvCxnSpPr>
        <p:spPr>
          <a:xfrm>
            <a:off x="3017520" y="2578608"/>
            <a:ext cx="338328" cy="0"/>
          </a:xfrm>
          <a:prstGeom prst="line">
            <a:avLst/>
          </a:prstGeom>
          <a:ln w="22225">
            <a:solidFill>
              <a:srgbClr val="5B6B73"/>
            </a:solidFill>
            <a:tailEnd type="triangle" w="med"/>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3401568" y="1920240"/>
            <a:ext cx="2423160" cy="1325880"/>
          </a:xfrm>
          <a:prstGeom prst="roundRect">
            <a:avLst>
              <a:gd name="adj" fmla="val 8000"/>
            </a:avLst>
          </a:prstGeom>
          <a:solidFill>
            <a:srgbClr val="EAF3F1"/>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r>
              <a:rPr sz="1700" b="1" i="0">
                <a:solidFill>
                  <a:srgbClr val="1D2B33"/>
                </a:solidFill>
                <a:latin typeface="Calibri"/>
              </a:rPr>
              <a:t>data/input-*.txt</a:t>
            </a:r>
          </a:p>
          <a:p>
            <a:pPr algn="ctr"/>
            <a:r>
              <a:rPr sz="1300" b="0" i="0">
                <a:solidFill>
                  <a:srgbClr val="5B6B73"/>
                </a:solidFill>
                <a:latin typeface="Calibri"/>
              </a:rPr>
              <a:t>35 input files</a:t>
            </a:r>
          </a:p>
        </p:txBody>
      </p:sp>
      <p:cxnSp>
        <p:nvCxnSpPr>
          <p:cNvPr id="7" name="Connector 6"/>
          <p:cNvCxnSpPr/>
          <p:nvPr/>
        </p:nvCxnSpPr>
        <p:spPr>
          <a:xfrm>
            <a:off x="5870448" y="2578608"/>
            <a:ext cx="338328" cy="0"/>
          </a:xfrm>
          <a:prstGeom prst="line">
            <a:avLst/>
          </a:prstGeom>
          <a:ln w="22225">
            <a:solidFill>
              <a:srgbClr val="5B6B73"/>
            </a:solidFill>
            <a:tailEnd type="triangle" w="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6254496" y="1920240"/>
            <a:ext cx="2423160" cy="1325880"/>
          </a:xfrm>
          <a:prstGeom prst="roundRect">
            <a:avLst>
              <a:gd name="adj" fmla="val 8000"/>
            </a:avLst>
          </a:prstGeom>
          <a:solidFill>
            <a:srgbClr val="EAF3F1"/>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r>
              <a:rPr sz="1700" b="1" i="0">
                <a:solidFill>
                  <a:srgbClr val="1D2B33"/>
                </a:solidFill>
                <a:latin typeface="Calibri"/>
              </a:rPr>
              <a:t>InputFiles</a:t>
            </a:r>
          </a:p>
          <a:p>
            <a:pPr algn="ctr"/>
            <a:r>
              <a:rPr sz="1300" b="0" i="0">
                <a:solidFill>
                  <a:srgbClr val="5B6B73"/>
                </a:solidFill>
                <a:latin typeface="Calibri"/>
              </a:rPr>
              <a:t>reading and validation</a:t>
            </a:r>
          </a:p>
        </p:txBody>
      </p:sp>
      <p:cxnSp>
        <p:nvCxnSpPr>
          <p:cNvPr id="9" name="Connector 8"/>
          <p:cNvCxnSpPr/>
          <p:nvPr/>
        </p:nvCxnSpPr>
        <p:spPr>
          <a:xfrm>
            <a:off x="8723376" y="2578608"/>
            <a:ext cx="338328" cy="0"/>
          </a:xfrm>
          <a:prstGeom prst="line">
            <a:avLst/>
          </a:prstGeom>
          <a:ln w="22225">
            <a:solidFill>
              <a:srgbClr val="5B6B73"/>
            </a:solidFill>
            <a:tailEnd type="triangle" w="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9107424" y="1920240"/>
            <a:ext cx="2423160" cy="1325880"/>
          </a:xfrm>
          <a:prstGeom prst="roundRect">
            <a:avLst>
              <a:gd name="adj" fmla="val 8000"/>
            </a:avLst>
          </a:prstGeom>
          <a:solidFill>
            <a:srgbClr val="0B3C49"/>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r>
              <a:rPr sz="1700" b="1" i="0">
                <a:solidFill>
                  <a:srgbClr val="FFFFFF"/>
                </a:solidFill>
                <a:latin typeface="Calibri"/>
              </a:rPr>
              <a:t>algorithms/</a:t>
            </a:r>
          </a:p>
          <a:p>
            <a:pPr algn="ctr"/>
            <a:r>
              <a:rPr sz="1300" b="0" i="0">
                <a:solidFill>
                  <a:srgbClr val="BFD6DB"/>
                </a:solidFill>
                <a:latin typeface="Calibri"/>
              </a:rPr>
              <a:t>CountingInversions · QuickSort3
ClosestPair</a:t>
            </a:r>
          </a:p>
        </p:txBody>
      </p:sp>
      <p:sp>
        <p:nvSpPr>
          <p:cNvPr id="11" name="Rounded Rectangle 10"/>
          <p:cNvSpPr/>
          <p:nvPr/>
        </p:nvSpPr>
        <p:spPr>
          <a:xfrm>
            <a:off x="548640" y="4069080"/>
            <a:ext cx="2423160" cy="1325880"/>
          </a:xfrm>
          <a:prstGeom prst="roundRect">
            <a:avLst>
              <a:gd name="adj" fmla="val 8000"/>
            </a:avLst>
          </a:prstGeom>
          <a:solidFill>
            <a:srgbClr val="EAF3F1"/>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r>
              <a:rPr sz="1700" b="1" i="0">
                <a:solidFill>
                  <a:srgbClr val="1D2B33"/>
                </a:solidFill>
                <a:latin typeface="Calibri"/>
              </a:rPr>
              <a:t>Benchmark</a:t>
            </a:r>
          </a:p>
          <a:p>
            <a:pPr algn="ctr"/>
            <a:r>
              <a:rPr sz="1300" b="0" i="0">
                <a:solidFill>
                  <a:srgbClr val="5B6B73"/>
                </a:solidFill>
                <a:latin typeface="Calibri"/>
              </a:rPr>
              <a:t>warm-up and 11 runs</a:t>
            </a:r>
          </a:p>
        </p:txBody>
      </p:sp>
      <p:cxnSp>
        <p:nvCxnSpPr>
          <p:cNvPr id="12" name="Connector 11"/>
          <p:cNvCxnSpPr/>
          <p:nvPr/>
        </p:nvCxnSpPr>
        <p:spPr>
          <a:xfrm>
            <a:off x="3017520" y="4727448"/>
            <a:ext cx="338328" cy="0"/>
          </a:xfrm>
          <a:prstGeom prst="line">
            <a:avLst/>
          </a:prstGeom>
          <a:ln w="22225">
            <a:solidFill>
              <a:srgbClr val="5B6B73"/>
            </a:solidFill>
            <a:tailEnd type="triangle" w="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3401568" y="4069080"/>
            <a:ext cx="2423160" cy="1325880"/>
          </a:xfrm>
          <a:prstGeom prst="roundRect">
            <a:avLst>
              <a:gd name="adj" fmla="val 8000"/>
            </a:avLst>
          </a:prstGeom>
          <a:solidFill>
            <a:srgbClr val="EAF3F1"/>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r>
              <a:rPr sz="1700" b="1" i="0">
                <a:solidFill>
                  <a:srgbClr val="1D2B33"/>
                </a:solidFill>
                <a:latin typeface="Calibri"/>
              </a:rPr>
              <a:t>raw.csv · means.csv</a:t>
            </a:r>
          </a:p>
          <a:p>
            <a:pPr algn="ctr"/>
            <a:r>
              <a:rPr sz="1300" b="0" i="0">
                <a:solidFill>
                  <a:srgbClr val="5B6B73"/>
                </a:solidFill>
                <a:latin typeface="Calibri"/>
              </a:rPr>
              <a:t>measurements</a:t>
            </a:r>
          </a:p>
        </p:txBody>
      </p:sp>
      <p:cxnSp>
        <p:nvCxnSpPr>
          <p:cNvPr id="14" name="Connector 13"/>
          <p:cNvCxnSpPr/>
          <p:nvPr/>
        </p:nvCxnSpPr>
        <p:spPr>
          <a:xfrm>
            <a:off x="5870448" y="4727448"/>
            <a:ext cx="338328" cy="0"/>
          </a:xfrm>
          <a:prstGeom prst="line">
            <a:avLst/>
          </a:prstGeom>
          <a:ln w="22225">
            <a:solidFill>
              <a:srgbClr val="5B6B73"/>
            </a:solidFill>
            <a:tailEnd type="triangle" w="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6254496" y="4069080"/>
            <a:ext cx="2423160" cy="1325880"/>
          </a:xfrm>
          <a:prstGeom prst="roundRect">
            <a:avLst>
              <a:gd name="adj" fmla="val 8000"/>
            </a:avLst>
          </a:prstGeom>
          <a:solidFill>
            <a:srgbClr val="EAF3F1"/>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r>
              <a:rPr sz="1700" b="1" i="0">
                <a:solidFill>
                  <a:srgbClr val="1D2B33"/>
                </a:solidFill>
                <a:latin typeface="Calibri"/>
              </a:rPr>
              <a:t>analyze.py</a:t>
            </a:r>
          </a:p>
          <a:p>
            <a:pPr algn="ctr"/>
            <a:r>
              <a:rPr sz="1300" b="0" i="0">
                <a:solidFill>
                  <a:srgbClr val="5B6B73"/>
                </a:solidFill>
                <a:latin typeface="Calibri"/>
              </a:rPr>
              <a:t>fitting and plots</a:t>
            </a:r>
          </a:p>
        </p:txBody>
      </p:sp>
      <p:cxnSp>
        <p:nvCxnSpPr>
          <p:cNvPr id="16" name="Connector 15"/>
          <p:cNvCxnSpPr/>
          <p:nvPr/>
        </p:nvCxnSpPr>
        <p:spPr>
          <a:xfrm>
            <a:off x="8723376" y="4727448"/>
            <a:ext cx="338328" cy="0"/>
          </a:xfrm>
          <a:prstGeom prst="line">
            <a:avLst/>
          </a:prstGeom>
          <a:ln w="22225">
            <a:solidFill>
              <a:srgbClr val="5B6B73"/>
            </a:solidFill>
            <a:tailEnd type="triangle" w="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9107424" y="4069080"/>
            <a:ext cx="2423160" cy="1325880"/>
          </a:xfrm>
          <a:prstGeom prst="roundRect">
            <a:avLst>
              <a:gd name="adj" fmla="val 8000"/>
            </a:avLst>
          </a:prstGeom>
          <a:solidFill>
            <a:srgbClr val="EAF3F1"/>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r>
              <a:rPr sz="1700" b="1" i="0">
                <a:solidFill>
                  <a:srgbClr val="1D2B33"/>
                </a:solidFill>
                <a:latin typeface="Calibri"/>
              </a:rPr>
              <a:t>doc/</a:t>
            </a:r>
          </a:p>
          <a:p>
            <a:pPr algn="ctr"/>
            <a:r>
              <a:rPr sz="1300" b="0" i="0">
                <a:solidFill>
                  <a:srgbClr val="5B6B73"/>
                </a:solidFill>
                <a:latin typeface="Calibri"/>
              </a:rPr>
              <a:t>report and figures</a:t>
            </a:r>
          </a:p>
        </p:txBody>
      </p:sp>
      <p:cxnSp>
        <p:nvCxnSpPr>
          <p:cNvPr id="18" name="Connector 17"/>
          <p:cNvCxnSpPr/>
          <p:nvPr/>
        </p:nvCxnSpPr>
        <p:spPr>
          <a:xfrm flipH="1">
            <a:off x="1760219" y="3291840"/>
            <a:ext cx="8558784" cy="731520"/>
          </a:xfrm>
          <a:prstGeom prst="line">
            <a:avLst/>
          </a:prstGeom>
          <a:ln w="22225">
            <a:solidFill>
              <a:srgbClr val="2A9D8F"/>
            </a:solidFill>
            <a:tailEnd type="triangle" w="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548640" y="5623560"/>
            <a:ext cx="11064240" cy="566928"/>
          </a:xfrm>
          <a:prstGeom prst="roundRect">
            <a:avLst>
              <a:gd name="adj" fmla="val 8000"/>
            </a:avLst>
          </a:prstGeom>
          <a:solidFill>
            <a:srgbClr val="FBEDE8"/>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182880" rIns="182880" bIns="182880" rtlCol="0" anchor="ctr"/>
          <a:lstStyle/>
          <a:p>
            <a:pPr algn="l"/>
            <a:r>
              <a:rPr sz="1400" b="1" i="0">
                <a:solidFill>
                  <a:srgbClr val="1D2B33"/>
                </a:solidFill>
                <a:latin typeface="Calibri"/>
              </a:rPr>
              <a:t>JUnit tests  </a:t>
            </a:r>
            <a:r>
              <a:rPr sz="1400" b="0" i="0">
                <a:solidFill>
                  <a:srgbClr val="1D2B33"/>
                </a:solidFill>
                <a:latin typeface="Calibri"/>
              </a:rPr>
              <a:t>checks each algorithm against a brute-force oracle  ·  </a:t>
            </a:r>
            <a:r>
              <a:rPr sz="1400" b="1" i="0">
                <a:solidFill>
                  <a:srgbClr val="1D2B33"/>
                </a:solidFill>
                <a:latin typeface="Calibri"/>
              </a:rPr>
              <a:t>Main  </a:t>
            </a:r>
            <a:r>
              <a:rPr sz="1400" b="0" i="0">
                <a:solidFill>
                  <a:srgbClr val="1D2B33"/>
                </a:solidFill>
                <a:latin typeface="Calibri"/>
              </a:rPr>
              <a:t>runs the assignment examples or a file</a:t>
            </a:r>
          </a:p>
        </p:txBody>
      </p:sp>
      <p:sp>
        <p:nvSpPr>
          <p:cNvPr id="20" name="TextBox 19"/>
          <p:cNvSpPr txBox="1"/>
          <p:nvPr/>
        </p:nvSpPr>
        <p:spPr>
          <a:xfrm>
            <a:off x="10881360" y="6400800"/>
            <a:ext cx="822960" cy="274320"/>
          </a:xfrm>
          <a:prstGeom prst="rect">
            <a:avLst/>
          </a:prstGeom>
          <a:noFill/>
        </p:spPr>
        <p:txBody>
          <a:bodyPr wrap="square" lIns="0" tIns="0" rIns="0" bIns="0" anchor="t">
            <a:spAutoFit/>
          </a:bodyPr>
          <a:lstStyle/>
          <a:p>
            <a:pPr algn="r"/>
            <a:r>
              <a:rPr sz="1100" b="0" i="0">
                <a:solidFill>
                  <a:srgbClr val="5B6B73"/>
                </a:solidFill>
                <a:latin typeface="Calibri"/>
              </a:rPr>
              <a:t>4</a:t>
            </a:r>
          </a:p>
        </p:txBody>
      </p:sp>
      <p:sp>
        <p:nvSpPr>
          <p:cNvPr id="21" name="TextBox 20"/>
          <p:cNvSpPr txBox="1"/>
          <p:nvPr/>
        </p:nvSpPr>
        <p:spPr>
          <a:xfrm>
            <a:off x="548640" y="6400800"/>
            <a:ext cx="7315200" cy="274320"/>
          </a:xfrm>
          <a:prstGeom prst="rect">
            <a:avLst/>
          </a:prstGeom>
          <a:noFill/>
        </p:spPr>
        <p:txBody>
          <a:bodyPr wrap="square" lIns="0" tIns="0" rIns="0" bIns="0" anchor="t">
            <a:spAutoFit/>
          </a:bodyPr>
          <a:lstStyle/>
          <a:p>
            <a:pPr algn="l"/>
            <a:r>
              <a:rPr sz="1100" b="0" i="0">
                <a:solidFill>
                  <a:srgbClr val="5B6B73"/>
                </a:solidFill>
                <a:latin typeface="Calibri"/>
              </a:rPr>
              <a:t>CyED II · Integrative Assignment 1 · Divide and conquer in Scala</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B3C49"/>
        </a:solidFill>
        <a:effectLst/>
      </p:bgPr>
    </p:bg>
    <p:spTree>
      <p:nvGrpSpPr>
        <p:cNvPr id="1" name=""/>
        <p:cNvGrpSpPr/>
        <p:nvPr/>
      </p:nvGrpSpPr>
      <p:grpSpPr>
        <a:xfrm>
          <a:off x="0" y="0"/>
          <a:ext cx="0" cy="0"/>
          <a:chOff x="0" y="0"/>
          <a:chExt cx="0" cy="0"/>
        </a:xfrm>
      </p:grpSpPr>
      <p:sp>
        <p:nvSpPr>
          <p:cNvPr id="2" name="TextBox 1"/>
          <p:cNvSpPr txBox="1"/>
          <p:nvPr/>
        </p:nvSpPr>
        <p:spPr>
          <a:xfrm>
            <a:off x="822960" y="1737360"/>
            <a:ext cx="3657600" cy="1463040"/>
          </a:xfrm>
          <a:prstGeom prst="rect">
            <a:avLst/>
          </a:prstGeom>
          <a:noFill/>
        </p:spPr>
        <p:txBody>
          <a:bodyPr wrap="square" lIns="0" tIns="0" rIns="0" bIns="0" anchor="t">
            <a:spAutoFit/>
          </a:bodyPr>
          <a:lstStyle/>
          <a:p>
            <a:pPr algn="l"/>
            <a:r>
              <a:rPr sz="11000" b="1" i="0">
                <a:solidFill>
                  <a:srgbClr val="E9C46A"/>
                </a:solidFill>
                <a:latin typeface="Cambria"/>
              </a:rPr>
              <a:t>01</a:t>
            </a:r>
          </a:p>
        </p:txBody>
      </p:sp>
      <p:sp>
        <p:nvSpPr>
          <p:cNvPr id="3" name="TextBox 2"/>
          <p:cNvSpPr txBox="1"/>
          <p:nvPr/>
        </p:nvSpPr>
        <p:spPr>
          <a:xfrm>
            <a:off x="822960" y="3337560"/>
            <a:ext cx="10058400" cy="914400"/>
          </a:xfrm>
          <a:prstGeom prst="rect">
            <a:avLst/>
          </a:prstGeom>
          <a:noFill/>
        </p:spPr>
        <p:txBody>
          <a:bodyPr wrap="square" lIns="0" tIns="0" rIns="0" bIns="0" anchor="t">
            <a:spAutoFit/>
          </a:bodyPr>
          <a:lstStyle/>
          <a:p>
            <a:pPr algn="l"/>
            <a:r>
              <a:rPr sz="4400" b="1" i="0">
                <a:solidFill>
                  <a:srgbClr val="FFFFFF"/>
                </a:solidFill>
                <a:latin typeface="Cambria"/>
              </a:rPr>
              <a:t>Counting inversions</a:t>
            </a:r>
          </a:p>
        </p:txBody>
      </p:sp>
      <p:sp>
        <p:nvSpPr>
          <p:cNvPr id="4" name="TextBox 3"/>
          <p:cNvSpPr txBox="1"/>
          <p:nvPr/>
        </p:nvSpPr>
        <p:spPr>
          <a:xfrm>
            <a:off x="822960" y="4251960"/>
            <a:ext cx="10058400" cy="548640"/>
          </a:xfrm>
          <a:prstGeom prst="rect">
            <a:avLst/>
          </a:prstGeom>
          <a:noFill/>
        </p:spPr>
        <p:txBody>
          <a:bodyPr wrap="square" lIns="0" tIns="0" rIns="0" bIns="0" anchor="t">
            <a:spAutoFit/>
          </a:bodyPr>
          <a:lstStyle/>
          <a:p>
            <a:pPr algn="l"/>
            <a:r>
              <a:rPr sz="2000" b="0" i="1">
                <a:solidFill>
                  <a:srgbClr val="BFD6DB"/>
                </a:solidFill>
                <a:latin typeface="Calibri"/>
              </a:rPr>
              <a:t>Merge Sort that counts while merging</a:t>
            </a:r>
          </a:p>
        </p:txBody>
      </p:sp>
      <p:sp>
        <p:nvSpPr>
          <p:cNvPr id="5" name="TextBox 4"/>
          <p:cNvSpPr txBox="1"/>
          <p:nvPr/>
        </p:nvSpPr>
        <p:spPr>
          <a:xfrm>
            <a:off x="10881360" y="6400800"/>
            <a:ext cx="822960" cy="274320"/>
          </a:xfrm>
          <a:prstGeom prst="rect">
            <a:avLst/>
          </a:prstGeom>
          <a:noFill/>
        </p:spPr>
        <p:txBody>
          <a:bodyPr wrap="square" lIns="0" tIns="0" rIns="0" bIns="0" anchor="t">
            <a:spAutoFit/>
          </a:bodyPr>
          <a:lstStyle/>
          <a:p>
            <a:pPr algn="r"/>
            <a:r>
              <a:rPr sz="1100" b="0" i="0">
                <a:solidFill>
                  <a:srgbClr val="9FB8BF"/>
                </a:solidFill>
                <a:latin typeface="Calibri"/>
              </a:rPr>
              <a:t>5</a:t>
            </a:r>
          </a:p>
        </p:txBody>
      </p:sp>
      <p:sp>
        <p:nvSpPr>
          <p:cNvPr id="6" name="TextBox 5"/>
          <p:cNvSpPr txBox="1"/>
          <p:nvPr/>
        </p:nvSpPr>
        <p:spPr>
          <a:xfrm>
            <a:off x="548640" y="6400800"/>
            <a:ext cx="7315200" cy="274320"/>
          </a:xfrm>
          <a:prstGeom prst="rect">
            <a:avLst/>
          </a:prstGeom>
          <a:noFill/>
        </p:spPr>
        <p:txBody>
          <a:bodyPr wrap="square" lIns="0" tIns="0" rIns="0" bIns="0" anchor="t">
            <a:spAutoFit/>
          </a:bodyPr>
          <a:lstStyle/>
          <a:p>
            <a:pPr algn="l"/>
            <a:r>
              <a:rPr sz="1100" b="0" i="0">
                <a:solidFill>
                  <a:srgbClr val="9FB8BF"/>
                </a:solidFill>
                <a:latin typeface="Calibri"/>
              </a:rPr>
              <a:t>CyED II · Integrative Assignment 1 · Divide and conquer in Scala</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47472"/>
            <a:ext cx="11064240" cy="731520"/>
          </a:xfrm>
          <a:prstGeom prst="rect">
            <a:avLst/>
          </a:prstGeom>
          <a:noFill/>
        </p:spPr>
        <p:txBody>
          <a:bodyPr wrap="square" lIns="0" tIns="0" rIns="0" bIns="0" anchor="b">
            <a:spAutoFit/>
          </a:bodyPr>
          <a:lstStyle/>
          <a:p>
            <a:pPr algn="l"/>
            <a:r>
              <a:rPr sz="3400" b="1" i="0">
                <a:solidFill>
                  <a:srgbClr val="1D2B33"/>
                </a:solidFill>
                <a:latin typeface="Cambria"/>
              </a:rPr>
              <a:t>An inversion is a pair of positions out of order</a:t>
            </a:r>
          </a:p>
        </p:txBody>
      </p:sp>
      <p:sp>
        <p:nvSpPr>
          <p:cNvPr id="3" name="TextBox 2"/>
          <p:cNvSpPr txBox="1"/>
          <p:nvPr/>
        </p:nvSpPr>
        <p:spPr>
          <a:xfrm>
            <a:off x="548640" y="1463040"/>
            <a:ext cx="10972800" cy="457200"/>
          </a:xfrm>
          <a:prstGeom prst="rect">
            <a:avLst/>
          </a:prstGeom>
          <a:noFill/>
        </p:spPr>
        <p:txBody>
          <a:bodyPr wrap="square" lIns="0" tIns="0" rIns="0" bIns="0" anchor="t">
            <a:spAutoFit/>
          </a:bodyPr>
          <a:lstStyle/>
          <a:p>
            <a:pPr algn="l"/>
            <a:r>
              <a:rPr sz="1800" b="1" i="0">
                <a:solidFill>
                  <a:srgbClr val="1D2B33"/>
                </a:solidFill>
                <a:latin typeface="Calibri"/>
              </a:rPr>
              <a:t>Pair (i, j) with i &lt; j and A[i] &gt; A[j]. </a:t>
            </a:r>
            <a:r>
              <a:rPr sz="1800" b="0" i="0">
                <a:solidFill>
                  <a:srgbClr val="1D2B33"/>
                </a:solidFill>
                <a:latin typeface="Calibri"/>
              </a:rPr>
              <a:t>Equal values are not an inversion.</a:t>
            </a:r>
          </a:p>
        </p:txBody>
      </p:sp>
      <p:sp>
        <p:nvSpPr>
          <p:cNvPr id="4" name="Rounded Rectangle 3"/>
          <p:cNvSpPr/>
          <p:nvPr/>
        </p:nvSpPr>
        <p:spPr>
          <a:xfrm>
            <a:off x="1463040" y="2377440"/>
            <a:ext cx="1097280" cy="1097280"/>
          </a:xfrm>
          <a:prstGeom prst="roundRect">
            <a:avLst>
              <a:gd name="adj" fmla="val 15000"/>
            </a:avLst>
          </a:prstGeom>
          <a:solidFill>
            <a:srgbClr val="EAF3F1"/>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r>
              <a:rPr sz="3600" b="1" i="0">
                <a:solidFill>
                  <a:srgbClr val="1D2B33"/>
                </a:solidFill>
                <a:latin typeface="Cambria"/>
              </a:rPr>
              <a:t>2</a:t>
            </a:r>
          </a:p>
        </p:txBody>
      </p:sp>
      <p:sp>
        <p:nvSpPr>
          <p:cNvPr id="5" name="TextBox 4"/>
          <p:cNvSpPr txBox="1"/>
          <p:nvPr/>
        </p:nvSpPr>
        <p:spPr>
          <a:xfrm>
            <a:off x="1463040" y="3520440"/>
            <a:ext cx="1097280" cy="365760"/>
          </a:xfrm>
          <a:prstGeom prst="rect">
            <a:avLst/>
          </a:prstGeom>
          <a:noFill/>
        </p:spPr>
        <p:txBody>
          <a:bodyPr wrap="square" lIns="0" tIns="0" rIns="0" bIns="0" anchor="t">
            <a:spAutoFit/>
          </a:bodyPr>
          <a:lstStyle/>
          <a:p>
            <a:pPr algn="ctr"/>
            <a:r>
              <a:rPr sz="1300" b="0" i="0">
                <a:solidFill>
                  <a:srgbClr val="5B6B73"/>
                </a:solidFill>
                <a:latin typeface="Calibri"/>
              </a:rPr>
              <a:t>i = 0</a:t>
            </a:r>
          </a:p>
        </p:txBody>
      </p:sp>
      <p:sp>
        <p:nvSpPr>
          <p:cNvPr id="6" name="Rounded Rectangle 5"/>
          <p:cNvSpPr/>
          <p:nvPr/>
        </p:nvSpPr>
        <p:spPr>
          <a:xfrm>
            <a:off x="2926080" y="2377440"/>
            <a:ext cx="1097280" cy="1097280"/>
          </a:xfrm>
          <a:prstGeom prst="roundRect">
            <a:avLst>
              <a:gd name="adj" fmla="val 15000"/>
            </a:avLst>
          </a:prstGeom>
          <a:solidFill>
            <a:srgbClr val="E9C46A"/>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r>
              <a:rPr sz="3600" b="1" i="0">
                <a:solidFill>
                  <a:srgbClr val="1D2B33"/>
                </a:solidFill>
                <a:latin typeface="Cambria"/>
              </a:rPr>
              <a:t>3</a:t>
            </a:r>
          </a:p>
        </p:txBody>
      </p:sp>
      <p:sp>
        <p:nvSpPr>
          <p:cNvPr id="7" name="TextBox 6"/>
          <p:cNvSpPr txBox="1"/>
          <p:nvPr/>
        </p:nvSpPr>
        <p:spPr>
          <a:xfrm>
            <a:off x="2926080" y="3520440"/>
            <a:ext cx="1097280" cy="365760"/>
          </a:xfrm>
          <a:prstGeom prst="rect">
            <a:avLst/>
          </a:prstGeom>
          <a:noFill/>
        </p:spPr>
        <p:txBody>
          <a:bodyPr wrap="square" lIns="0" tIns="0" rIns="0" bIns="0" anchor="t">
            <a:spAutoFit/>
          </a:bodyPr>
          <a:lstStyle/>
          <a:p>
            <a:pPr algn="ctr"/>
            <a:r>
              <a:rPr sz="1300" b="0" i="0">
                <a:solidFill>
                  <a:srgbClr val="5B6B73"/>
                </a:solidFill>
                <a:latin typeface="Calibri"/>
              </a:rPr>
              <a:t>i = 1</a:t>
            </a:r>
          </a:p>
        </p:txBody>
      </p:sp>
      <p:sp>
        <p:nvSpPr>
          <p:cNvPr id="8" name="Rounded Rectangle 7"/>
          <p:cNvSpPr/>
          <p:nvPr/>
        </p:nvSpPr>
        <p:spPr>
          <a:xfrm>
            <a:off x="4389120" y="2377440"/>
            <a:ext cx="1097280" cy="1097280"/>
          </a:xfrm>
          <a:prstGeom prst="roundRect">
            <a:avLst>
              <a:gd name="adj" fmla="val 15000"/>
            </a:avLst>
          </a:prstGeom>
          <a:solidFill>
            <a:srgbClr val="E9C46A"/>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r>
              <a:rPr sz="3600" b="1" i="0">
                <a:solidFill>
                  <a:srgbClr val="1D2B33"/>
                </a:solidFill>
                <a:latin typeface="Cambria"/>
              </a:rPr>
              <a:t>9</a:t>
            </a:r>
          </a:p>
        </p:txBody>
      </p:sp>
      <p:sp>
        <p:nvSpPr>
          <p:cNvPr id="9" name="TextBox 8"/>
          <p:cNvSpPr txBox="1"/>
          <p:nvPr/>
        </p:nvSpPr>
        <p:spPr>
          <a:xfrm>
            <a:off x="4389120" y="3520440"/>
            <a:ext cx="1097280" cy="365760"/>
          </a:xfrm>
          <a:prstGeom prst="rect">
            <a:avLst/>
          </a:prstGeom>
          <a:noFill/>
        </p:spPr>
        <p:txBody>
          <a:bodyPr wrap="square" lIns="0" tIns="0" rIns="0" bIns="0" anchor="t">
            <a:spAutoFit/>
          </a:bodyPr>
          <a:lstStyle/>
          <a:p>
            <a:pPr algn="ctr"/>
            <a:r>
              <a:rPr sz="1300" b="0" i="0">
                <a:solidFill>
                  <a:srgbClr val="5B6B73"/>
                </a:solidFill>
                <a:latin typeface="Calibri"/>
              </a:rPr>
              <a:t>i = 2</a:t>
            </a:r>
          </a:p>
        </p:txBody>
      </p:sp>
      <p:sp>
        <p:nvSpPr>
          <p:cNvPr id="10" name="Rounded Rectangle 9"/>
          <p:cNvSpPr/>
          <p:nvPr/>
        </p:nvSpPr>
        <p:spPr>
          <a:xfrm>
            <a:off x="5852160" y="2377440"/>
            <a:ext cx="1097280" cy="1097280"/>
          </a:xfrm>
          <a:prstGeom prst="roundRect">
            <a:avLst>
              <a:gd name="adj" fmla="val 15000"/>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r>
              <a:rPr sz="3600" b="1" i="0">
                <a:solidFill>
                  <a:srgbClr val="FFFFFF"/>
                </a:solidFill>
                <a:latin typeface="Cambria"/>
              </a:rPr>
              <a:t>2</a:t>
            </a:r>
          </a:p>
        </p:txBody>
      </p:sp>
      <p:sp>
        <p:nvSpPr>
          <p:cNvPr id="11" name="TextBox 10"/>
          <p:cNvSpPr txBox="1"/>
          <p:nvPr/>
        </p:nvSpPr>
        <p:spPr>
          <a:xfrm>
            <a:off x="5852160" y="3520440"/>
            <a:ext cx="1097280" cy="365760"/>
          </a:xfrm>
          <a:prstGeom prst="rect">
            <a:avLst/>
          </a:prstGeom>
          <a:noFill/>
        </p:spPr>
        <p:txBody>
          <a:bodyPr wrap="square" lIns="0" tIns="0" rIns="0" bIns="0" anchor="t">
            <a:spAutoFit/>
          </a:bodyPr>
          <a:lstStyle/>
          <a:p>
            <a:pPr algn="ctr"/>
            <a:r>
              <a:rPr sz="1300" b="0" i="0">
                <a:solidFill>
                  <a:srgbClr val="5B6B73"/>
                </a:solidFill>
                <a:latin typeface="Calibri"/>
              </a:rPr>
              <a:t>i = 3</a:t>
            </a:r>
          </a:p>
        </p:txBody>
      </p:sp>
      <p:sp>
        <p:nvSpPr>
          <p:cNvPr id="12" name="Rounded Rectangle 11"/>
          <p:cNvSpPr/>
          <p:nvPr/>
        </p:nvSpPr>
        <p:spPr>
          <a:xfrm>
            <a:off x="7315200" y="2377440"/>
            <a:ext cx="1097280" cy="1097280"/>
          </a:xfrm>
          <a:prstGeom prst="roundRect">
            <a:avLst>
              <a:gd name="adj" fmla="val 15000"/>
            </a:avLst>
          </a:prstGeom>
          <a:solidFill>
            <a:srgbClr val="EAF3F1"/>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r>
              <a:rPr sz="3600" b="1" i="0">
                <a:solidFill>
                  <a:srgbClr val="1D2B33"/>
                </a:solidFill>
                <a:latin typeface="Cambria"/>
              </a:rPr>
              <a:t>9</a:t>
            </a:r>
          </a:p>
        </p:txBody>
      </p:sp>
      <p:sp>
        <p:nvSpPr>
          <p:cNvPr id="13" name="TextBox 12"/>
          <p:cNvSpPr txBox="1"/>
          <p:nvPr/>
        </p:nvSpPr>
        <p:spPr>
          <a:xfrm>
            <a:off x="7315200" y="3520440"/>
            <a:ext cx="1097280" cy="365760"/>
          </a:xfrm>
          <a:prstGeom prst="rect">
            <a:avLst/>
          </a:prstGeom>
          <a:noFill/>
        </p:spPr>
        <p:txBody>
          <a:bodyPr wrap="square" lIns="0" tIns="0" rIns="0" bIns="0" anchor="t">
            <a:spAutoFit/>
          </a:bodyPr>
          <a:lstStyle/>
          <a:p>
            <a:pPr algn="ctr"/>
            <a:r>
              <a:rPr sz="1300" b="0" i="0">
                <a:solidFill>
                  <a:srgbClr val="5B6B73"/>
                </a:solidFill>
                <a:latin typeface="Calibri"/>
              </a:rPr>
              <a:t>i = 4</a:t>
            </a:r>
          </a:p>
        </p:txBody>
      </p:sp>
      <p:cxnSp>
        <p:nvCxnSpPr>
          <p:cNvPr id="14" name="Connector 13"/>
          <p:cNvCxnSpPr/>
          <p:nvPr/>
        </p:nvCxnSpPr>
        <p:spPr>
          <a:xfrm>
            <a:off x="3474720" y="2240280"/>
            <a:ext cx="2926080" cy="0"/>
          </a:xfrm>
          <a:prstGeom prst="line">
            <a:avLst/>
          </a:prstGeom>
          <a:ln w="25400">
            <a:solidFill>
              <a:srgbClr val="E76F51"/>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3474720" y="2240280"/>
            <a:ext cx="0" cy="137160"/>
          </a:xfrm>
          <a:prstGeom prst="line">
            <a:avLst/>
          </a:prstGeom>
          <a:ln w="25400">
            <a:solidFill>
              <a:srgbClr val="E76F51"/>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4937760" y="2103120"/>
            <a:ext cx="1463040" cy="0"/>
          </a:xfrm>
          <a:prstGeom prst="line">
            <a:avLst/>
          </a:prstGeom>
          <a:ln w="25400">
            <a:solidFill>
              <a:srgbClr val="E76F51"/>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4937760" y="2103120"/>
            <a:ext cx="0" cy="274320"/>
          </a:xfrm>
          <a:prstGeom prst="line">
            <a:avLst/>
          </a:prstGeom>
          <a:ln w="25400">
            <a:solidFill>
              <a:srgbClr val="E76F51"/>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6400800" y="2103120"/>
            <a:ext cx="0" cy="274320"/>
          </a:xfrm>
          <a:prstGeom prst="line">
            <a:avLst/>
          </a:prstGeom>
          <a:ln w="25400">
            <a:solidFill>
              <a:srgbClr val="E76F51"/>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9052560" y="2377440"/>
            <a:ext cx="2651760" cy="1188720"/>
          </a:xfrm>
          <a:prstGeom prst="rect">
            <a:avLst/>
          </a:prstGeom>
          <a:noFill/>
        </p:spPr>
        <p:txBody>
          <a:bodyPr wrap="square" lIns="0" tIns="0" rIns="0" bIns="0" anchor="t">
            <a:spAutoFit/>
          </a:bodyPr>
          <a:lstStyle/>
          <a:p>
            <a:pPr algn="l"/>
            <a:r>
              <a:rPr sz="5400" b="1" i="0">
                <a:solidFill>
                  <a:srgbClr val="E76F51"/>
                </a:solidFill>
                <a:latin typeface="Cambria"/>
              </a:rPr>
              <a:t>2</a:t>
            </a:r>
          </a:p>
          <a:p>
            <a:pPr algn="l"/>
            <a:r>
              <a:rPr sz="1600" b="0" i="0">
                <a:solidFill>
                  <a:srgbClr val="5B6B73"/>
                </a:solidFill>
                <a:latin typeface="Calibri"/>
              </a:rPr>
              <a:t>inversions</a:t>
            </a:r>
          </a:p>
        </p:txBody>
      </p:sp>
      <p:sp>
        <p:nvSpPr>
          <p:cNvPr id="20" name="Rounded Rectangle 19"/>
          <p:cNvSpPr/>
          <p:nvPr/>
        </p:nvSpPr>
        <p:spPr>
          <a:xfrm>
            <a:off x="548640" y="4251960"/>
            <a:ext cx="5394960" cy="1783080"/>
          </a:xfrm>
          <a:prstGeom prst="roundRect">
            <a:avLst>
              <a:gd name="adj" fmla="val 8000"/>
            </a:avLst>
          </a:prstGeom>
          <a:solidFill>
            <a:srgbClr val="EA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22960" y="4434840"/>
            <a:ext cx="4846320" cy="1463040"/>
          </a:xfrm>
          <a:prstGeom prst="rect">
            <a:avLst/>
          </a:prstGeom>
          <a:noFill/>
        </p:spPr>
        <p:txBody>
          <a:bodyPr wrap="square" lIns="0" tIns="0" rIns="0" bIns="0" anchor="t">
            <a:spAutoFit/>
          </a:bodyPr>
          <a:lstStyle/>
          <a:p>
            <a:pPr algn="l">
              <a:spcAft>
                <a:spcPts val="600"/>
              </a:spcAft>
            </a:pPr>
            <a:r>
              <a:rPr sz="1800" b="1" i="0">
                <a:solidFill>
                  <a:srgbClr val="1D2B33"/>
                </a:solidFill>
                <a:latin typeface="Cambria"/>
              </a:rPr>
              <a:t>Pairs found</a:t>
            </a:r>
          </a:p>
          <a:p>
            <a:pPr algn="l">
              <a:spcAft>
                <a:spcPts val="600"/>
              </a:spcAft>
            </a:pPr>
            <a:r>
              <a:rPr sz="1600" b="0" i="0">
                <a:solidFill>
                  <a:srgbClr val="1D2B33"/>
                </a:solidFill>
                <a:latin typeface="Calibri"/>
              </a:rPr>
              <a:t>(1, 3): 3 &gt; 2   ·   (2, 3): 9 &gt; 2</a:t>
            </a:r>
          </a:p>
          <a:p>
            <a:pPr algn="l">
              <a:spcAft>
                <a:spcPts val="600"/>
              </a:spcAft>
            </a:pPr>
            <a:r>
              <a:rPr sz="1600" b="0" i="0">
                <a:solidFill>
                  <a:srgbClr val="1D2B33"/>
                </a:solidFill>
                <a:latin typeface="Calibri"/>
              </a:rPr>
              <a:t>(0, 3): 2 = 2 → does not count</a:t>
            </a:r>
          </a:p>
        </p:txBody>
      </p:sp>
      <p:sp>
        <p:nvSpPr>
          <p:cNvPr id="22" name="Rounded Rectangle 21"/>
          <p:cNvSpPr/>
          <p:nvPr/>
        </p:nvSpPr>
        <p:spPr>
          <a:xfrm>
            <a:off x="6217920" y="4251960"/>
            <a:ext cx="5394960" cy="1783080"/>
          </a:xfrm>
          <a:prstGeom prst="roundRect">
            <a:avLst>
              <a:gd name="adj" fmla="val 8000"/>
            </a:avLst>
          </a:prstGeom>
          <a:solidFill>
            <a:srgbClr val="FBED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492240" y="4434840"/>
            <a:ext cx="4846320" cy="1463040"/>
          </a:xfrm>
          <a:prstGeom prst="rect">
            <a:avLst/>
          </a:prstGeom>
          <a:noFill/>
        </p:spPr>
        <p:txBody>
          <a:bodyPr wrap="square" lIns="0" tIns="0" rIns="0" bIns="0" anchor="t">
            <a:spAutoFit/>
          </a:bodyPr>
          <a:lstStyle/>
          <a:p>
            <a:pPr algn="l">
              <a:spcAft>
                <a:spcPts val="600"/>
              </a:spcAft>
            </a:pPr>
            <a:r>
              <a:rPr sz="1800" b="1" i="0">
                <a:solidFill>
                  <a:srgbClr val="1D2B33"/>
                </a:solidFill>
                <a:latin typeface="Cambria"/>
              </a:rPr>
              <a:t>Brute force vs. divide and conquer</a:t>
            </a:r>
          </a:p>
          <a:p>
            <a:pPr algn="l">
              <a:spcAft>
                <a:spcPts val="600"/>
              </a:spcAft>
            </a:pPr>
            <a:r>
              <a:rPr sz="1600" b="0" i="0">
                <a:solidFill>
                  <a:srgbClr val="1D2B33"/>
                </a:solidFill>
                <a:latin typeface="Calibri"/>
              </a:rPr>
              <a:t>Checking every pair costs Θ(n²).</a:t>
            </a:r>
          </a:p>
          <a:p>
            <a:pPr algn="l">
              <a:spcAft>
                <a:spcPts val="600"/>
              </a:spcAft>
            </a:pPr>
            <a:r>
              <a:rPr sz="1600" b="0" i="0">
                <a:solidFill>
                  <a:srgbClr val="1D2B33"/>
                </a:solidFill>
                <a:latin typeface="Calibri"/>
              </a:rPr>
              <a:t>Counting during the Merge Sort merge costs Θ(n log n).</a:t>
            </a:r>
          </a:p>
        </p:txBody>
      </p:sp>
      <p:sp>
        <p:nvSpPr>
          <p:cNvPr id="24" name="TextBox 23"/>
          <p:cNvSpPr txBox="1"/>
          <p:nvPr/>
        </p:nvSpPr>
        <p:spPr>
          <a:xfrm>
            <a:off x="10881360" y="6400800"/>
            <a:ext cx="822960" cy="274320"/>
          </a:xfrm>
          <a:prstGeom prst="rect">
            <a:avLst/>
          </a:prstGeom>
          <a:noFill/>
        </p:spPr>
        <p:txBody>
          <a:bodyPr wrap="square" lIns="0" tIns="0" rIns="0" bIns="0" anchor="t">
            <a:spAutoFit/>
          </a:bodyPr>
          <a:lstStyle/>
          <a:p>
            <a:pPr algn="r"/>
            <a:r>
              <a:rPr sz="1100" b="0" i="0">
                <a:solidFill>
                  <a:srgbClr val="5B6B73"/>
                </a:solidFill>
                <a:latin typeface="Calibri"/>
              </a:rPr>
              <a:t>6</a:t>
            </a:r>
          </a:p>
        </p:txBody>
      </p:sp>
      <p:sp>
        <p:nvSpPr>
          <p:cNvPr id="25" name="TextBox 24"/>
          <p:cNvSpPr txBox="1"/>
          <p:nvPr/>
        </p:nvSpPr>
        <p:spPr>
          <a:xfrm>
            <a:off x="548640" y="6400800"/>
            <a:ext cx="7315200" cy="274320"/>
          </a:xfrm>
          <a:prstGeom prst="rect">
            <a:avLst/>
          </a:prstGeom>
          <a:noFill/>
        </p:spPr>
        <p:txBody>
          <a:bodyPr wrap="square" lIns="0" tIns="0" rIns="0" bIns="0" anchor="t">
            <a:spAutoFit/>
          </a:bodyPr>
          <a:lstStyle/>
          <a:p>
            <a:pPr algn="l"/>
            <a:r>
              <a:rPr sz="1100" b="0" i="0">
                <a:solidFill>
                  <a:srgbClr val="5B6B73"/>
                </a:solidFill>
                <a:latin typeface="Calibri"/>
              </a:rPr>
              <a:t>CyED II · Integrative Assignment 1 · Divide and conquer in Scala</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47472"/>
            <a:ext cx="11064240" cy="731520"/>
          </a:xfrm>
          <a:prstGeom prst="rect">
            <a:avLst/>
          </a:prstGeom>
          <a:noFill/>
        </p:spPr>
        <p:txBody>
          <a:bodyPr wrap="square" lIns="0" tIns="0" rIns="0" bIns="0" anchor="b">
            <a:spAutoFit/>
          </a:bodyPr>
          <a:lstStyle/>
          <a:p>
            <a:pPr algn="l"/>
            <a:r>
              <a:rPr sz="3400" b="1" i="0">
                <a:solidFill>
                  <a:srgbClr val="1D2B33"/>
                </a:solidFill>
                <a:latin typeface="Cambria"/>
              </a:rPr>
              <a:t>The key is the merge</a:t>
            </a:r>
          </a:p>
        </p:txBody>
      </p:sp>
      <p:sp>
        <p:nvSpPr>
          <p:cNvPr id="3" name="Rounded Rectangle 2"/>
          <p:cNvSpPr/>
          <p:nvPr/>
        </p:nvSpPr>
        <p:spPr>
          <a:xfrm>
            <a:off x="548640" y="1463040"/>
            <a:ext cx="6035040" cy="3291840"/>
          </a:xfrm>
          <a:prstGeom prst="roundRect">
            <a:avLst>
              <a:gd name="adj" fmla="val 4000"/>
            </a:avLst>
          </a:prstGeom>
          <a:solidFill>
            <a:srgbClr val="0F2730"/>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0" rIns="228600" bIns="182880" rtlCol="0" anchor="t"/>
          <a:lstStyle/>
          <a:p>
            <a:pPr algn="l"/>
            <a:r>
              <a:rPr sz="1400" b="0" i="0" dirty="0">
                <a:solidFill>
                  <a:srgbClr val="8FA8B0"/>
                </a:solidFill>
                <a:latin typeface="Consolas"/>
              </a:rPr>
              <a:t>// l, r: sorted halves</a:t>
            </a:r>
          </a:p>
          <a:p>
            <a:pPr algn="l"/>
            <a:r>
              <a:rPr sz="1400" b="0" i="0" dirty="0">
                <a:solidFill>
                  <a:srgbClr val="8FA8B0"/>
                </a:solidFill>
                <a:latin typeface="Consolas"/>
              </a:rPr>
              <a:t>// leftRemaining = |l| (what is left on the left)</a:t>
            </a:r>
          </a:p>
          <a:p>
            <a:pPr algn="l"/>
            <a:r>
              <a:rPr sz="1400" b="0" i="0" dirty="0">
                <a:solidFill>
                  <a:srgbClr val="E8F1F2"/>
                </a:solidFill>
                <a:latin typeface="Consolas"/>
              </a:rPr>
              <a:t>case (headL :: tailL, headR :: tailR) =&gt;</a:t>
            </a:r>
          </a:p>
          <a:p>
            <a:pPr algn="l"/>
            <a:r>
              <a:rPr sz="1400" b="0" i="0" dirty="0">
                <a:solidFill>
                  <a:srgbClr val="E8F1F2"/>
                </a:solidFill>
                <a:latin typeface="Consolas"/>
              </a:rPr>
              <a:t>  if (headL &lt;= headR)</a:t>
            </a:r>
          </a:p>
          <a:p>
            <a:pPr algn="l"/>
            <a:r>
              <a:rPr sz="1400" b="0" i="0" dirty="0">
                <a:solidFill>
                  <a:srgbClr val="E8F1F2"/>
                </a:solidFill>
                <a:latin typeface="Consolas"/>
              </a:rPr>
              <a:t>    loop(tailL, r, headL :: acc,</a:t>
            </a:r>
          </a:p>
          <a:p>
            <a:pPr algn="l"/>
            <a:r>
              <a:rPr sz="1400" b="0" i="0" dirty="0">
                <a:solidFill>
                  <a:srgbClr val="E8F1F2"/>
                </a:solidFill>
                <a:latin typeface="Consolas"/>
              </a:rPr>
              <a:t>         leftRemaining - 1, inversions)</a:t>
            </a:r>
          </a:p>
          <a:p>
            <a:pPr algn="l"/>
            <a:r>
              <a:rPr sz="1400" b="0" i="0" dirty="0">
                <a:solidFill>
                  <a:srgbClr val="E8F1F2"/>
                </a:solidFill>
                <a:latin typeface="Consolas"/>
              </a:rPr>
              <a:t>  else</a:t>
            </a:r>
          </a:p>
          <a:p>
            <a:pPr algn="l"/>
            <a:r>
              <a:rPr sz="1400" b="0" i="0" dirty="0">
                <a:solidFill>
                  <a:srgbClr val="E8F1F2"/>
                </a:solidFill>
                <a:latin typeface="Consolas"/>
              </a:rPr>
              <a:t>    loop(l, tailR, headR :: acc,</a:t>
            </a:r>
          </a:p>
          <a:p>
            <a:pPr algn="l"/>
            <a:r>
              <a:rPr sz="1400" b="0" i="0" dirty="0">
                <a:solidFill>
                  <a:srgbClr val="E8F1F2"/>
                </a:solidFill>
                <a:latin typeface="Consolas"/>
              </a:rPr>
              <a:t>         leftRemaining, inversions + leftRemaining)</a:t>
            </a:r>
          </a:p>
        </p:txBody>
      </p:sp>
      <p:sp>
        <p:nvSpPr>
          <p:cNvPr id="4" name="Rounded Rectangle 3"/>
          <p:cNvSpPr/>
          <p:nvPr/>
        </p:nvSpPr>
        <p:spPr>
          <a:xfrm>
            <a:off x="548640" y="4937760"/>
            <a:ext cx="6035040" cy="1234440"/>
          </a:xfrm>
          <a:prstGeom prst="roundRect">
            <a:avLst>
              <a:gd name="adj" fmla="val 8000"/>
            </a:avLst>
          </a:prstGeom>
          <a:solidFill>
            <a:srgbClr val="FBED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5029200"/>
            <a:ext cx="5577840" cy="1097280"/>
          </a:xfrm>
          <a:prstGeom prst="rect">
            <a:avLst/>
          </a:prstGeom>
          <a:noFill/>
        </p:spPr>
        <p:txBody>
          <a:bodyPr wrap="square" lIns="0" tIns="0" rIns="0" bIns="0" anchor="ctr">
            <a:spAutoFit/>
          </a:bodyPr>
          <a:lstStyle/>
          <a:p>
            <a:pPr algn="l"/>
            <a:r>
              <a:rPr sz="1500" b="1" i="0">
                <a:solidFill>
                  <a:srgbClr val="1D2B33"/>
                </a:solidFill>
                <a:latin typeface="Calibri"/>
              </a:rPr>
              <a:t>Why add leftRemaining? </a:t>
            </a:r>
            <a:r>
              <a:rPr sz="1500" b="0" i="0">
                <a:solidFill>
                  <a:srgbClr val="1D2B33"/>
                </a:solidFill>
                <a:latin typeface="Calibri"/>
              </a:rPr>
              <a:t>If x &gt; y, everything left on the left is ≥ x &gt; y: the right head forms an inversion with each of them.</a:t>
            </a:r>
          </a:p>
        </p:txBody>
      </p:sp>
      <p:sp>
        <p:nvSpPr>
          <p:cNvPr id="6" name="TextBox 5"/>
          <p:cNvSpPr txBox="1"/>
          <p:nvPr/>
        </p:nvSpPr>
        <p:spPr>
          <a:xfrm>
            <a:off x="6949440" y="1417320"/>
            <a:ext cx="4663440" cy="457200"/>
          </a:xfrm>
          <a:prstGeom prst="rect">
            <a:avLst/>
          </a:prstGeom>
          <a:noFill/>
        </p:spPr>
        <p:txBody>
          <a:bodyPr wrap="square" lIns="0" tIns="0" rIns="0" bIns="0" anchor="t">
            <a:spAutoFit/>
          </a:bodyPr>
          <a:lstStyle/>
          <a:p>
            <a:pPr algn="l"/>
            <a:r>
              <a:rPr sz="1800" b="1" i="0">
                <a:solidFill>
                  <a:srgbClr val="1D2B33"/>
                </a:solidFill>
                <a:latin typeface="Cambria"/>
              </a:rPr>
              <a:t>Final merge of [2, 3, 9, 2, 9]</a:t>
            </a:r>
          </a:p>
        </p:txBody>
      </p:sp>
      <p:sp>
        <p:nvSpPr>
          <p:cNvPr id="7" name="TextBox 6"/>
          <p:cNvSpPr txBox="1"/>
          <p:nvPr/>
        </p:nvSpPr>
        <p:spPr>
          <a:xfrm>
            <a:off x="6949440" y="1828800"/>
            <a:ext cx="4663440" cy="365760"/>
          </a:xfrm>
          <a:prstGeom prst="rect">
            <a:avLst/>
          </a:prstGeom>
          <a:noFill/>
        </p:spPr>
        <p:txBody>
          <a:bodyPr wrap="square" lIns="0" tIns="0" rIns="0" bIns="0" anchor="t">
            <a:spAutoFit/>
          </a:bodyPr>
          <a:lstStyle/>
          <a:p>
            <a:pPr algn="l"/>
            <a:r>
              <a:rPr sz="1300" b="0" i="0">
                <a:solidFill>
                  <a:srgbClr val="5B6B73"/>
                </a:solidFill>
                <a:latin typeface="Calibri"/>
              </a:rPr>
              <a:t>left [2, 3]  ·  right [2, 9, 9]  (1 internal inversion)</a:t>
            </a:r>
          </a:p>
        </p:txBody>
      </p:sp>
      <p:graphicFrame>
        <p:nvGraphicFramePr>
          <p:cNvPr id="8" name="Table 7"/>
          <p:cNvGraphicFramePr>
            <a:graphicFrameLocks noGrp="1"/>
          </p:cNvGraphicFramePr>
          <p:nvPr/>
        </p:nvGraphicFramePr>
        <p:xfrm>
          <a:off x="6949440" y="2286000"/>
          <a:ext cx="4663440" cy="2057400"/>
        </p:xfrm>
        <a:graphic>
          <a:graphicData uri="http://schemas.openxmlformats.org/drawingml/2006/table">
            <a:tbl>
              <a:tblPr firstRow="1" bandRow="1">
                <a:tableStyleId>{5940675A-B579-460E-94D1-54222C63F5DA}</a:tableStyleId>
              </a:tblPr>
              <a:tblGrid>
                <a:gridCol w="502920">
                  <a:extLst>
                    <a:ext uri="{9D8B030D-6E8A-4147-A177-3AD203B41FA5}">
                      <a16:colId xmlns:a16="http://schemas.microsoft.com/office/drawing/2014/main" val="20000"/>
                    </a:ext>
                  </a:extLst>
                </a:gridCol>
                <a:gridCol w="50292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gridCol w="1005840">
                  <a:extLst>
                    <a:ext uri="{9D8B030D-6E8A-4147-A177-3AD203B41FA5}">
                      <a16:colId xmlns:a16="http://schemas.microsoft.com/office/drawing/2014/main" val="20003"/>
                    </a:ext>
                  </a:extLst>
                </a:gridCol>
                <a:gridCol w="822960">
                  <a:extLst>
                    <a:ext uri="{9D8B030D-6E8A-4147-A177-3AD203B41FA5}">
                      <a16:colId xmlns:a16="http://schemas.microsoft.com/office/drawing/2014/main" val="20004"/>
                    </a:ext>
                  </a:extLst>
                </a:gridCol>
              </a:tblGrid>
              <a:tr h="411480">
                <a:tc>
                  <a:txBody>
                    <a:bodyPr/>
                    <a:lstStyle/>
                    <a:p>
                      <a:pPr algn="ctr"/>
                      <a:r>
                        <a:rPr sz="1400" b="1" i="0">
                          <a:solidFill>
                            <a:srgbClr val="FFFFFF"/>
                          </a:solidFill>
                          <a:latin typeface="Calibri"/>
                        </a:rPr>
                        <a:t>x</a:t>
                      </a:r>
                    </a:p>
                  </a:txBody>
                  <a:tcPr marT="36576" marB="36576" anchor="ctr">
                    <a:lnL w="9525">
                      <a:solidFill>
                        <a:srgbClr val="D5E2E0"/>
                      </a:solidFill>
                    </a:lnL>
                    <a:lnR w="9525">
                      <a:solidFill>
                        <a:srgbClr val="D5E2E0"/>
                      </a:solidFill>
                    </a:lnR>
                    <a:lnT w="9525">
                      <a:solidFill>
                        <a:srgbClr val="D5E2E0"/>
                      </a:solidFill>
                    </a:lnT>
                    <a:lnB w="9525">
                      <a:solidFill>
                        <a:srgbClr val="D5E2E0"/>
                      </a:solidFill>
                    </a:lnB>
                    <a:solidFill>
                      <a:srgbClr val="0B3C49"/>
                    </a:solidFill>
                  </a:tcPr>
                </a:tc>
                <a:tc>
                  <a:txBody>
                    <a:bodyPr/>
                    <a:lstStyle/>
                    <a:p>
                      <a:pPr algn="ctr"/>
                      <a:r>
                        <a:rPr sz="1400" b="1" i="0">
                          <a:solidFill>
                            <a:srgbClr val="FFFFFF"/>
                          </a:solidFill>
                          <a:latin typeface="Calibri"/>
                        </a:rPr>
                        <a:t>y</a:t>
                      </a:r>
                    </a:p>
                  </a:txBody>
                  <a:tcPr marT="36576" marB="36576" anchor="ctr">
                    <a:lnL w="9525">
                      <a:solidFill>
                        <a:srgbClr val="D5E2E0"/>
                      </a:solidFill>
                    </a:lnL>
                    <a:lnR w="9525">
                      <a:solidFill>
                        <a:srgbClr val="D5E2E0"/>
                      </a:solidFill>
                    </a:lnR>
                    <a:lnT w="9525">
                      <a:solidFill>
                        <a:srgbClr val="D5E2E0"/>
                      </a:solidFill>
                    </a:lnT>
                    <a:lnB w="9525">
                      <a:solidFill>
                        <a:srgbClr val="D5E2E0"/>
                      </a:solidFill>
                    </a:lnB>
                    <a:solidFill>
                      <a:srgbClr val="0B3C49"/>
                    </a:solidFill>
                  </a:tcPr>
                </a:tc>
                <a:tc>
                  <a:txBody>
                    <a:bodyPr/>
                    <a:lstStyle/>
                    <a:p>
                      <a:pPr algn="l"/>
                      <a:r>
                        <a:rPr sz="1400" b="1" i="0">
                          <a:solidFill>
                            <a:srgbClr val="FFFFFF"/>
                          </a:solidFill>
                          <a:latin typeface="Calibri"/>
                        </a:rPr>
                        <a:t>Action</a:t>
                      </a:r>
                    </a:p>
                  </a:txBody>
                  <a:tcPr marT="36576" marB="36576" anchor="ctr">
                    <a:lnL w="9525">
                      <a:solidFill>
                        <a:srgbClr val="D5E2E0"/>
                      </a:solidFill>
                    </a:lnL>
                    <a:lnR w="9525">
                      <a:solidFill>
                        <a:srgbClr val="D5E2E0"/>
                      </a:solidFill>
                    </a:lnR>
                    <a:lnT w="9525">
                      <a:solidFill>
                        <a:srgbClr val="D5E2E0"/>
                      </a:solidFill>
                    </a:lnT>
                    <a:lnB w="9525">
                      <a:solidFill>
                        <a:srgbClr val="D5E2E0"/>
                      </a:solidFill>
                    </a:lnB>
                    <a:solidFill>
                      <a:srgbClr val="0B3C49"/>
                    </a:solidFill>
                  </a:tcPr>
                </a:tc>
                <a:tc>
                  <a:txBody>
                    <a:bodyPr/>
                    <a:lstStyle/>
                    <a:p>
                      <a:pPr algn="ctr"/>
                      <a:r>
                        <a:rPr sz="1400" b="1" i="0">
                          <a:solidFill>
                            <a:srgbClr val="FFFFFF"/>
                          </a:solidFill>
                          <a:latin typeface="Calibri"/>
                        </a:rPr>
                        <a:t>remaining</a:t>
                      </a:r>
                    </a:p>
                  </a:txBody>
                  <a:tcPr marT="36576" marB="36576" anchor="ctr">
                    <a:lnL w="9525">
                      <a:solidFill>
                        <a:srgbClr val="D5E2E0"/>
                      </a:solidFill>
                    </a:lnL>
                    <a:lnR w="9525">
                      <a:solidFill>
                        <a:srgbClr val="D5E2E0"/>
                      </a:solidFill>
                    </a:lnR>
                    <a:lnT w="9525">
                      <a:solidFill>
                        <a:srgbClr val="D5E2E0"/>
                      </a:solidFill>
                    </a:lnT>
                    <a:lnB w="9525">
                      <a:solidFill>
                        <a:srgbClr val="D5E2E0"/>
                      </a:solidFill>
                    </a:lnB>
                    <a:solidFill>
                      <a:srgbClr val="0B3C49"/>
                    </a:solidFill>
                  </a:tcPr>
                </a:tc>
                <a:tc>
                  <a:txBody>
                    <a:bodyPr/>
                    <a:lstStyle/>
                    <a:p>
                      <a:pPr algn="ctr"/>
                      <a:r>
                        <a:rPr sz="1400" b="1" i="0">
                          <a:solidFill>
                            <a:srgbClr val="FFFFFF"/>
                          </a:solidFill>
                          <a:latin typeface="Calibri"/>
                        </a:rPr>
                        <a:t>count</a:t>
                      </a:r>
                    </a:p>
                  </a:txBody>
                  <a:tcPr marT="36576" marB="36576" anchor="ctr">
                    <a:lnL w="9525">
                      <a:solidFill>
                        <a:srgbClr val="D5E2E0"/>
                      </a:solidFill>
                    </a:lnL>
                    <a:lnR w="9525">
                      <a:solidFill>
                        <a:srgbClr val="D5E2E0"/>
                      </a:solidFill>
                    </a:lnR>
                    <a:lnT w="9525">
                      <a:solidFill>
                        <a:srgbClr val="D5E2E0"/>
                      </a:solidFill>
                    </a:lnT>
                    <a:lnB w="9525">
                      <a:solidFill>
                        <a:srgbClr val="D5E2E0"/>
                      </a:solidFill>
                    </a:lnB>
                    <a:solidFill>
                      <a:srgbClr val="0B3C49"/>
                    </a:solidFill>
                  </a:tcPr>
                </a:tc>
                <a:extLst>
                  <a:ext uri="{0D108BD9-81ED-4DB2-BD59-A6C34878D82A}">
                    <a16:rowId xmlns:a16="http://schemas.microsoft.com/office/drawing/2014/main" val="10000"/>
                  </a:ext>
                </a:extLst>
              </a:tr>
              <a:tr h="411480">
                <a:tc>
                  <a:txBody>
                    <a:bodyPr/>
                    <a:lstStyle/>
                    <a:p>
                      <a:pPr algn="ctr"/>
                      <a:r>
                        <a:rPr sz="1400" b="0" i="0">
                          <a:solidFill>
                            <a:srgbClr val="1D2B33"/>
                          </a:solidFill>
                          <a:latin typeface="Calibri"/>
                        </a:rPr>
                        <a:t>2</a:t>
                      </a:r>
                    </a:p>
                  </a:txBody>
                  <a:tcPr marT="36576" marB="36576" anchor="ctr">
                    <a:lnL w="9525">
                      <a:solidFill>
                        <a:srgbClr val="D5E2E0"/>
                      </a:solidFill>
                    </a:lnL>
                    <a:lnR w="9525">
                      <a:solidFill>
                        <a:srgbClr val="D5E2E0"/>
                      </a:solidFill>
                    </a:lnR>
                    <a:lnT w="9525">
                      <a:solidFill>
                        <a:srgbClr val="D5E2E0"/>
                      </a:solidFill>
                    </a:lnT>
                    <a:lnB w="9525">
                      <a:solidFill>
                        <a:srgbClr val="D5E2E0"/>
                      </a:solidFill>
                    </a:lnB>
                    <a:solidFill>
                      <a:srgbClr val="FFFFFF"/>
                    </a:solidFill>
                  </a:tcPr>
                </a:tc>
                <a:tc>
                  <a:txBody>
                    <a:bodyPr/>
                    <a:lstStyle/>
                    <a:p>
                      <a:pPr algn="ctr"/>
                      <a:r>
                        <a:rPr sz="1400" b="0" i="0">
                          <a:solidFill>
                            <a:srgbClr val="1D2B33"/>
                          </a:solidFill>
                          <a:latin typeface="Calibri"/>
                        </a:rPr>
                        <a:t>2</a:t>
                      </a:r>
                    </a:p>
                  </a:txBody>
                  <a:tcPr marT="36576" marB="36576" anchor="ctr">
                    <a:lnL w="9525">
                      <a:solidFill>
                        <a:srgbClr val="D5E2E0"/>
                      </a:solidFill>
                    </a:lnL>
                    <a:lnR w="9525">
                      <a:solidFill>
                        <a:srgbClr val="D5E2E0"/>
                      </a:solidFill>
                    </a:lnR>
                    <a:lnT w="9525">
                      <a:solidFill>
                        <a:srgbClr val="D5E2E0"/>
                      </a:solidFill>
                    </a:lnT>
                    <a:lnB w="9525">
                      <a:solidFill>
                        <a:srgbClr val="D5E2E0"/>
                      </a:solidFill>
                    </a:lnB>
                    <a:solidFill>
                      <a:srgbClr val="FFFFFF"/>
                    </a:solidFill>
                  </a:tcPr>
                </a:tc>
                <a:tc>
                  <a:txBody>
                    <a:bodyPr/>
                    <a:lstStyle/>
                    <a:p>
                      <a:pPr algn="l"/>
                      <a:r>
                        <a:rPr sz="1400" b="0" i="0">
                          <a:solidFill>
                            <a:srgbClr val="1D2B33"/>
                          </a:solidFill>
                          <a:latin typeface="Calibri"/>
                        </a:rPr>
                        <a:t>take x (2 ≤ 2)</a:t>
                      </a:r>
                    </a:p>
                  </a:txBody>
                  <a:tcPr marT="36576" marB="36576" anchor="ctr">
                    <a:lnL w="9525">
                      <a:solidFill>
                        <a:srgbClr val="D5E2E0"/>
                      </a:solidFill>
                    </a:lnL>
                    <a:lnR w="9525">
                      <a:solidFill>
                        <a:srgbClr val="D5E2E0"/>
                      </a:solidFill>
                    </a:lnR>
                    <a:lnT w="9525">
                      <a:solidFill>
                        <a:srgbClr val="D5E2E0"/>
                      </a:solidFill>
                    </a:lnT>
                    <a:lnB w="9525">
                      <a:solidFill>
                        <a:srgbClr val="D5E2E0"/>
                      </a:solidFill>
                    </a:lnB>
                    <a:solidFill>
                      <a:srgbClr val="FFFFFF"/>
                    </a:solidFill>
                  </a:tcPr>
                </a:tc>
                <a:tc>
                  <a:txBody>
                    <a:bodyPr/>
                    <a:lstStyle/>
                    <a:p>
                      <a:pPr algn="ctr"/>
                      <a:r>
                        <a:rPr sz="1400" b="0" i="0">
                          <a:solidFill>
                            <a:srgbClr val="1D2B33"/>
                          </a:solidFill>
                          <a:latin typeface="Calibri"/>
                        </a:rPr>
                        <a:t>1</a:t>
                      </a:r>
                    </a:p>
                  </a:txBody>
                  <a:tcPr marT="36576" marB="36576" anchor="ctr">
                    <a:lnL w="9525">
                      <a:solidFill>
                        <a:srgbClr val="D5E2E0"/>
                      </a:solidFill>
                    </a:lnL>
                    <a:lnR w="9525">
                      <a:solidFill>
                        <a:srgbClr val="D5E2E0"/>
                      </a:solidFill>
                    </a:lnR>
                    <a:lnT w="9525">
                      <a:solidFill>
                        <a:srgbClr val="D5E2E0"/>
                      </a:solidFill>
                    </a:lnT>
                    <a:lnB w="9525">
                      <a:solidFill>
                        <a:srgbClr val="D5E2E0"/>
                      </a:solidFill>
                    </a:lnB>
                    <a:solidFill>
                      <a:srgbClr val="FFFFFF"/>
                    </a:solidFill>
                  </a:tcPr>
                </a:tc>
                <a:tc>
                  <a:txBody>
                    <a:bodyPr/>
                    <a:lstStyle/>
                    <a:p>
                      <a:pPr algn="ctr"/>
                      <a:r>
                        <a:rPr sz="1400" b="0" i="0">
                          <a:solidFill>
                            <a:srgbClr val="1D2B33"/>
                          </a:solidFill>
                          <a:latin typeface="Calibri"/>
                        </a:rPr>
                        <a:t>0</a:t>
                      </a:r>
                    </a:p>
                  </a:txBody>
                  <a:tcPr marT="36576" marB="36576" anchor="ctr">
                    <a:lnL w="9525">
                      <a:solidFill>
                        <a:srgbClr val="D5E2E0"/>
                      </a:solidFill>
                    </a:lnL>
                    <a:lnR w="9525">
                      <a:solidFill>
                        <a:srgbClr val="D5E2E0"/>
                      </a:solidFill>
                    </a:lnR>
                    <a:lnT w="9525">
                      <a:solidFill>
                        <a:srgbClr val="D5E2E0"/>
                      </a:solidFill>
                    </a:lnT>
                    <a:lnB w="9525">
                      <a:solidFill>
                        <a:srgbClr val="D5E2E0"/>
                      </a:solidFill>
                    </a:lnB>
                    <a:solidFill>
                      <a:srgbClr val="FFFFFF"/>
                    </a:solidFill>
                  </a:tcPr>
                </a:tc>
                <a:extLst>
                  <a:ext uri="{0D108BD9-81ED-4DB2-BD59-A6C34878D82A}">
                    <a16:rowId xmlns:a16="http://schemas.microsoft.com/office/drawing/2014/main" val="10001"/>
                  </a:ext>
                </a:extLst>
              </a:tr>
              <a:tr h="411480">
                <a:tc>
                  <a:txBody>
                    <a:bodyPr/>
                    <a:lstStyle/>
                    <a:p>
                      <a:pPr algn="ctr"/>
                      <a:r>
                        <a:rPr sz="1400" b="0" i="0">
                          <a:solidFill>
                            <a:srgbClr val="1D2B33"/>
                          </a:solidFill>
                          <a:latin typeface="Calibri"/>
                        </a:rPr>
                        <a:t>3</a:t>
                      </a:r>
                    </a:p>
                  </a:txBody>
                  <a:tcPr marT="36576" marB="36576" anchor="ctr">
                    <a:lnL w="9525">
                      <a:solidFill>
                        <a:srgbClr val="D5E2E0"/>
                      </a:solidFill>
                    </a:lnL>
                    <a:lnR w="9525">
                      <a:solidFill>
                        <a:srgbClr val="D5E2E0"/>
                      </a:solidFill>
                    </a:lnR>
                    <a:lnT w="9525">
                      <a:solidFill>
                        <a:srgbClr val="D5E2E0"/>
                      </a:solidFill>
                    </a:lnT>
                    <a:lnB w="9525">
                      <a:solidFill>
                        <a:srgbClr val="D5E2E0"/>
                      </a:solidFill>
                    </a:lnB>
                    <a:solidFill>
                      <a:srgbClr val="FBEDE8"/>
                    </a:solidFill>
                  </a:tcPr>
                </a:tc>
                <a:tc>
                  <a:txBody>
                    <a:bodyPr/>
                    <a:lstStyle/>
                    <a:p>
                      <a:pPr algn="ctr"/>
                      <a:r>
                        <a:rPr sz="1400" b="0" i="0">
                          <a:solidFill>
                            <a:srgbClr val="1D2B33"/>
                          </a:solidFill>
                          <a:latin typeface="Calibri"/>
                        </a:rPr>
                        <a:t>2</a:t>
                      </a:r>
                    </a:p>
                  </a:txBody>
                  <a:tcPr marT="36576" marB="36576" anchor="ctr">
                    <a:lnL w="9525">
                      <a:solidFill>
                        <a:srgbClr val="D5E2E0"/>
                      </a:solidFill>
                    </a:lnL>
                    <a:lnR w="9525">
                      <a:solidFill>
                        <a:srgbClr val="D5E2E0"/>
                      </a:solidFill>
                    </a:lnR>
                    <a:lnT w="9525">
                      <a:solidFill>
                        <a:srgbClr val="D5E2E0"/>
                      </a:solidFill>
                    </a:lnT>
                    <a:lnB w="9525">
                      <a:solidFill>
                        <a:srgbClr val="D5E2E0"/>
                      </a:solidFill>
                    </a:lnB>
                    <a:solidFill>
                      <a:srgbClr val="FBEDE8"/>
                    </a:solidFill>
                  </a:tcPr>
                </a:tc>
                <a:tc>
                  <a:txBody>
                    <a:bodyPr/>
                    <a:lstStyle/>
                    <a:p>
                      <a:pPr algn="l"/>
                      <a:r>
                        <a:rPr sz="1400" b="0" i="0">
                          <a:solidFill>
                            <a:srgbClr val="1D2B33"/>
                          </a:solidFill>
                          <a:latin typeface="Calibri"/>
                        </a:rPr>
                        <a:t>take y, add 1</a:t>
                      </a:r>
                    </a:p>
                  </a:txBody>
                  <a:tcPr marT="36576" marB="36576" anchor="ctr">
                    <a:lnL w="9525">
                      <a:solidFill>
                        <a:srgbClr val="D5E2E0"/>
                      </a:solidFill>
                    </a:lnL>
                    <a:lnR w="9525">
                      <a:solidFill>
                        <a:srgbClr val="D5E2E0"/>
                      </a:solidFill>
                    </a:lnR>
                    <a:lnT w="9525">
                      <a:solidFill>
                        <a:srgbClr val="D5E2E0"/>
                      </a:solidFill>
                    </a:lnT>
                    <a:lnB w="9525">
                      <a:solidFill>
                        <a:srgbClr val="D5E2E0"/>
                      </a:solidFill>
                    </a:lnB>
                    <a:solidFill>
                      <a:srgbClr val="FBEDE8"/>
                    </a:solidFill>
                  </a:tcPr>
                </a:tc>
                <a:tc>
                  <a:txBody>
                    <a:bodyPr/>
                    <a:lstStyle/>
                    <a:p>
                      <a:pPr algn="ctr"/>
                      <a:r>
                        <a:rPr sz="1400" b="0" i="0">
                          <a:solidFill>
                            <a:srgbClr val="1D2B33"/>
                          </a:solidFill>
                          <a:latin typeface="Calibri"/>
                        </a:rPr>
                        <a:t>1</a:t>
                      </a:r>
                    </a:p>
                  </a:txBody>
                  <a:tcPr marT="36576" marB="36576" anchor="ctr">
                    <a:lnL w="9525">
                      <a:solidFill>
                        <a:srgbClr val="D5E2E0"/>
                      </a:solidFill>
                    </a:lnL>
                    <a:lnR w="9525">
                      <a:solidFill>
                        <a:srgbClr val="D5E2E0"/>
                      </a:solidFill>
                    </a:lnR>
                    <a:lnT w="9525">
                      <a:solidFill>
                        <a:srgbClr val="D5E2E0"/>
                      </a:solidFill>
                    </a:lnT>
                    <a:lnB w="9525">
                      <a:solidFill>
                        <a:srgbClr val="D5E2E0"/>
                      </a:solidFill>
                    </a:lnB>
                    <a:solidFill>
                      <a:srgbClr val="FBEDE8"/>
                    </a:solidFill>
                  </a:tcPr>
                </a:tc>
                <a:tc>
                  <a:txBody>
                    <a:bodyPr/>
                    <a:lstStyle/>
                    <a:p>
                      <a:pPr algn="ctr"/>
                      <a:r>
                        <a:rPr sz="1400" b="0" i="0">
                          <a:solidFill>
                            <a:srgbClr val="1D2B33"/>
                          </a:solidFill>
                          <a:latin typeface="Calibri"/>
                        </a:rPr>
                        <a:t>1</a:t>
                      </a:r>
                    </a:p>
                  </a:txBody>
                  <a:tcPr marT="36576" marB="36576" anchor="ctr">
                    <a:lnL w="9525">
                      <a:solidFill>
                        <a:srgbClr val="D5E2E0"/>
                      </a:solidFill>
                    </a:lnL>
                    <a:lnR w="9525">
                      <a:solidFill>
                        <a:srgbClr val="D5E2E0"/>
                      </a:solidFill>
                    </a:lnR>
                    <a:lnT w="9525">
                      <a:solidFill>
                        <a:srgbClr val="D5E2E0"/>
                      </a:solidFill>
                    </a:lnT>
                    <a:lnB w="9525">
                      <a:solidFill>
                        <a:srgbClr val="D5E2E0"/>
                      </a:solidFill>
                    </a:lnB>
                    <a:solidFill>
                      <a:srgbClr val="FBEDE8"/>
                    </a:solidFill>
                  </a:tcPr>
                </a:tc>
                <a:extLst>
                  <a:ext uri="{0D108BD9-81ED-4DB2-BD59-A6C34878D82A}">
                    <a16:rowId xmlns:a16="http://schemas.microsoft.com/office/drawing/2014/main" val="10002"/>
                  </a:ext>
                </a:extLst>
              </a:tr>
              <a:tr h="411480">
                <a:tc>
                  <a:txBody>
                    <a:bodyPr/>
                    <a:lstStyle/>
                    <a:p>
                      <a:pPr algn="ctr"/>
                      <a:r>
                        <a:rPr sz="1400" b="0" i="0">
                          <a:solidFill>
                            <a:srgbClr val="1D2B33"/>
                          </a:solidFill>
                          <a:latin typeface="Calibri"/>
                        </a:rPr>
                        <a:t>3</a:t>
                      </a:r>
                    </a:p>
                  </a:txBody>
                  <a:tcPr marT="36576" marB="36576" anchor="ctr">
                    <a:lnL w="9525">
                      <a:solidFill>
                        <a:srgbClr val="D5E2E0"/>
                      </a:solidFill>
                    </a:lnL>
                    <a:lnR w="9525">
                      <a:solidFill>
                        <a:srgbClr val="D5E2E0"/>
                      </a:solidFill>
                    </a:lnR>
                    <a:lnT w="9525">
                      <a:solidFill>
                        <a:srgbClr val="D5E2E0"/>
                      </a:solidFill>
                    </a:lnT>
                    <a:lnB w="9525">
                      <a:solidFill>
                        <a:srgbClr val="D5E2E0"/>
                      </a:solidFill>
                    </a:lnB>
                    <a:solidFill>
                      <a:srgbClr val="FFFFFF"/>
                    </a:solidFill>
                  </a:tcPr>
                </a:tc>
                <a:tc>
                  <a:txBody>
                    <a:bodyPr/>
                    <a:lstStyle/>
                    <a:p>
                      <a:pPr algn="ctr"/>
                      <a:r>
                        <a:rPr sz="1400" b="0" i="0">
                          <a:solidFill>
                            <a:srgbClr val="1D2B33"/>
                          </a:solidFill>
                          <a:latin typeface="Calibri"/>
                        </a:rPr>
                        <a:t>9</a:t>
                      </a:r>
                    </a:p>
                  </a:txBody>
                  <a:tcPr marT="36576" marB="36576" anchor="ctr">
                    <a:lnL w="9525">
                      <a:solidFill>
                        <a:srgbClr val="D5E2E0"/>
                      </a:solidFill>
                    </a:lnL>
                    <a:lnR w="9525">
                      <a:solidFill>
                        <a:srgbClr val="D5E2E0"/>
                      </a:solidFill>
                    </a:lnR>
                    <a:lnT w="9525">
                      <a:solidFill>
                        <a:srgbClr val="D5E2E0"/>
                      </a:solidFill>
                    </a:lnT>
                    <a:lnB w="9525">
                      <a:solidFill>
                        <a:srgbClr val="D5E2E0"/>
                      </a:solidFill>
                    </a:lnB>
                    <a:solidFill>
                      <a:srgbClr val="FFFFFF"/>
                    </a:solidFill>
                  </a:tcPr>
                </a:tc>
                <a:tc>
                  <a:txBody>
                    <a:bodyPr/>
                    <a:lstStyle/>
                    <a:p>
                      <a:pPr algn="l"/>
                      <a:r>
                        <a:rPr sz="1400" b="0" i="0">
                          <a:solidFill>
                            <a:srgbClr val="1D2B33"/>
                          </a:solidFill>
                          <a:latin typeface="Calibri"/>
                        </a:rPr>
                        <a:t>take x</a:t>
                      </a:r>
                    </a:p>
                  </a:txBody>
                  <a:tcPr marT="36576" marB="36576" anchor="ctr">
                    <a:lnL w="9525">
                      <a:solidFill>
                        <a:srgbClr val="D5E2E0"/>
                      </a:solidFill>
                    </a:lnL>
                    <a:lnR w="9525">
                      <a:solidFill>
                        <a:srgbClr val="D5E2E0"/>
                      </a:solidFill>
                    </a:lnR>
                    <a:lnT w="9525">
                      <a:solidFill>
                        <a:srgbClr val="D5E2E0"/>
                      </a:solidFill>
                    </a:lnT>
                    <a:lnB w="9525">
                      <a:solidFill>
                        <a:srgbClr val="D5E2E0"/>
                      </a:solidFill>
                    </a:lnB>
                    <a:solidFill>
                      <a:srgbClr val="FFFFFF"/>
                    </a:solidFill>
                  </a:tcPr>
                </a:tc>
                <a:tc>
                  <a:txBody>
                    <a:bodyPr/>
                    <a:lstStyle/>
                    <a:p>
                      <a:pPr algn="ctr"/>
                      <a:r>
                        <a:rPr sz="1400" b="0" i="0">
                          <a:solidFill>
                            <a:srgbClr val="1D2B33"/>
                          </a:solidFill>
                          <a:latin typeface="Calibri"/>
                        </a:rPr>
                        <a:t>0</a:t>
                      </a:r>
                    </a:p>
                  </a:txBody>
                  <a:tcPr marT="36576" marB="36576" anchor="ctr">
                    <a:lnL w="9525">
                      <a:solidFill>
                        <a:srgbClr val="D5E2E0"/>
                      </a:solidFill>
                    </a:lnL>
                    <a:lnR w="9525">
                      <a:solidFill>
                        <a:srgbClr val="D5E2E0"/>
                      </a:solidFill>
                    </a:lnR>
                    <a:lnT w="9525">
                      <a:solidFill>
                        <a:srgbClr val="D5E2E0"/>
                      </a:solidFill>
                    </a:lnT>
                    <a:lnB w="9525">
                      <a:solidFill>
                        <a:srgbClr val="D5E2E0"/>
                      </a:solidFill>
                    </a:lnB>
                    <a:solidFill>
                      <a:srgbClr val="FFFFFF"/>
                    </a:solidFill>
                  </a:tcPr>
                </a:tc>
                <a:tc>
                  <a:txBody>
                    <a:bodyPr/>
                    <a:lstStyle/>
                    <a:p>
                      <a:pPr algn="ctr"/>
                      <a:r>
                        <a:rPr sz="1400" b="0" i="0">
                          <a:solidFill>
                            <a:srgbClr val="1D2B33"/>
                          </a:solidFill>
                          <a:latin typeface="Calibri"/>
                        </a:rPr>
                        <a:t>1</a:t>
                      </a:r>
                    </a:p>
                  </a:txBody>
                  <a:tcPr marT="36576" marB="36576" anchor="ctr">
                    <a:lnL w="9525">
                      <a:solidFill>
                        <a:srgbClr val="D5E2E0"/>
                      </a:solidFill>
                    </a:lnL>
                    <a:lnR w="9525">
                      <a:solidFill>
                        <a:srgbClr val="D5E2E0"/>
                      </a:solidFill>
                    </a:lnR>
                    <a:lnT w="9525">
                      <a:solidFill>
                        <a:srgbClr val="D5E2E0"/>
                      </a:solidFill>
                    </a:lnT>
                    <a:lnB w="9525">
                      <a:solidFill>
                        <a:srgbClr val="D5E2E0"/>
                      </a:solidFill>
                    </a:lnB>
                    <a:solidFill>
                      <a:srgbClr val="FFFFFF"/>
                    </a:solidFill>
                  </a:tcPr>
                </a:tc>
                <a:extLst>
                  <a:ext uri="{0D108BD9-81ED-4DB2-BD59-A6C34878D82A}">
                    <a16:rowId xmlns:a16="http://schemas.microsoft.com/office/drawing/2014/main" val="10003"/>
                  </a:ext>
                </a:extLst>
              </a:tr>
              <a:tr h="411480">
                <a:tc>
                  <a:txBody>
                    <a:bodyPr/>
                    <a:lstStyle/>
                    <a:p>
                      <a:pPr algn="ctr"/>
                      <a:r>
                        <a:rPr sz="1400" b="0" i="0">
                          <a:solidFill>
                            <a:srgbClr val="1D2B33"/>
                          </a:solidFill>
                          <a:latin typeface="Calibri"/>
                        </a:rPr>
                        <a:t>—</a:t>
                      </a:r>
                    </a:p>
                  </a:txBody>
                  <a:tcPr marT="36576" marB="36576" anchor="ctr">
                    <a:lnL w="9525">
                      <a:solidFill>
                        <a:srgbClr val="D5E2E0"/>
                      </a:solidFill>
                    </a:lnL>
                    <a:lnR w="9525">
                      <a:solidFill>
                        <a:srgbClr val="D5E2E0"/>
                      </a:solidFill>
                    </a:lnR>
                    <a:lnT w="9525">
                      <a:solidFill>
                        <a:srgbClr val="D5E2E0"/>
                      </a:solidFill>
                    </a:lnT>
                    <a:lnB w="9525">
                      <a:solidFill>
                        <a:srgbClr val="D5E2E0"/>
                      </a:solidFill>
                    </a:lnB>
                    <a:solidFill>
                      <a:srgbClr val="EAF3F1"/>
                    </a:solidFill>
                  </a:tcPr>
                </a:tc>
                <a:tc>
                  <a:txBody>
                    <a:bodyPr/>
                    <a:lstStyle/>
                    <a:p>
                      <a:pPr algn="ctr"/>
                      <a:r>
                        <a:rPr sz="1400" b="0" i="0">
                          <a:solidFill>
                            <a:srgbClr val="1D2B33"/>
                          </a:solidFill>
                          <a:latin typeface="Calibri"/>
                        </a:rPr>
                        <a:t>9</a:t>
                      </a:r>
                    </a:p>
                  </a:txBody>
                  <a:tcPr marT="36576" marB="36576" anchor="ctr">
                    <a:lnL w="9525">
                      <a:solidFill>
                        <a:srgbClr val="D5E2E0"/>
                      </a:solidFill>
                    </a:lnL>
                    <a:lnR w="9525">
                      <a:solidFill>
                        <a:srgbClr val="D5E2E0"/>
                      </a:solidFill>
                    </a:lnR>
                    <a:lnT w="9525">
                      <a:solidFill>
                        <a:srgbClr val="D5E2E0"/>
                      </a:solidFill>
                    </a:lnT>
                    <a:lnB w="9525">
                      <a:solidFill>
                        <a:srgbClr val="D5E2E0"/>
                      </a:solidFill>
                    </a:lnB>
                    <a:solidFill>
                      <a:srgbClr val="EAF3F1"/>
                    </a:solidFill>
                  </a:tcPr>
                </a:tc>
                <a:tc>
                  <a:txBody>
                    <a:bodyPr/>
                    <a:lstStyle/>
                    <a:p>
                      <a:pPr algn="l"/>
                      <a:r>
                        <a:rPr sz="1400" b="0" i="0">
                          <a:solidFill>
                            <a:srgbClr val="1D2B33"/>
                          </a:solidFill>
                          <a:latin typeface="Calibri"/>
                        </a:rPr>
                        <a:t>left empty</a:t>
                      </a:r>
                    </a:p>
                  </a:txBody>
                  <a:tcPr marT="36576" marB="36576" anchor="ctr">
                    <a:lnL w="9525">
                      <a:solidFill>
                        <a:srgbClr val="D5E2E0"/>
                      </a:solidFill>
                    </a:lnL>
                    <a:lnR w="9525">
                      <a:solidFill>
                        <a:srgbClr val="D5E2E0"/>
                      </a:solidFill>
                    </a:lnR>
                    <a:lnT w="9525">
                      <a:solidFill>
                        <a:srgbClr val="D5E2E0"/>
                      </a:solidFill>
                    </a:lnT>
                    <a:lnB w="9525">
                      <a:solidFill>
                        <a:srgbClr val="D5E2E0"/>
                      </a:solidFill>
                    </a:lnB>
                    <a:solidFill>
                      <a:srgbClr val="EAF3F1"/>
                    </a:solidFill>
                  </a:tcPr>
                </a:tc>
                <a:tc>
                  <a:txBody>
                    <a:bodyPr/>
                    <a:lstStyle/>
                    <a:p>
                      <a:pPr algn="ctr"/>
                      <a:r>
                        <a:rPr sz="1400" b="0" i="0">
                          <a:solidFill>
                            <a:srgbClr val="1D2B33"/>
                          </a:solidFill>
                          <a:latin typeface="Calibri"/>
                        </a:rPr>
                        <a:t>0</a:t>
                      </a:r>
                    </a:p>
                  </a:txBody>
                  <a:tcPr marT="36576" marB="36576" anchor="ctr">
                    <a:lnL w="9525">
                      <a:solidFill>
                        <a:srgbClr val="D5E2E0"/>
                      </a:solidFill>
                    </a:lnL>
                    <a:lnR w="9525">
                      <a:solidFill>
                        <a:srgbClr val="D5E2E0"/>
                      </a:solidFill>
                    </a:lnR>
                    <a:lnT w="9525">
                      <a:solidFill>
                        <a:srgbClr val="D5E2E0"/>
                      </a:solidFill>
                    </a:lnT>
                    <a:lnB w="9525">
                      <a:solidFill>
                        <a:srgbClr val="D5E2E0"/>
                      </a:solidFill>
                    </a:lnB>
                    <a:solidFill>
                      <a:srgbClr val="EAF3F1"/>
                    </a:solidFill>
                  </a:tcPr>
                </a:tc>
                <a:tc>
                  <a:txBody>
                    <a:bodyPr/>
                    <a:lstStyle/>
                    <a:p>
                      <a:pPr algn="ctr"/>
                      <a:r>
                        <a:rPr sz="1400" b="0" i="0">
                          <a:solidFill>
                            <a:srgbClr val="1D2B33"/>
                          </a:solidFill>
                          <a:latin typeface="Calibri"/>
                        </a:rPr>
                        <a:t>1</a:t>
                      </a:r>
                    </a:p>
                  </a:txBody>
                  <a:tcPr marT="36576" marB="36576" anchor="ctr">
                    <a:lnL w="9525">
                      <a:solidFill>
                        <a:srgbClr val="D5E2E0"/>
                      </a:solidFill>
                    </a:lnL>
                    <a:lnR w="9525">
                      <a:solidFill>
                        <a:srgbClr val="D5E2E0"/>
                      </a:solidFill>
                    </a:lnR>
                    <a:lnT w="9525">
                      <a:solidFill>
                        <a:srgbClr val="D5E2E0"/>
                      </a:solidFill>
                    </a:lnT>
                    <a:lnB w="9525">
                      <a:solidFill>
                        <a:srgbClr val="D5E2E0"/>
                      </a:solidFill>
                    </a:lnB>
                    <a:solidFill>
                      <a:srgbClr val="EAF3F1"/>
                    </a:solidFill>
                  </a:tcPr>
                </a:tc>
                <a:extLst>
                  <a:ext uri="{0D108BD9-81ED-4DB2-BD59-A6C34878D82A}">
                    <a16:rowId xmlns:a16="http://schemas.microsoft.com/office/drawing/2014/main" val="10004"/>
                  </a:ext>
                </a:extLst>
              </a:tr>
            </a:tbl>
          </a:graphicData>
        </a:graphic>
      </p:graphicFrame>
      <p:sp>
        <p:nvSpPr>
          <p:cNvPr id="9" name="Rounded Rectangle 8"/>
          <p:cNvSpPr/>
          <p:nvPr/>
        </p:nvSpPr>
        <p:spPr>
          <a:xfrm>
            <a:off x="6949440" y="4572000"/>
            <a:ext cx="4663440" cy="1600200"/>
          </a:xfrm>
          <a:prstGeom prst="roundRect">
            <a:avLst>
              <a:gd name="adj" fmla="val 8000"/>
            </a:avLst>
          </a:prstGeom>
          <a:solidFill>
            <a:srgbClr val="EA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178040" y="4663440"/>
            <a:ext cx="4206240" cy="1417320"/>
          </a:xfrm>
          <a:prstGeom prst="rect">
            <a:avLst/>
          </a:prstGeom>
          <a:noFill/>
        </p:spPr>
        <p:txBody>
          <a:bodyPr wrap="square" lIns="0" tIns="0" rIns="0" bIns="0" anchor="ctr">
            <a:spAutoFit/>
          </a:bodyPr>
          <a:lstStyle/>
          <a:p>
            <a:pPr algn="l">
              <a:spcAft>
                <a:spcPts val="400"/>
              </a:spcAft>
            </a:pPr>
            <a:r>
              <a:rPr sz="1800" b="1" i="0">
                <a:solidFill>
                  <a:srgbClr val="1D2B33"/>
                </a:solidFill>
                <a:latin typeface="Cambria"/>
              </a:rPr>
              <a:t>Total = iL + iR + cross</a:t>
            </a:r>
          </a:p>
          <a:p>
            <a:pPr algn="l">
              <a:spcAft>
                <a:spcPts val="400"/>
              </a:spcAft>
            </a:pPr>
            <a:r>
              <a:rPr sz="1500" b="0" i="0">
                <a:solidFill>
                  <a:srgbClr val="1D2B33"/>
                </a:solidFill>
                <a:latin typeface="Calibri"/>
              </a:rPr>
              <a:t>0 (from [2, 3]) + 1 (from [9, 2, 9]) + 1 (cross) = 2</a:t>
            </a:r>
          </a:p>
          <a:p>
            <a:pPr algn="l">
              <a:spcAft>
                <a:spcPts val="400"/>
              </a:spcAft>
            </a:pPr>
            <a:r>
              <a:rPr sz="1500" b="0" i="0">
                <a:solidFill>
                  <a:srgbClr val="1D2B33"/>
                </a:solidFill>
                <a:latin typeface="Calibri"/>
              </a:rPr>
              <a:t>Sorted result: [2, 2, 3, 9, 9]</a:t>
            </a:r>
          </a:p>
        </p:txBody>
      </p:sp>
      <p:sp>
        <p:nvSpPr>
          <p:cNvPr id="11" name="TextBox 10"/>
          <p:cNvSpPr txBox="1"/>
          <p:nvPr/>
        </p:nvSpPr>
        <p:spPr>
          <a:xfrm>
            <a:off x="10881360" y="6400800"/>
            <a:ext cx="822960" cy="274320"/>
          </a:xfrm>
          <a:prstGeom prst="rect">
            <a:avLst/>
          </a:prstGeom>
          <a:noFill/>
        </p:spPr>
        <p:txBody>
          <a:bodyPr wrap="square" lIns="0" tIns="0" rIns="0" bIns="0" anchor="t">
            <a:spAutoFit/>
          </a:bodyPr>
          <a:lstStyle/>
          <a:p>
            <a:pPr algn="r"/>
            <a:r>
              <a:rPr sz="1100" b="0" i="0">
                <a:solidFill>
                  <a:srgbClr val="5B6B73"/>
                </a:solidFill>
                <a:latin typeface="Calibri"/>
              </a:rPr>
              <a:t>7</a:t>
            </a:r>
          </a:p>
        </p:txBody>
      </p:sp>
      <p:sp>
        <p:nvSpPr>
          <p:cNvPr id="12" name="TextBox 11"/>
          <p:cNvSpPr txBox="1"/>
          <p:nvPr/>
        </p:nvSpPr>
        <p:spPr>
          <a:xfrm>
            <a:off x="548640" y="6400800"/>
            <a:ext cx="7315200" cy="274320"/>
          </a:xfrm>
          <a:prstGeom prst="rect">
            <a:avLst/>
          </a:prstGeom>
          <a:noFill/>
        </p:spPr>
        <p:txBody>
          <a:bodyPr wrap="square" lIns="0" tIns="0" rIns="0" bIns="0" anchor="t">
            <a:spAutoFit/>
          </a:bodyPr>
          <a:lstStyle/>
          <a:p>
            <a:pPr algn="l"/>
            <a:r>
              <a:rPr sz="1100" b="0" i="0">
                <a:solidFill>
                  <a:srgbClr val="5B6B73"/>
                </a:solidFill>
                <a:latin typeface="Calibri"/>
              </a:rPr>
              <a:t>CyED II · Integrative Assignment 1 · Divide and conquer in Scala</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47472"/>
            <a:ext cx="11064240" cy="731520"/>
          </a:xfrm>
          <a:prstGeom prst="rect">
            <a:avLst/>
          </a:prstGeom>
          <a:noFill/>
        </p:spPr>
        <p:txBody>
          <a:bodyPr wrap="square" lIns="0" tIns="0" rIns="0" bIns="0" anchor="b">
            <a:spAutoFit/>
          </a:bodyPr>
          <a:lstStyle/>
          <a:p>
            <a:pPr algn="l"/>
            <a:r>
              <a:rPr sz="3400" b="1" i="0">
                <a:solidFill>
                  <a:srgbClr val="1D2B33"/>
                </a:solidFill>
                <a:latin typeface="Cambria"/>
              </a:rPr>
              <a:t>Correctness by induction and Θ(n log n) cost</a:t>
            </a:r>
          </a:p>
        </p:txBody>
      </p:sp>
      <p:sp>
        <p:nvSpPr>
          <p:cNvPr id="3" name="Oval 2"/>
          <p:cNvSpPr/>
          <p:nvPr/>
        </p:nvSpPr>
        <p:spPr>
          <a:xfrm>
            <a:off x="548640" y="1554480"/>
            <a:ext cx="457200" cy="457200"/>
          </a:xfrm>
          <a:prstGeom prst="ellipse">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500" b="1" i="0">
                <a:solidFill>
                  <a:srgbClr val="FFFFFF"/>
                </a:solidFill>
                <a:latin typeface="Cambria"/>
              </a:rPr>
              <a:t>1</a:t>
            </a:r>
          </a:p>
        </p:txBody>
      </p:sp>
      <p:sp>
        <p:nvSpPr>
          <p:cNvPr id="4" name="TextBox 3"/>
          <p:cNvSpPr txBox="1"/>
          <p:nvPr/>
        </p:nvSpPr>
        <p:spPr>
          <a:xfrm>
            <a:off x="1188720" y="1508760"/>
            <a:ext cx="4846320" cy="1097280"/>
          </a:xfrm>
          <a:prstGeom prst="rect">
            <a:avLst/>
          </a:prstGeom>
          <a:noFill/>
        </p:spPr>
        <p:txBody>
          <a:bodyPr wrap="square" lIns="0" tIns="0" rIns="0" bIns="0" anchor="t">
            <a:spAutoFit/>
          </a:bodyPr>
          <a:lstStyle/>
          <a:p>
            <a:pPr algn="l">
              <a:spcAft>
                <a:spcPts val="200"/>
              </a:spcAft>
            </a:pPr>
            <a:r>
              <a:rPr sz="1700" b="1" i="0">
                <a:solidFill>
                  <a:srgbClr val="1D2B33"/>
                </a:solidFill>
                <a:latin typeface="Cambria"/>
              </a:rPr>
              <a:t>Base</a:t>
            </a:r>
          </a:p>
          <a:p>
            <a:pPr algn="l">
              <a:spcAft>
                <a:spcPts val="200"/>
              </a:spcAft>
            </a:pPr>
            <a:r>
              <a:rPr sz="1400" b="0" i="0">
                <a:solidFill>
                  <a:srgbClr val="1D2B33"/>
                </a:solidFill>
                <a:latin typeface="Calibri"/>
              </a:rPr>
              <a:t>[] and [a] are sorted and have 0 inversions.</a:t>
            </a:r>
          </a:p>
        </p:txBody>
      </p:sp>
      <p:sp>
        <p:nvSpPr>
          <p:cNvPr id="5" name="Oval 4"/>
          <p:cNvSpPr/>
          <p:nvPr/>
        </p:nvSpPr>
        <p:spPr>
          <a:xfrm>
            <a:off x="548640" y="2514600"/>
            <a:ext cx="457200" cy="457200"/>
          </a:xfrm>
          <a:prstGeom prst="ellipse">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500" b="1" i="0">
                <a:solidFill>
                  <a:srgbClr val="FFFFFF"/>
                </a:solidFill>
                <a:latin typeface="Cambria"/>
              </a:rPr>
              <a:t>2</a:t>
            </a:r>
          </a:p>
        </p:txBody>
      </p:sp>
      <p:sp>
        <p:nvSpPr>
          <p:cNvPr id="6" name="TextBox 5"/>
          <p:cNvSpPr txBox="1"/>
          <p:nvPr/>
        </p:nvSpPr>
        <p:spPr>
          <a:xfrm>
            <a:off x="1188720" y="2468880"/>
            <a:ext cx="4846320" cy="1097280"/>
          </a:xfrm>
          <a:prstGeom prst="rect">
            <a:avLst/>
          </a:prstGeom>
          <a:noFill/>
        </p:spPr>
        <p:txBody>
          <a:bodyPr wrap="square" lIns="0" tIns="0" rIns="0" bIns="0" anchor="t">
            <a:spAutoFit/>
          </a:bodyPr>
          <a:lstStyle/>
          <a:p>
            <a:pPr algn="l">
              <a:spcAft>
                <a:spcPts val="200"/>
              </a:spcAft>
            </a:pPr>
            <a:r>
              <a:rPr sz="1700" b="1" i="0">
                <a:solidFill>
                  <a:srgbClr val="1D2B33"/>
                </a:solidFill>
                <a:latin typeface="Cambria"/>
              </a:rPr>
              <a:t>Hypothesis</a:t>
            </a:r>
          </a:p>
          <a:p>
            <a:pPr algn="l">
              <a:spcAft>
                <a:spcPts val="200"/>
              </a:spcAft>
            </a:pPr>
            <a:r>
              <a:rPr sz="1400" b="0" i="0">
                <a:solidFill>
                  <a:srgbClr val="1D2B33"/>
                </a:solidFill>
                <a:latin typeface="Calibri"/>
              </a:rPr>
              <a:t>MS is correct on L and R, which are strictly smaller.</a:t>
            </a:r>
          </a:p>
        </p:txBody>
      </p:sp>
      <p:sp>
        <p:nvSpPr>
          <p:cNvPr id="7" name="Oval 6"/>
          <p:cNvSpPr/>
          <p:nvPr/>
        </p:nvSpPr>
        <p:spPr>
          <a:xfrm>
            <a:off x="548640" y="3474720"/>
            <a:ext cx="457200" cy="457200"/>
          </a:xfrm>
          <a:prstGeom prst="ellipse">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500" b="1" i="0">
                <a:solidFill>
                  <a:srgbClr val="FFFFFF"/>
                </a:solidFill>
                <a:latin typeface="Cambria"/>
              </a:rPr>
              <a:t>3</a:t>
            </a:r>
          </a:p>
        </p:txBody>
      </p:sp>
      <p:sp>
        <p:nvSpPr>
          <p:cNvPr id="8" name="TextBox 7"/>
          <p:cNvSpPr txBox="1"/>
          <p:nvPr/>
        </p:nvSpPr>
        <p:spPr>
          <a:xfrm>
            <a:off x="1188720" y="3429000"/>
            <a:ext cx="4846320" cy="1097280"/>
          </a:xfrm>
          <a:prstGeom prst="rect">
            <a:avLst/>
          </a:prstGeom>
          <a:noFill/>
        </p:spPr>
        <p:txBody>
          <a:bodyPr wrap="square" lIns="0" tIns="0" rIns="0" bIns="0" anchor="t">
            <a:spAutoFit/>
          </a:bodyPr>
          <a:lstStyle/>
          <a:p>
            <a:pPr algn="l">
              <a:spcAft>
                <a:spcPts val="200"/>
              </a:spcAft>
            </a:pPr>
            <a:r>
              <a:rPr sz="1700" b="1" i="0">
                <a:solidFill>
                  <a:srgbClr val="1D2B33"/>
                </a:solidFill>
                <a:latin typeface="Cambria"/>
              </a:rPr>
              <a:t>Step</a:t>
            </a:r>
          </a:p>
          <a:p>
            <a:pPr algn="l">
              <a:spcAft>
                <a:spcPts val="200"/>
              </a:spcAft>
            </a:pPr>
            <a:r>
              <a:rPr sz="1400" b="0" i="0">
                <a:solidFill>
                  <a:srgbClr val="1D2B33"/>
                </a:solidFill>
                <a:latin typeface="Calibri"/>
              </a:rPr>
              <a:t>Each pair lies inside L (iL), inside R (iR) or crosses (c, by the merge lemma). The groups are disjoint: total = iL + iR + c.</a:t>
            </a:r>
          </a:p>
        </p:txBody>
      </p:sp>
      <p:sp>
        <p:nvSpPr>
          <p:cNvPr id="9" name="Oval 8"/>
          <p:cNvSpPr/>
          <p:nvPr/>
        </p:nvSpPr>
        <p:spPr>
          <a:xfrm>
            <a:off x="548640" y="4617720"/>
            <a:ext cx="457200" cy="457200"/>
          </a:xfrm>
          <a:prstGeom prst="ellipse">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500" b="1" i="0">
                <a:solidFill>
                  <a:srgbClr val="FFFFFF"/>
                </a:solidFill>
                <a:latin typeface="Cambria"/>
              </a:rPr>
              <a:t>4</a:t>
            </a:r>
          </a:p>
        </p:txBody>
      </p:sp>
      <p:sp>
        <p:nvSpPr>
          <p:cNvPr id="10" name="TextBox 9"/>
          <p:cNvSpPr txBox="1"/>
          <p:nvPr/>
        </p:nvSpPr>
        <p:spPr>
          <a:xfrm>
            <a:off x="1188720" y="4572000"/>
            <a:ext cx="4846320" cy="1097280"/>
          </a:xfrm>
          <a:prstGeom prst="rect">
            <a:avLst/>
          </a:prstGeom>
          <a:noFill/>
        </p:spPr>
        <p:txBody>
          <a:bodyPr wrap="square" lIns="0" tIns="0" rIns="0" bIns="0" anchor="t">
            <a:spAutoFit/>
          </a:bodyPr>
          <a:lstStyle/>
          <a:p>
            <a:pPr algn="l">
              <a:spcAft>
                <a:spcPts val="200"/>
              </a:spcAft>
            </a:pPr>
            <a:r>
              <a:rPr sz="1700" b="1" i="0">
                <a:solidFill>
                  <a:srgbClr val="1D2B33"/>
                </a:solidFill>
                <a:latin typeface="Cambria"/>
              </a:rPr>
              <a:t>Termination</a:t>
            </a:r>
          </a:p>
          <a:p>
            <a:pPr algn="l">
              <a:spcAft>
                <a:spcPts val="200"/>
              </a:spcAft>
            </a:pPr>
            <a:r>
              <a:rPr sz="1400" b="0" i="0">
                <a:solidFill>
                  <a:srgbClr val="1D2B33"/>
                </a:solidFill>
                <a:latin typeface="Calibri"/>
              </a:rPr>
              <a:t>Each split produces strictly smaller lists.</a:t>
            </a:r>
          </a:p>
        </p:txBody>
      </p:sp>
      <p:sp>
        <p:nvSpPr>
          <p:cNvPr id="11" name="Rounded Rectangle 10"/>
          <p:cNvSpPr/>
          <p:nvPr/>
        </p:nvSpPr>
        <p:spPr>
          <a:xfrm>
            <a:off x="6345936" y="1554480"/>
            <a:ext cx="3767328" cy="548640"/>
          </a:xfrm>
          <a:prstGeom prst="roundRect">
            <a:avLst>
              <a:gd name="adj" fmla="val 15000"/>
            </a:avLst>
          </a:prstGeom>
          <a:solidFill>
            <a:srgbClr val="0B3C49"/>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r>
              <a:rPr sz="1400" b="1" i="0">
                <a:solidFill>
                  <a:srgbClr val="FFFFFF"/>
                </a:solidFill>
                <a:latin typeface="Calibri"/>
              </a:rPr>
              <a:t>n</a:t>
            </a:r>
          </a:p>
        </p:txBody>
      </p:sp>
      <p:sp>
        <p:nvSpPr>
          <p:cNvPr id="12" name="TextBox 11"/>
          <p:cNvSpPr txBox="1"/>
          <p:nvPr/>
        </p:nvSpPr>
        <p:spPr>
          <a:xfrm>
            <a:off x="10378440" y="1554480"/>
            <a:ext cx="1371600" cy="548640"/>
          </a:xfrm>
          <a:prstGeom prst="rect">
            <a:avLst/>
          </a:prstGeom>
          <a:noFill/>
        </p:spPr>
        <p:txBody>
          <a:bodyPr wrap="square" lIns="0" tIns="0" rIns="0" bIns="0" anchor="ctr">
            <a:spAutoFit/>
          </a:bodyPr>
          <a:lstStyle/>
          <a:p>
            <a:pPr algn="l"/>
            <a:r>
              <a:rPr sz="1600" b="1" i="0">
                <a:solidFill>
                  <a:srgbClr val="E76F51"/>
                </a:solidFill>
                <a:latin typeface="Calibri"/>
              </a:rPr>
              <a:t>Θ(n)</a:t>
            </a:r>
          </a:p>
        </p:txBody>
      </p:sp>
      <p:sp>
        <p:nvSpPr>
          <p:cNvPr id="13" name="Rounded Rectangle 12"/>
          <p:cNvSpPr/>
          <p:nvPr/>
        </p:nvSpPr>
        <p:spPr>
          <a:xfrm>
            <a:off x="6345936" y="2423160"/>
            <a:ext cx="1847088" cy="548640"/>
          </a:xfrm>
          <a:prstGeom prst="roundRect">
            <a:avLst>
              <a:gd name="adj" fmla="val 15000"/>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r>
              <a:rPr sz="1400" b="1" i="0">
                <a:solidFill>
                  <a:srgbClr val="FFFFFF"/>
                </a:solidFill>
                <a:latin typeface="Calibri"/>
              </a:rPr>
              <a:t>n/2</a:t>
            </a:r>
          </a:p>
        </p:txBody>
      </p:sp>
      <p:sp>
        <p:nvSpPr>
          <p:cNvPr id="14" name="Rounded Rectangle 13"/>
          <p:cNvSpPr/>
          <p:nvPr/>
        </p:nvSpPr>
        <p:spPr>
          <a:xfrm>
            <a:off x="8266175" y="2423160"/>
            <a:ext cx="1847088" cy="548640"/>
          </a:xfrm>
          <a:prstGeom prst="roundRect">
            <a:avLst>
              <a:gd name="adj" fmla="val 15000"/>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r>
              <a:rPr sz="1400" b="1" i="0">
                <a:solidFill>
                  <a:srgbClr val="FFFFFF"/>
                </a:solidFill>
                <a:latin typeface="Calibri"/>
              </a:rPr>
              <a:t>n/2</a:t>
            </a:r>
          </a:p>
        </p:txBody>
      </p:sp>
      <p:sp>
        <p:nvSpPr>
          <p:cNvPr id="15" name="TextBox 14"/>
          <p:cNvSpPr txBox="1"/>
          <p:nvPr/>
        </p:nvSpPr>
        <p:spPr>
          <a:xfrm>
            <a:off x="10378440" y="2423160"/>
            <a:ext cx="1371600" cy="548640"/>
          </a:xfrm>
          <a:prstGeom prst="rect">
            <a:avLst/>
          </a:prstGeom>
          <a:noFill/>
        </p:spPr>
        <p:txBody>
          <a:bodyPr wrap="square" lIns="0" tIns="0" rIns="0" bIns="0" anchor="ctr">
            <a:spAutoFit/>
          </a:bodyPr>
          <a:lstStyle/>
          <a:p>
            <a:pPr algn="l"/>
            <a:r>
              <a:rPr sz="1600" b="1" i="0">
                <a:solidFill>
                  <a:srgbClr val="E76F51"/>
                </a:solidFill>
                <a:latin typeface="Calibri"/>
              </a:rPr>
              <a:t>Θ(n)</a:t>
            </a:r>
          </a:p>
        </p:txBody>
      </p:sp>
      <p:sp>
        <p:nvSpPr>
          <p:cNvPr id="16" name="Rounded Rectangle 15"/>
          <p:cNvSpPr/>
          <p:nvPr/>
        </p:nvSpPr>
        <p:spPr>
          <a:xfrm>
            <a:off x="6345936" y="3291839"/>
            <a:ext cx="886968" cy="548640"/>
          </a:xfrm>
          <a:prstGeom prst="roundRect">
            <a:avLst>
              <a:gd name="adj" fmla="val 15000"/>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r>
              <a:rPr sz="1400" b="1" i="0">
                <a:solidFill>
                  <a:srgbClr val="FFFFFF"/>
                </a:solidFill>
                <a:latin typeface="Calibri"/>
              </a:rPr>
              <a:t>n/4</a:t>
            </a:r>
          </a:p>
        </p:txBody>
      </p:sp>
      <p:sp>
        <p:nvSpPr>
          <p:cNvPr id="17" name="Rounded Rectangle 16"/>
          <p:cNvSpPr/>
          <p:nvPr/>
        </p:nvSpPr>
        <p:spPr>
          <a:xfrm>
            <a:off x="7306056" y="3291839"/>
            <a:ext cx="886968" cy="548640"/>
          </a:xfrm>
          <a:prstGeom prst="roundRect">
            <a:avLst>
              <a:gd name="adj" fmla="val 15000"/>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r>
              <a:rPr sz="1400" b="1" i="0">
                <a:solidFill>
                  <a:srgbClr val="FFFFFF"/>
                </a:solidFill>
                <a:latin typeface="Calibri"/>
              </a:rPr>
              <a:t>n/4</a:t>
            </a:r>
          </a:p>
        </p:txBody>
      </p:sp>
      <p:sp>
        <p:nvSpPr>
          <p:cNvPr id="18" name="Rounded Rectangle 17"/>
          <p:cNvSpPr/>
          <p:nvPr/>
        </p:nvSpPr>
        <p:spPr>
          <a:xfrm>
            <a:off x="8266175" y="3291839"/>
            <a:ext cx="886968" cy="548640"/>
          </a:xfrm>
          <a:prstGeom prst="roundRect">
            <a:avLst>
              <a:gd name="adj" fmla="val 15000"/>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r>
              <a:rPr sz="1400" b="1" i="0">
                <a:solidFill>
                  <a:srgbClr val="FFFFFF"/>
                </a:solidFill>
                <a:latin typeface="Calibri"/>
              </a:rPr>
              <a:t>n/4</a:t>
            </a:r>
          </a:p>
        </p:txBody>
      </p:sp>
      <p:sp>
        <p:nvSpPr>
          <p:cNvPr id="19" name="Rounded Rectangle 18"/>
          <p:cNvSpPr/>
          <p:nvPr/>
        </p:nvSpPr>
        <p:spPr>
          <a:xfrm>
            <a:off x="9226296" y="3291839"/>
            <a:ext cx="886968" cy="548640"/>
          </a:xfrm>
          <a:prstGeom prst="roundRect">
            <a:avLst>
              <a:gd name="adj" fmla="val 15000"/>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r>
              <a:rPr sz="1400" b="1" i="0">
                <a:solidFill>
                  <a:srgbClr val="FFFFFF"/>
                </a:solidFill>
                <a:latin typeface="Calibri"/>
              </a:rPr>
              <a:t>n/4</a:t>
            </a:r>
          </a:p>
        </p:txBody>
      </p:sp>
      <p:sp>
        <p:nvSpPr>
          <p:cNvPr id="20" name="TextBox 19"/>
          <p:cNvSpPr txBox="1"/>
          <p:nvPr/>
        </p:nvSpPr>
        <p:spPr>
          <a:xfrm>
            <a:off x="10378440" y="3291839"/>
            <a:ext cx="1371600" cy="548640"/>
          </a:xfrm>
          <a:prstGeom prst="rect">
            <a:avLst/>
          </a:prstGeom>
          <a:noFill/>
        </p:spPr>
        <p:txBody>
          <a:bodyPr wrap="square" lIns="0" tIns="0" rIns="0" bIns="0" anchor="ctr">
            <a:spAutoFit/>
          </a:bodyPr>
          <a:lstStyle/>
          <a:p>
            <a:pPr algn="l"/>
            <a:r>
              <a:rPr sz="1600" b="1" i="0">
                <a:solidFill>
                  <a:srgbClr val="E76F51"/>
                </a:solidFill>
                <a:latin typeface="Calibri"/>
              </a:rPr>
              <a:t>Θ(n)</a:t>
            </a:r>
          </a:p>
        </p:txBody>
      </p:sp>
      <p:sp>
        <p:nvSpPr>
          <p:cNvPr id="21" name="Rounded Rectangle 20"/>
          <p:cNvSpPr/>
          <p:nvPr/>
        </p:nvSpPr>
        <p:spPr>
          <a:xfrm>
            <a:off x="6345936" y="4160520"/>
            <a:ext cx="406908" cy="548640"/>
          </a:xfrm>
          <a:prstGeom prst="roundRect">
            <a:avLst>
              <a:gd name="adj" fmla="val 15000"/>
            </a:avLst>
          </a:prstGeom>
          <a:solidFill>
            <a:srgbClr val="EA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6825996" y="4160520"/>
            <a:ext cx="406908" cy="548640"/>
          </a:xfrm>
          <a:prstGeom prst="roundRect">
            <a:avLst>
              <a:gd name="adj" fmla="val 15000"/>
            </a:avLst>
          </a:prstGeom>
          <a:solidFill>
            <a:srgbClr val="EA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7306056" y="4160520"/>
            <a:ext cx="406908" cy="548640"/>
          </a:xfrm>
          <a:prstGeom prst="roundRect">
            <a:avLst>
              <a:gd name="adj" fmla="val 15000"/>
            </a:avLst>
          </a:prstGeom>
          <a:solidFill>
            <a:srgbClr val="EA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7786116" y="4160520"/>
            <a:ext cx="406908" cy="548640"/>
          </a:xfrm>
          <a:prstGeom prst="roundRect">
            <a:avLst>
              <a:gd name="adj" fmla="val 15000"/>
            </a:avLst>
          </a:prstGeom>
          <a:solidFill>
            <a:srgbClr val="EA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ounded Rectangle 24"/>
          <p:cNvSpPr/>
          <p:nvPr/>
        </p:nvSpPr>
        <p:spPr>
          <a:xfrm>
            <a:off x="8266175" y="4160520"/>
            <a:ext cx="406908" cy="548640"/>
          </a:xfrm>
          <a:prstGeom prst="roundRect">
            <a:avLst>
              <a:gd name="adj" fmla="val 15000"/>
            </a:avLst>
          </a:prstGeom>
          <a:solidFill>
            <a:srgbClr val="EA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ounded Rectangle 25"/>
          <p:cNvSpPr/>
          <p:nvPr/>
        </p:nvSpPr>
        <p:spPr>
          <a:xfrm>
            <a:off x="8746236" y="4160520"/>
            <a:ext cx="406908" cy="548640"/>
          </a:xfrm>
          <a:prstGeom prst="roundRect">
            <a:avLst>
              <a:gd name="adj" fmla="val 15000"/>
            </a:avLst>
          </a:prstGeom>
          <a:solidFill>
            <a:srgbClr val="EA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ounded Rectangle 26"/>
          <p:cNvSpPr/>
          <p:nvPr/>
        </p:nvSpPr>
        <p:spPr>
          <a:xfrm>
            <a:off x="9226296" y="4160520"/>
            <a:ext cx="406908" cy="548640"/>
          </a:xfrm>
          <a:prstGeom prst="roundRect">
            <a:avLst>
              <a:gd name="adj" fmla="val 15000"/>
            </a:avLst>
          </a:prstGeom>
          <a:solidFill>
            <a:srgbClr val="EA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ounded Rectangle 27"/>
          <p:cNvSpPr/>
          <p:nvPr/>
        </p:nvSpPr>
        <p:spPr>
          <a:xfrm>
            <a:off x="9706356" y="4160520"/>
            <a:ext cx="406908" cy="548640"/>
          </a:xfrm>
          <a:prstGeom prst="roundRect">
            <a:avLst>
              <a:gd name="adj" fmla="val 15000"/>
            </a:avLst>
          </a:prstGeom>
          <a:solidFill>
            <a:srgbClr val="EA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10378440" y="4160520"/>
            <a:ext cx="1371600" cy="548640"/>
          </a:xfrm>
          <a:prstGeom prst="rect">
            <a:avLst/>
          </a:prstGeom>
          <a:noFill/>
        </p:spPr>
        <p:txBody>
          <a:bodyPr wrap="square" lIns="0" tIns="0" rIns="0" bIns="0" anchor="ctr">
            <a:spAutoFit/>
          </a:bodyPr>
          <a:lstStyle/>
          <a:p>
            <a:pPr algn="l"/>
            <a:endParaRPr/>
          </a:p>
        </p:txBody>
      </p:sp>
      <p:sp>
        <p:nvSpPr>
          <p:cNvPr id="30" name="TextBox 29"/>
          <p:cNvSpPr txBox="1"/>
          <p:nvPr/>
        </p:nvSpPr>
        <p:spPr>
          <a:xfrm>
            <a:off x="6309360" y="5029200"/>
            <a:ext cx="3840480" cy="411480"/>
          </a:xfrm>
          <a:prstGeom prst="rect">
            <a:avLst/>
          </a:prstGeom>
          <a:noFill/>
        </p:spPr>
        <p:txBody>
          <a:bodyPr wrap="square" lIns="0" tIns="0" rIns="0" bIns="0" anchor="t">
            <a:spAutoFit/>
          </a:bodyPr>
          <a:lstStyle/>
          <a:p>
            <a:pPr algn="ctr"/>
            <a:r>
              <a:rPr sz="1500" b="0" i="0">
                <a:solidFill>
                  <a:srgbClr val="5B6B73"/>
                </a:solidFill>
                <a:latin typeface="Calibri"/>
              </a:rPr>
              <a:t>log₂ n levels × Θ(n) per level</a:t>
            </a:r>
          </a:p>
        </p:txBody>
      </p:sp>
      <p:sp>
        <p:nvSpPr>
          <p:cNvPr id="31" name="Rounded Rectangle 30"/>
          <p:cNvSpPr/>
          <p:nvPr/>
        </p:nvSpPr>
        <p:spPr>
          <a:xfrm>
            <a:off x="6309360" y="5486400"/>
            <a:ext cx="5303520" cy="731520"/>
          </a:xfrm>
          <a:prstGeom prst="roundRect">
            <a:avLst>
              <a:gd name="adj" fmla="val 8000"/>
            </a:avLst>
          </a:prstGeom>
          <a:solidFill>
            <a:srgbClr val="FBEDE8"/>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r>
              <a:rPr sz="1800" b="0" i="0">
                <a:solidFill>
                  <a:srgbClr val="1D2B33"/>
                </a:solidFill>
                <a:latin typeface="Cambria"/>
              </a:rPr>
              <a:t>T(n) = 2T(n/2) + Θ(n)  →  </a:t>
            </a:r>
            <a:r>
              <a:rPr sz="1800" b="1" i="0">
                <a:solidFill>
                  <a:srgbClr val="E76F51"/>
                </a:solidFill>
                <a:latin typeface="Cambria"/>
              </a:rPr>
              <a:t>Θ(n log n)</a:t>
            </a:r>
          </a:p>
        </p:txBody>
      </p:sp>
      <p:sp>
        <p:nvSpPr>
          <p:cNvPr id="32" name="TextBox 31"/>
          <p:cNvSpPr txBox="1"/>
          <p:nvPr/>
        </p:nvSpPr>
        <p:spPr>
          <a:xfrm>
            <a:off x="10881360" y="6400800"/>
            <a:ext cx="822960" cy="274320"/>
          </a:xfrm>
          <a:prstGeom prst="rect">
            <a:avLst/>
          </a:prstGeom>
          <a:noFill/>
        </p:spPr>
        <p:txBody>
          <a:bodyPr wrap="square" lIns="0" tIns="0" rIns="0" bIns="0" anchor="t">
            <a:spAutoFit/>
          </a:bodyPr>
          <a:lstStyle/>
          <a:p>
            <a:pPr algn="r"/>
            <a:r>
              <a:rPr sz="1100" b="0" i="0">
                <a:solidFill>
                  <a:srgbClr val="5B6B73"/>
                </a:solidFill>
                <a:latin typeface="Calibri"/>
              </a:rPr>
              <a:t>8</a:t>
            </a:r>
          </a:p>
        </p:txBody>
      </p:sp>
      <p:sp>
        <p:nvSpPr>
          <p:cNvPr id="33" name="TextBox 32"/>
          <p:cNvSpPr txBox="1"/>
          <p:nvPr/>
        </p:nvSpPr>
        <p:spPr>
          <a:xfrm>
            <a:off x="548640" y="6400800"/>
            <a:ext cx="7315200" cy="274320"/>
          </a:xfrm>
          <a:prstGeom prst="rect">
            <a:avLst/>
          </a:prstGeom>
          <a:noFill/>
        </p:spPr>
        <p:txBody>
          <a:bodyPr wrap="square" lIns="0" tIns="0" rIns="0" bIns="0" anchor="t">
            <a:spAutoFit/>
          </a:bodyPr>
          <a:lstStyle/>
          <a:p>
            <a:pPr algn="l"/>
            <a:r>
              <a:rPr sz="1100" b="0" i="0">
                <a:solidFill>
                  <a:srgbClr val="5B6B73"/>
                </a:solidFill>
                <a:latin typeface="Calibri"/>
              </a:rPr>
              <a:t>CyED II · Integrative Assignment 1 · Divide and conquer in Scala</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B3C49"/>
        </a:solidFill>
        <a:effectLst/>
      </p:bgPr>
    </p:bg>
    <p:spTree>
      <p:nvGrpSpPr>
        <p:cNvPr id="1" name=""/>
        <p:cNvGrpSpPr/>
        <p:nvPr/>
      </p:nvGrpSpPr>
      <p:grpSpPr>
        <a:xfrm>
          <a:off x="0" y="0"/>
          <a:ext cx="0" cy="0"/>
          <a:chOff x="0" y="0"/>
          <a:chExt cx="0" cy="0"/>
        </a:xfrm>
      </p:grpSpPr>
      <p:sp>
        <p:nvSpPr>
          <p:cNvPr id="2" name="TextBox 1"/>
          <p:cNvSpPr txBox="1"/>
          <p:nvPr/>
        </p:nvSpPr>
        <p:spPr>
          <a:xfrm>
            <a:off x="822960" y="1737360"/>
            <a:ext cx="3657600" cy="1463040"/>
          </a:xfrm>
          <a:prstGeom prst="rect">
            <a:avLst/>
          </a:prstGeom>
          <a:noFill/>
        </p:spPr>
        <p:txBody>
          <a:bodyPr wrap="square" lIns="0" tIns="0" rIns="0" bIns="0" anchor="t">
            <a:spAutoFit/>
          </a:bodyPr>
          <a:lstStyle/>
          <a:p>
            <a:pPr algn="l"/>
            <a:r>
              <a:rPr sz="11000" b="1" i="0">
                <a:solidFill>
                  <a:srgbClr val="E9C46A"/>
                </a:solidFill>
                <a:latin typeface="Cambria"/>
              </a:rPr>
              <a:t>02</a:t>
            </a:r>
          </a:p>
        </p:txBody>
      </p:sp>
      <p:sp>
        <p:nvSpPr>
          <p:cNvPr id="3" name="TextBox 2"/>
          <p:cNvSpPr txBox="1"/>
          <p:nvPr/>
        </p:nvSpPr>
        <p:spPr>
          <a:xfrm>
            <a:off x="822960" y="3337560"/>
            <a:ext cx="10058400" cy="914400"/>
          </a:xfrm>
          <a:prstGeom prst="rect">
            <a:avLst/>
          </a:prstGeom>
          <a:noFill/>
        </p:spPr>
        <p:txBody>
          <a:bodyPr wrap="square" lIns="0" tIns="0" rIns="0" bIns="0" anchor="t">
            <a:spAutoFit/>
          </a:bodyPr>
          <a:lstStyle/>
          <a:p>
            <a:pPr algn="l"/>
            <a:r>
              <a:rPr sz="4400" b="1" i="0">
                <a:solidFill>
                  <a:srgbClr val="FFFFFF"/>
                </a:solidFill>
                <a:latin typeface="Cambria"/>
              </a:rPr>
              <a:t>3-way randomized Quick Sort</a:t>
            </a:r>
          </a:p>
        </p:txBody>
      </p:sp>
      <p:sp>
        <p:nvSpPr>
          <p:cNvPr id="4" name="TextBox 3"/>
          <p:cNvSpPr txBox="1"/>
          <p:nvPr/>
        </p:nvSpPr>
        <p:spPr>
          <a:xfrm>
            <a:off x="822960" y="4251960"/>
            <a:ext cx="10058400" cy="548640"/>
          </a:xfrm>
          <a:prstGeom prst="rect">
            <a:avLst/>
          </a:prstGeom>
          <a:noFill/>
        </p:spPr>
        <p:txBody>
          <a:bodyPr wrap="square" lIns="0" tIns="0" rIns="0" bIns="0" anchor="t">
            <a:spAutoFit/>
          </a:bodyPr>
          <a:lstStyle/>
          <a:p>
            <a:pPr algn="l"/>
            <a:r>
              <a:rPr sz="2000" b="0" i="1">
                <a:solidFill>
                  <a:srgbClr val="BFD6DB"/>
                </a:solidFill>
                <a:latin typeface="Calibri"/>
              </a:rPr>
              <a:t>Values equal to the pivot are already in place</a:t>
            </a:r>
          </a:p>
        </p:txBody>
      </p:sp>
      <p:sp>
        <p:nvSpPr>
          <p:cNvPr id="5" name="TextBox 4"/>
          <p:cNvSpPr txBox="1"/>
          <p:nvPr/>
        </p:nvSpPr>
        <p:spPr>
          <a:xfrm>
            <a:off x="10881360" y="6400800"/>
            <a:ext cx="822960" cy="274320"/>
          </a:xfrm>
          <a:prstGeom prst="rect">
            <a:avLst/>
          </a:prstGeom>
          <a:noFill/>
        </p:spPr>
        <p:txBody>
          <a:bodyPr wrap="square" lIns="0" tIns="0" rIns="0" bIns="0" anchor="t">
            <a:spAutoFit/>
          </a:bodyPr>
          <a:lstStyle/>
          <a:p>
            <a:pPr algn="r"/>
            <a:r>
              <a:rPr sz="1100" b="0" i="0">
                <a:solidFill>
                  <a:srgbClr val="9FB8BF"/>
                </a:solidFill>
                <a:latin typeface="Calibri"/>
              </a:rPr>
              <a:t>9</a:t>
            </a:r>
          </a:p>
        </p:txBody>
      </p:sp>
      <p:sp>
        <p:nvSpPr>
          <p:cNvPr id="6" name="TextBox 5"/>
          <p:cNvSpPr txBox="1"/>
          <p:nvPr/>
        </p:nvSpPr>
        <p:spPr>
          <a:xfrm>
            <a:off x="548640" y="6400800"/>
            <a:ext cx="7315200" cy="274320"/>
          </a:xfrm>
          <a:prstGeom prst="rect">
            <a:avLst/>
          </a:prstGeom>
          <a:noFill/>
        </p:spPr>
        <p:txBody>
          <a:bodyPr wrap="square" lIns="0" tIns="0" rIns="0" bIns="0" anchor="t">
            <a:spAutoFit/>
          </a:bodyPr>
          <a:lstStyle/>
          <a:p>
            <a:pPr algn="l"/>
            <a:r>
              <a:rPr sz="1100" b="0" i="0">
                <a:solidFill>
                  <a:srgbClr val="9FB8BF"/>
                </a:solidFill>
                <a:latin typeface="Calibri"/>
              </a:rPr>
              <a:t>CyED II · Integrative Assignment 1 · Divide and conquer in Scala</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47472"/>
            <a:ext cx="11064240" cy="731520"/>
          </a:xfrm>
          <a:prstGeom prst="rect">
            <a:avLst/>
          </a:prstGeom>
          <a:noFill/>
        </p:spPr>
        <p:txBody>
          <a:bodyPr wrap="square" lIns="0" tIns="0" rIns="0" bIns="0" anchor="b">
            <a:spAutoFit/>
          </a:bodyPr>
          <a:lstStyle/>
          <a:p>
            <a:pPr algn="l"/>
            <a:r>
              <a:rPr sz="3400" b="1" i="0">
                <a:solidFill>
                  <a:srgbClr val="1D2B33"/>
                </a:solidFill>
                <a:latin typeface="Cambria"/>
              </a:rPr>
              <a:t>Partition into less, equal and greater</a:t>
            </a:r>
          </a:p>
        </p:txBody>
      </p:sp>
      <p:sp>
        <p:nvSpPr>
          <p:cNvPr id="3" name="Rounded Rectangle 2"/>
          <p:cNvSpPr/>
          <p:nvPr/>
        </p:nvSpPr>
        <p:spPr>
          <a:xfrm>
            <a:off x="548640" y="1600200"/>
            <a:ext cx="603504" cy="603504"/>
          </a:xfrm>
          <a:prstGeom prst="roundRect">
            <a:avLst>
              <a:gd name="adj" fmla="val 15000"/>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r>
              <a:rPr sz="2000" b="1" i="0">
                <a:solidFill>
                  <a:srgbClr val="FFFFFF"/>
                </a:solidFill>
                <a:latin typeface="Cambria"/>
              </a:rPr>
              <a:t>4</a:t>
            </a:r>
          </a:p>
        </p:txBody>
      </p:sp>
      <p:sp>
        <p:nvSpPr>
          <p:cNvPr id="4" name="Rounded Rectangle 3"/>
          <p:cNvSpPr/>
          <p:nvPr/>
        </p:nvSpPr>
        <p:spPr>
          <a:xfrm>
            <a:off x="1261872" y="1600200"/>
            <a:ext cx="603504" cy="603504"/>
          </a:xfrm>
          <a:prstGeom prst="roundRect">
            <a:avLst>
              <a:gd name="adj" fmla="val 15000"/>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r>
              <a:rPr sz="2000" b="1" i="0">
                <a:solidFill>
                  <a:srgbClr val="FFFFFF"/>
                </a:solidFill>
                <a:latin typeface="Cambria"/>
              </a:rPr>
              <a:t>4</a:t>
            </a:r>
          </a:p>
        </p:txBody>
      </p:sp>
      <p:sp>
        <p:nvSpPr>
          <p:cNvPr id="5" name="Rounded Rectangle 4"/>
          <p:cNvSpPr/>
          <p:nvPr/>
        </p:nvSpPr>
        <p:spPr>
          <a:xfrm>
            <a:off x="1975104" y="1600200"/>
            <a:ext cx="603504" cy="603504"/>
          </a:xfrm>
          <a:prstGeom prst="roundRect">
            <a:avLst>
              <a:gd name="adj" fmla="val 15000"/>
            </a:avLst>
          </a:prstGeom>
          <a:solidFill>
            <a:srgbClr val="EAF3F1"/>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r>
              <a:rPr sz="2000" b="1" i="0">
                <a:solidFill>
                  <a:srgbClr val="1D2B33"/>
                </a:solidFill>
                <a:latin typeface="Cambria"/>
              </a:rPr>
              <a:t>1</a:t>
            </a:r>
          </a:p>
        </p:txBody>
      </p:sp>
      <p:sp>
        <p:nvSpPr>
          <p:cNvPr id="6" name="Rounded Rectangle 5"/>
          <p:cNvSpPr/>
          <p:nvPr/>
        </p:nvSpPr>
        <p:spPr>
          <a:xfrm>
            <a:off x="2688336" y="1600200"/>
            <a:ext cx="603504" cy="603504"/>
          </a:xfrm>
          <a:prstGeom prst="roundRect">
            <a:avLst>
              <a:gd name="adj" fmla="val 15000"/>
            </a:avLst>
          </a:prstGeom>
          <a:solidFill>
            <a:srgbClr val="EAF3F1"/>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r>
              <a:rPr sz="2000" b="1" i="0">
                <a:solidFill>
                  <a:srgbClr val="1D2B33"/>
                </a:solidFill>
                <a:latin typeface="Cambria"/>
              </a:rPr>
              <a:t>9</a:t>
            </a:r>
          </a:p>
        </p:txBody>
      </p:sp>
      <p:sp>
        <p:nvSpPr>
          <p:cNvPr id="7" name="Rounded Rectangle 6"/>
          <p:cNvSpPr/>
          <p:nvPr/>
        </p:nvSpPr>
        <p:spPr>
          <a:xfrm>
            <a:off x="3401568" y="1600200"/>
            <a:ext cx="603504" cy="603504"/>
          </a:xfrm>
          <a:prstGeom prst="roundRect">
            <a:avLst>
              <a:gd name="adj" fmla="val 15000"/>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r>
              <a:rPr sz="2000" b="1" i="0">
                <a:solidFill>
                  <a:srgbClr val="FFFFFF"/>
                </a:solidFill>
                <a:latin typeface="Cambria"/>
              </a:rPr>
              <a:t>4</a:t>
            </a:r>
          </a:p>
        </p:txBody>
      </p:sp>
      <p:sp>
        <p:nvSpPr>
          <p:cNvPr id="8" name="Rounded Rectangle 7"/>
          <p:cNvSpPr/>
          <p:nvPr/>
        </p:nvSpPr>
        <p:spPr>
          <a:xfrm>
            <a:off x="4114800" y="1600200"/>
            <a:ext cx="603504" cy="603504"/>
          </a:xfrm>
          <a:prstGeom prst="roundRect">
            <a:avLst>
              <a:gd name="adj" fmla="val 15000"/>
            </a:avLst>
          </a:prstGeom>
          <a:solidFill>
            <a:srgbClr val="EAF3F1"/>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r>
              <a:rPr sz="2000" b="1" i="0">
                <a:solidFill>
                  <a:srgbClr val="1D2B33"/>
                </a:solidFill>
                <a:latin typeface="Cambria"/>
              </a:rPr>
              <a:t>1</a:t>
            </a:r>
          </a:p>
        </p:txBody>
      </p:sp>
      <p:sp>
        <p:nvSpPr>
          <p:cNvPr id="9" name="Rounded Rectangle 8"/>
          <p:cNvSpPr/>
          <p:nvPr/>
        </p:nvSpPr>
        <p:spPr>
          <a:xfrm>
            <a:off x="4828031" y="1600200"/>
            <a:ext cx="603504" cy="603504"/>
          </a:xfrm>
          <a:prstGeom prst="roundRect">
            <a:avLst>
              <a:gd name="adj" fmla="val 15000"/>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r>
              <a:rPr sz="2000" b="1" i="0">
                <a:solidFill>
                  <a:srgbClr val="FFFFFF"/>
                </a:solidFill>
                <a:latin typeface="Cambria"/>
              </a:rPr>
              <a:t>4</a:t>
            </a:r>
          </a:p>
        </p:txBody>
      </p:sp>
      <p:sp>
        <p:nvSpPr>
          <p:cNvPr id="10" name="Rounded Rectangle 9"/>
          <p:cNvSpPr/>
          <p:nvPr/>
        </p:nvSpPr>
        <p:spPr>
          <a:xfrm>
            <a:off x="5541264" y="1600200"/>
            <a:ext cx="603504" cy="603504"/>
          </a:xfrm>
          <a:prstGeom prst="roundRect">
            <a:avLst>
              <a:gd name="adj" fmla="val 15000"/>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r>
              <a:rPr sz="2000" b="1" i="0">
                <a:solidFill>
                  <a:srgbClr val="FFFFFF"/>
                </a:solidFill>
                <a:latin typeface="Cambria"/>
              </a:rPr>
              <a:t>4</a:t>
            </a:r>
          </a:p>
        </p:txBody>
      </p:sp>
      <p:sp>
        <p:nvSpPr>
          <p:cNvPr id="11" name="TextBox 10"/>
          <p:cNvSpPr txBox="1"/>
          <p:nvPr/>
        </p:nvSpPr>
        <p:spPr>
          <a:xfrm>
            <a:off x="548640" y="2286000"/>
            <a:ext cx="5669280" cy="365760"/>
          </a:xfrm>
          <a:prstGeom prst="rect">
            <a:avLst/>
          </a:prstGeom>
          <a:noFill/>
        </p:spPr>
        <p:txBody>
          <a:bodyPr wrap="square" lIns="0" tIns="0" rIns="0" bIns="0" anchor="t">
            <a:spAutoFit/>
          </a:bodyPr>
          <a:lstStyle/>
          <a:p>
            <a:pPr algn="l"/>
            <a:r>
              <a:rPr sz="1400" b="0" i="0">
                <a:solidFill>
                  <a:srgbClr val="5B6B73"/>
                </a:solidFill>
                <a:latin typeface="Calibri"/>
              </a:rPr>
              <a:t>Input (QS-01) with pivot p = 4</a:t>
            </a:r>
          </a:p>
        </p:txBody>
      </p:sp>
      <p:sp>
        <p:nvSpPr>
          <p:cNvPr id="12" name="TextBox 11"/>
          <p:cNvSpPr txBox="1"/>
          <p:nvPr/>
        </p:nvSpPr>
        <p:spPr>
          <a:xfrm>
            <a:off x="548640" y="2926080"/>
            <a:ext cx="3200400" cy="365760"/>
          </a:xfrm>
          <a:prstGeom prst="rect">
            <a:avLst/>
          </a:prstGeom>
          <a:noFill/>
        </p:spPr>
        <p:txBody>
          <a:bodyPr wrap="square" lIns="0" tIns="0" rIns="0" bIns="0" anchor="t">
            <a:spAutoFit/>
          </a:bodyPr>
          <a:lstStyle/>
          <a:p>
            <a:pPr algn="l"/>
            <a:r>
              <a:rPr sz="1500" b="1" i="0">
                <a:solidFill>
                  <a:srgbClr val="1D2B33"/>
                </a:solidFill>
                <a:latin typeface="Calibri"/>
              </a:rPr>
              <a:t>L  (&lt; p)</a:t>
            </a:r>
          </a:p>
        </p:txBody>
      </p:sp>
      <p:sp>
        <p:nvSpPr>
          <p:cNvPr id="13" name="Rounded Rectangle 12"/>
          <p:cNvSpPr/>
          <p:nvPr/>
        </p:nvSpPr>
        <p:spPr>
          <a:xfrm>
            <a:off x="548640" y="3337560"/>
            <a:ext cx="566928" cy="566928"/>
          </a:xfrm>
          <a:prstGeom prst="roundRect">
            <a:avLst>
              <a:gd name="adj" fmla="val 15000"/>
            </a:avLst>
          </a:prstGeom>
          <a:solidFill>
            <a:srgbClr val="EAF3F1"/>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r>
              <a:rPr sz="1800" b="1" i="0">
                <a:solidFill>
                  <a:srgbClr val="1D2B33"/>
                </a:solidFill>
                <a:latin typeface="Cambria"/>
              </a:rPr>
              <a:t>1</a:t>
            </a:r>
          </a:p>
        </p:txBody>
      </p:sp>
      <p:sp>
        <p:nvSpPr>
          <p:cNvPr id="14" name="Rounded Rectangle 13"/>
          <p:cNvSpPr/>
          <p:nvPr/>
        </p:nvSpPr>
        <p:spPr>
          <a:xfrm>
            <a:off x="1234440" y="3337560"/>
            <a:ext cx="566928" cy="566928"/>
          </a:xfrm>
          <a:prstGeom prst="roundRect">
            <a:avLst>
              <a:gd name="adj" fmla="val 15000"/>
            </a:avLst>
          </a:prstGeom>
          <a:solidFill>
            <a:srgbClr val="EAF3F1"/>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r>
              <a:rPr sz="1800" b="1" i="0">
                <a:solidFill>
                  <a:srgbClr val="1D2B33"/>
                </a:solidFill>
                <a:latin typeface="Cambria"/>
              </a:rPr>
              <a:t>1</a:t>
            </a:r>
          </a:p>
        </p:txBody>
      </p:sp>
      <p:sp>
        <p:nvSpPr>
          <p:cNvPr id="15" name="TextBox 14"/>
          <p:cNvSpPr txBox="1"/>
          <p:nvPr/>
        </p:nvSpPr>
        <p:spPr>
          <a:xfrm>
            <a:off x="2148840" y="2926080"/>
            <a:ext cx="3200400" cy="365760"/>
          </a:xfrm>
          <a:prstGeom prst="rect">
            <a:avLst/>
          </a:prstGeom>
          <a:noFill/>
        </p:spPr>
        <p:txBody>
          <a:bodyPr wrap="square" lIns="0" tIns="0" rIns="0" bIns="0" anchor="t">
            <a:spAutoFit/>
          </a:bodyPr>
          <a:lstStyle/>
          <a:p>
            <a:pPr algn="l"/>
            <a:r>
              <a:rPr sz="1500" b="1" i="0">
                <a:solidFill>
                  <a:srgbClr val="1D2B33"/>
                </a:solidFill>
                <a:latin typeface="Calibri"/>
              </a:rPr>
              <a:t>E  (= p)</a:t>
            </a:r>
          </a:p>
        </p:txBody>
      </p:sp>
      <p:sp>
        <p:nvSpPr>
          <p:cNvPr id="16" name="Rounded Rectangle 15"/>
          <p:cNvSpPr/>
          <p:nvPr/>
        </p:nvSpPr>
        <p:spPr>
          <a:xfrm>
            <a:off x="2148840" y="3337560"/>
            <a:ext cx="566928" cy="566928"/>
          </a:xfrm>
          <a:prstGeom prst="roundRect">
            <a:avLst>
              <a:gd name="adj" fmla="val 15000"/>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r>
              <a:rPr sz="1800" b="1" i="0">
                <a:solidFill>
                  <a:srgbClr val="FFFFFF"/>
                </a:solidFill>
                <a:latin typeface="Cambria"/>
              </a:rPr>
              <a:t>4</a:t>
            </a:r>
          </a:p>
        </p:txBody>
      </p:sp>
      <p:sp>
        <p:nvSpPr>
          <p:cNvPr id="17" name="Rounded Rectangle 16"/>
          <p:cNvSpPr/>
          <p:nvPr/>
        </p:nvSpPr>
        <p:spPr>
          <a:xfrm>
            <a:off x="2834640" y="3337560"/>
            <a:ext cx="566928" cy="566928"/>
          </a:xfrm>
          <a:prstGeom prst="roundRect">
            <a:avLst>
              <a:gd name="adj" fmla="val 15000"/>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r>
              <a:rPr sz="1800" b="1" i="0">
                <a:solidFill>
                  <a:srgbClr val="FFFFFF"/>
                </a:solidFill>
                <a:latin typeface="Cambria"/>
              </a:rPr>
              <a:t>4</a:t>
            </a:r>
          </a:p>
        </p:txBody>
      </p:sp>
      <p:sp>
        <p:nvSpPr>
          <p:cNvPr id="18" name="Rounded Rectangle 17"/>
          <p:cNvSpPr/>
          <p:nvPr/>
        </p:nvSpPr>
        <p:spPr>
          <a:xfrm>
            <a:off x="3520440" y="3337560"/>
            <a:ext cx="566928" cy="566928"/>
          </a:xfrm>
          <a:prstGeom prst="roundRect">
            <a:avLst>
              <a:gd name="adj" fmla="val 15000"/>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r>
              <a:rPr sz="1800" b="1" i="0">
                <a:solidFill>
                  <a:srgbClr val="FFFFFF"/>
                </a:solidFill>
                <a:latin typeface="Cambria"/>
              </a:rPr>
              <a:t>4</a:t>
            </a:r>
          </a:p>
        </p:txBody>
      </p:sp>
      <p:sp>
        <p:nvSpPr>
          <p:cNvPr id="19" name="Rounded Rectangle 18"/>
          <p:cNvSpPr/>
          <p:nvPr/>
        </p:nvSpPr>
        <p:spPr>
          <a:xfrm>
            <a:off x="4206240" y="3337560"/>
            <a:ext cx="566928" cy="566928"/>
          </a:xfrm>
          <a:prstGeom prst="roundRect">
            <a:avLst>
              <a:gd name="adj" fmla="val 15000"/>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r>
              <a:rPr sz="1800" b="1" i="0">
                <a:solidFill>
                  <a:srgbClr val="FFFFFF"/>
                </a:solidFill>
                <a:latin typeface="Cambria"/>
              </a:rPr>
              <a:t>4</a:t>
            </a:r>
          </a:p>
        </p:txBody>
      </p:sp>
      <p:sp>
        <p:nvSpPr>
          <p:cNvPr id="20" name="Rounded Rectangle 19"/>
          <p:cNvSpPr/>
          <p:nvPr/>
        </p:nvSpPr>
        <p:spPr>
          <a:xfrm>
            <a:off x="4892040" y="3337560"/>
            <a:ext cx="566928" cy="566928"/>
          </a:xfrm>
          <a:prstGeom prst="roundRect">
            <a:avLst>
              <a:gd name="adj" fmla="val 15000"/>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r>
              <a:rPr sz="1800" b="1" i="0">
                <a:solidFill>
                  <a:srgbClr val="FFFFFF"/>
                </a:solidFill>
                <a:latin typeface="Cambria"/>
              </a:rPr>
              <a:t>4</a:t>
            </a:r>
          </a:p>
        </p:txBody>
      </p:sp>
      <p:sp>
        <p:nvSpPr>
          <p:cNvPr id="21" name="TextBox 20"/>
          <p:cNvSpPr txBox="1"/>
          <p:nvPr/>
        </p:nvSpPr>
        <p:spPr>
          <a:xfrm>
            <a:off x="5715000" y="2926080"/>
            <a:ext cx="3200400" cy="365760"/>
          </a:xfrm>
          <a:prstGeom prst="rect">
            <a:avLst/>
          </a:prstGeom>
          <a:noFill/>
        </p:spPr>
        <p:txBody>
          <a:bodyPr wrap="square" lIns="0" tIns="0" rIns="0" bIns="0" anchor="t">
            <a:spAutoFit/>
          </a:bodyPr>
          <a:lstStyle/>
          <a:p>
            <a:pPr algn="l"/>
            <a:r>
              <a:rPr sz="1500" b="1" i="0">
                <a:solidFill>
                  <a:srgbClr val="1D2B33"/>
                </a:solidFill>
                <a:latin typeface="Calibri"/>
              </a:rPr>
              <a:t>G  (&gt; p)</a:t>
            </a:r>
          </a:p>
        </p:txBody>
      </p:sp>
      <p:sp>
        <p:nvSpPr>
          <p:cNvPr id="22" name="Rounded Rectangle 21"/>
          <p:cNvSpPr/>
          <p:nvPr/>
        </p:nvSpPr>
        <p:spPr>
          <a:xfrm>
            <a:off x="5715000" y="3337560"/>
            <a:ext cx="566928" cy="566928"/>
          </a:xfrm>
          <a:prstGeom prst="roundRect">
            <a:avLst>
              <a:gd name="adj" fmla="val 15000"/>
            </a:avLst>
          </a:prstGeom>
          <a:solidFill>
            <a:srgbClr val="EAF3F1"/>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r>
              <a:rPr sz="1800" b="1" i="0">
                <a:solidFill>
                  <a:srgbClr val="1D2B33"/>
                </a:solidFill>
                <a:latin typeface="Cambria"/>
              </a:rPr>
              <a:t>9</a:t>
            </a:r>
          </a:p>
        </p:txBody>
      </p:sp>
      <p:cxnSp>
        <p:nvCxnSpPr>
          <p:cNvPr id="23" name="Connector 22"/>
          <p:cNvCxnSpPr/>
          <p:nvPr/>
        </p:nvCxnSpPr>
        <p:spPr>
          <a:xfrm>
            <a:off x="3383280" y="2697480"/>
            <a:ext cx="0" cy="228600"/>
          </a:xfrm>
          <a:prstGeom prst="line">
            <a:avLst/>
          </a:prstGeom>
          <a:ln w="22225">
            <a:solidFill>
              <a:srgbClr val="5B6B73"/>
            </a:solidFill>
            <a:tailEnd type="triangle" w="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548640" y="4251960"/>
            <a:ext cx="5669280" cy="685800"/>
          </a:xfrm>
          <a:prstGeom prst="roundRect">
            <a:avLst>
              <a:gd name="adj" fmla="val 8000"/>
            </a:avLst>
          </a:prstGeom>
          <a:solidFill>
            <a:srgbClr val="EAF3F1"/>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r>
              <a:rPr sz="2000" b="1" i="0">
                <a:solidFill>
                  <a:srgbClr val="1D2B33"/>
                </a:solidFill>
                <a:latin typeface="Cambria"/>
              </a:rPr>
              <a:t>Q(A) = Q(L) ++ E ++ Q(G)</a:t>
            </a:r>
          </a:p>
        </p:txBody>
      </p:sp>
      <p:sp>
        <p:nvSpPr>
          <p:cNvPr id="25" name="TextBox 24"/>
          <p:cNvSpPr txBox="1"/>
          <p:nvPr/>
        </p:nvSpPr>
        <p:spPr>
          <a:xfrm>
            <a:off x="548640" y="5120640"/>
            <a:ext cx="5669280" cy="1097280"/>
          </a:xfrm>
          <a:prstGeom prst="rect">
            <a:avLst/>
          </a:prstGeom>
          <a:noFill/>
        </p:spPr>
        <p:txBody>
          <a:bodyPr wrap="square" lIns="0" tIns="0" rIns="0" bIns="0" anchor="t">
            <a:spAutoFit/>
          </a:bodyPr>
          <a:lstStyle/>
          <a:p>
            <a:pPr algn="l"/>
            <a:r>
              <a:rPr sz="1500" b="0" i="0">
                <a:solidFill>
                  <a:srgbClr val="5B6B73"/>
                </a:solidFill>
                <a:latin typeface="Calibri"/>
              </a:rPr>
              <a:t>E is never processed again: with many repeated values the work drops sharply. If all are equal, one partition is enough: Θ(n).</a:t>
            </a:r>
          </a:p>
        </p:txBody>
      </p:sp>
      <p:sp>
        <p:nvSpPr>
          <p:cNvPr id="26" name="Rounded Rectangle 25"/>
          <p:cNvSpPr/>
          <p:nvPr/>
        </p:nvSpPr>
        <p:spPr>
          <a:xfrm>
            <a:off x="6675120" y="1508760"/>
            <a:ext cx="4937760" cy="4663440"/>
          </a:xfrm>
          <a:prstGeom prst="roundRect">
            <a:avLst>
              <a:gd name="adj" fmla="val 8000"/>
            </a:avLst>
          </a:prstGeom>
          <a:solidFill>
            <a:srgbClr val="EA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949440" y="1691640"/>
            <a:ext cx="4389120" cy="457200"/>
          </a:xfrm>
          <a:prstGeom prst="rect">
            <a:avLst/>
          </a:prstGeom>
          <a:noFill/>
        </p:spPr>
        <p:txBody>
          <a:bodyPr wrap="square" lIns="0" tIns="0" rIns="0" bIns="0" anchor="t">
            <a:spAutoFit/>
          </a:bodyPr>
          <a:lstStyle/>
          <a:p>
            <a:pPr algn="l"/>
            <a:r>
              <a:rPr sz="1900" b="1" i="0">
                <a:solidFill>
                  <a:srgbClr val="1D2B33"/>
                </a:solidFill>
                <a:latin typeface="Cambria"/>
              </a:rPr>
              <a:t>Random, reproducible pivot</a:t>
            </a:r>
          </a:p>
        </p:txBody>
      </p:sp>
      <p:sp>
        <p:nvSpPr>
          <p:cNvPr id="28" name="Rounded Rectangle 27"/>
          <p:cNvSpPr/>
          <p:nvPr/>
        </p:nvSpPr>
        <p:spPr>
          <a:xfrm>
            <a:off x="6949440" y="2286000"/>
            <a:ext cx="4389120" cy="1417320"/>
          </a:xfrm>
          <a:prstGeom prst="roundRect">
            <a:avLst>
              <a:gd name="adj" fmla="val 4000"/>
            </a:avLst>
          </a:prstGeom>
          <a:solidFill>
            <a:srgbClr val="0F2730"/>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0" rIns="228600" bIns="182880" rtlCol="0" anchor="t"/>
          <a:lstStyle/>
          <a:p>
            <a:pPr algn="l"/>
            <a:r>
              <a:rPr sz="1400" b="0" i="0">
                <a:solidFill>
                  <a:srgbClr val="E8F1F2"/>
                </a:solidFill>
                <a:latin typeface="Consolas"/>
              </a:rPr>
              <a:t>s' = 1664525·s + 1013904223</a:t>
            </a:r>
          </a:p>
          <a:p>
            <a:pPr algn="l"/>
            <a:r>
              <a:rPr sz="1400" b="0" i="0">
                <a:solidFill>
                  <a:srgbClr val="E8F1F2"/>
                </a:solidFill>
                <a:latin typeface="Consolas"/>
              </a:rPr>
              <a:t>     (Long arithmetic)</a:t>
            </a:r>
          </a:p>
          <a:p>
            <a:pPr algn="l"/>
            <a:r>
              <a:rPr sz="1400" b="0" i="0">
                <a:solidFill>
                  <a:srgbClr val="E8F1F2"/>
                </a:solidFill>
                <a:latin typeface="Consolas"/>
              </a:rPr>
              <a:t>pivot = A[floorMod(s', |A|)]</a:t>
            </a:r>
          </a:p>
        </p:txBody>
      </p:sp>
      <p:sp>
        <p:nvSpPr>
          <p:cNvPr id="29" name="TextBox 28"/>
          <p:cNvSpPr txBox="1"/>
          <p:nvPr/>
        </p:nvSpPr>
        <p:spPr>
          <a:xfrm>
            <a:off x="6949440" y="3886200"/>
            <a:ext cx="4389120" cy="2194560"/>
          </a:xfrm>
          <a:prstGeom prst="rect">
            <a:avLst/>
          </a:prstGeom>
          <a:noFill/>
        </p:spPr>
        <p:txBody>
          <a:bodyPr wrap="square" lIns="0" tIns="0" rIns="0" bIns="0" anchor="t">
            <a:spAutoFit/>
          </a:bodyPr>
          <a:lstStyle/>
          <a:p>
            <a:pPr marL="256032" indent="-256032" algn="l">
              <a:spcAft>
                <a:spcPts val="600"/>
              </a:spcAft>
              <a:buClr>
                <a:srgbClr val="2A9D8F"/>
              </a:buClr>
              <a:buFont typeface="Arial"/>
              <a:buChar char="•"/>
            </a:pPr>
            <a:r>
              <a:rPr sz="1500" b="0" i="0">
                <a:solidFill>
                  <a:srgbClr val="1D2B33"/>
                </a:solidFill>
                <a:latin typeface="Calibri"/>
              </a:rPr>
              <a:t>Linear congruential generator (LCG) with explicit state.</a:t>
            </a:r>
          </a:p>
          <a:p>
            <a:pPr marL="256032" indent="-256032" algn="l">
              <a:spcAft>
                <a:spcPts val="600"/>
              </a:spcAft>
              <a:buClr>
                <a:srgbClr val="2A9D8F"/>
              </a:buClr>
              <a:buFont typeface="Arial"/>
              <a:buChar char="•"/>
            </a:pPr>
            <a:r>
              <a:rPr sz="1500" b="0" i="0">
                <a:solidFill>
                  <a:srgbClr val="1D2B33"/>
                </a:solidFill>
                <a:latin typeface="Calibri"/>
              </a:rPr>
              <a:t>The seed is a constructor parameter (20261011).</a:t>
            </a:r>
          </a:p>
          <a:p>
            <a:pPr marL="256032" indent="-256032" algn="l">
              <a:spcAft>
                <a:spcPts val="600"/>
              </a:spcAft>
              <a:buClr>
                <a:srgbClr val="2A9D8F"/>
              </a:buClr>
              <a:buFont typeface="Arial"/>
              <a:buChar char="•"/>
            </a:pPr>
            <a:r>
              <a:rPr sz="1500" b="0" i="0">
                <a:solidFill>
                  <a:srgbClr val="1D2B33"/>
                </a:solidFill>
                <a:latin typeface="Calibri"/>
              </a:rPr>
              <a:t>The state is passed from call to call: no mutable variables or global Random.</a:t>
            </a:r>
          </a:p>
        </p:txBody>
      </p:sp>
      <p:sp>
        <p:nvSpPr>
          <p:cNvPr id="30" name="TextBox 29"/>
          <p:cNvSpPr txBox="1"/>
          <p:nvPr/>
        </p:nvSpPr>
        <p:spPr>
          <a:xfrm>
            <a:off x="10881360" y="6400800"/>
            <a:ext cx="822960" cy="274320"/>
          </a:xfrm>
          <a:prstGeom prst="rect">
            <a:avLst/>
          </a:prstGeom>
          <a:noFill/>
        </p:spPr>
        <p:txBody>
          <a:bodyPr wrap="square" lIns="0" tIns="0" rIns="0" bIns="0" anchor="t">
            <a:spAutoFit/>
          </a:bodyPr>
          <a:lstStyle/>
          <a:p>
            <a:pPr algn="r"/>
            <a:r>
              <a:rPr sz="1100" b="0" i="0">
                <a:solidFill>
                  <a:srgbClr val="5B6B73"/>
                </a:solidFill>
                <a:latin typeface="Calibri"/>
              </a:rPr>
              <a:t>10</a:t>
            </a:r>
          </a:p>
        </p:txBody>
      </p:sp>
      <p:sp>
        <p:nvSpPr>
          <p:cNvPr id="31" name="TextBox 30"/>
          <p:cNvSpPr txBox="1"/>
          <p:nvPr/>
        </p:nvSpPr>
        <p:spPr>
          <a:xfrm>
            <a:off x="548640" y="6400800"/>
            <a:ext cx="7315200" cy="274320"/>
          </a:xfrm>
          <a:prstGeom prst="rect">
            <a:avLst/>
          </a:prstGeom>
          <a:noFill/>
        </p:spPr>
        <p:txBody>
          <a:bodyPr wrap="square" lIns="0" tIns="0" rIns="0" bIns="0" anchor="t">
            <a:spAutoFit/>
          </a:bodyPr>
          <a:lstStyle/>
          <a:p>
            <a:pPr algn="l"/>
            <a:r>
              <a:rPr sz="1100" b="0" i="0">
                <a:solidFill>
                  <a:srgbClr val="5B6B73"/>
                </a:solidFill>
                <a:latin typeface="Calibri"/>
              </a:rPr>
              <a:t>CyED II · Integrative Assignment 1 · Divide and conquer in Scala</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47472"/>
            <a:ext cx="11064240" cy="731520"/>
          </a:xfrm>
          <a:prstGeom prst="rect">
            <a:avLst/>
          </a:prstGeom>
          <a:noFill/>
        </p:spPr>
        <p:txBody>
          <a:bodyPr wrap="square" lIns="0" tIns="0" rIns="0" bIns="0" anchor="b">
            <a:spAutoFit/>
          </a:bodyPr>
          <a:lstStyle/>
          <a:p>
            <a:pPr algn="l"/>
            <a:r>
              <a:rPr sz="3400" b="1" i="0">
                <a:solidFill>
                  <a:srgbClr val="1D2B33"/>
                </a:solidFill>
                <a:latin typeface="Cambria"/>
              </a:rPr>
              <a:t>No stack overflow: a task interpreter</a:t>
            </a:r>
          </a:p>
        </p:txBody>
      </p:sp>
      <p:sp>
        <p:nvSpPr>
          <p:cNvPr id="3" name="Rounded Rectangle 2"/>
          <p:cNvSpPr/>
          <p:nvPr/>
        </p:nvSpPr>
        <p:spPr>
          <a:xfrm>
            <a:off x="548640" y="1463040"/>
            <a:ext cx="6126480" cy="3611880"/>
          </a:xfrm>
          <a:prstGeom prst="roundRect">
            <a:avLst>
              <a:gd name="adj" fmla="val 4000"/>
            </a:avLst>
          </a:prstGeom>
          <a:solidFill>
            <a:srgbClr val="0F2730"/>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0" rIns="228600" bIns="182880" rtlCol="0" anchor="t"/>
          <a:lstStyle/>
          <a:p>
            <a:pPr algn="l"/>
            <a:r>
              <a:rPr sz="1400" b="0" i="0">
                <a:solidFill>
                  <a:srgbClr val="E8F1F2"/>
                </a:solidFill>
                <a:latin typeface="Consolas"/>
              </a:rPr>
              <a:t>@tailrec def sortWithAcc(pending, acc, state) =</a:t>
            </a:r>
          </a:p>
          <a:p>
            <a:pPr algn="l"/>
            <a:r>
              <a:rPr sz="1400" b="0" i="0">
                <a:solidFill>
                  <a:srgbClr val="E8F1F2"/>
                </a:solidFill>
                <a:latin typeface="Consolas"/>
              </a:rPr>
              <a:t>  pending match {</a:t>
            </a:r>
          </a:p>
          <a:p>
            <a:pPr algn="l"/>
            <a:r>
              <a:rPr sz="1400" b="0" i="0">
                <a:solidFill>
                  <a:srgbClr val="E8F1F2"/>
                </a:solidFill>
                <a:latin typeface="Consolas"/>
              </a:rPr>
              <a:t>    case Nil =&gt; acc</a:t>
            </a:r>
          </a:p>
          <a:p>
            <a:pPr algn="l"/>
            <a:r>
              <a:rPr sz="1400" b="0" i="0">
                <a:solidFill>
                  <a:srgbClr val="E8F1F2"/>
                </a:solidFill>
                <a:latin typeface="Consolas"/>
              </a:rPr>
              <a:t>    case (values, ready) :: rest =&gt;</a:t>
            </a:r>
          </a:p>
          <a:p>
            <a:pPr algn="l"/>
            <a:r>
              <a:rPr sz="1400" b="0" i="0">
                <a:solidFill>
                  <a:srgbClr val="E8F1F2"/>
                </a:solidFill>
                <a:latin typeface="Consolas"/>
              </a:rPr>
              <a:t>      if (ready)</a:t>
            </a:r>
          </a:p>
          <a:p>
            <a:pPr algn="l"/>
            <a:r>
              <a:rPr sz="1400" b="0" i="0">
                <a:solidFill>
                  <a:srgbClr val="E8F1F2"/>
                </a:solidFill>
                <a:latin typeface="Consolas"/>
              </a:rPr>
              <a:t>        sortWithAcc(rest, values ::: acc, state)</a:t>
            </a:r>
          </a:p>
          <a:p>
            <a:pPr algn="l"/>
            <a:r>
              <a:rPr sz="1400" b="0" i="0">
                <a:solidFill>
                  <a:srgbClr val="E8F1F2"/>
                </a:solidFill>
                <a:latin typeface="Consolas"/>
              </a:rPr>
              <a:t>      else values match {  // 0 or 1 values: ...</a:t>
            </a:r>
          </a:p>
          <a:p>
            <a:pPr algn="l"/>
            <a:r>
              <a:rPr sz="1400" b="0" i="0">
                <a:solidFill>
                  <a:srgbClr val="E8F1F2"/>
                </a:solidFill>
                <a:latin typeface="Consolas"/>
              </a:rPr>
              <a:t>        case _ =&gt;</a:t>
            </a:r>
          </a:p>
          <a:p>
            <a:pPr algn="l"/>
            <a:r>
              <a:rPr sz="1400" b="0" i="0">
                <a:solidFill>
                  <a:srgbClr val="E8F1F2"/>
                </a:solidFill>
                <a:latin typeface="Consolas"/>
              </a:rPr>
              <a:t>          val (l, e, g) = partition3(values, pivot)</a:t>
            </a:r>
          </a:p>
          <a:p>
            <a:pPr algn="l"/>
            <a:r>
              <a:rPr sz="1400" b="0" i="0">
                <a:solidFill>
                  <a:srgbClr val="E8F1F2"/>
                </a:solidFill>
                <a:latin typeface="Consolas"/>
              </a:rPr>
              <a:t>          sortWithAcc((g, false) :: (e, true) ::</a:t>
            </a:r>
          </a:p>
          <a:p>
            <a:pPr algn="l"/>
            <a:r>
              <a:rPr sz="1400" b="0" i="0">
                <a:solidFill>
                  <a:srgbClr val="E8F1F2"/>
                </a:solidFill>
                <a:latin typeface="Consolas"/>
              </a:rPr>
              <a:t>            (l, false) :: rest, acc, nextState)</a:t>
            </a:r>
          </a:p>
        </p:txBody>
      </p:sp>
      <p:sp>
        <p:nvSpPr>
          <p:cNvPr id="4" name="Rounded Rectangle 3"/>
          <p:cNvSpPr/>
          <p:nvPr/>
        </p:nvSpPr>
        <p:spPr>
          <a:xfrm>
            <a:off x="7863840" y="1554480"/>
            <a:ext cx="2560320" cy="685800"/>
          </a:xfrm>
          <a:prstGeom prst="roundRect">
            <a:avLst>
              <a:gd name="adj" fmla="val 8000"/>
            </a:avLst>
          </a:prstGeom>
          <a:solidFill>
            <a:srgbClr val="0B3C49"/>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r>
              <a:rPr sz="1800" b="1" i="0">
                <a:solidFill>
                  <a:srgbClr val="FFFFFF"/>
                </a:solidFill>
                <a:latin typeface="Consolas"/>
              </a:rPr>
              <a:t>sort A</a:t>
            </a:r>
          </a:p>
        </p:txBody>
      </p:sp>
      <p:cxnSp>
        <p:nvCxnSpPr>
          <p:cNvPr id="5" name="Connector 4"/>
          <p:cNvCxnSpPr/>
          <p:nvPr/>
        </p:nvCxnSpPr>
        <p:spPr>
          <a:xfrm>
            <a:off x="9144000" y="2286000"/>
            <a:ext cx="0" cy="457200"/>
          </a:xfrm>
          <a:prstGeom prst="line">
            <a:avLst/>
          </a:prstGeom>
          <a:ln w="22225">
            <a:solidFill>
              <a:srgbClr val="2A9D8F"/>
            </a:solidFill>
            <a:tailEnd type="triangle" w="med"/>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7086600" y="2788920"/>
            <a:ext cx="1325880" cy="640080"/>
          </a:xfrm>
          <a:prstGeom prst="roundRect">
            <a:avLst>
              <a:gd name="adj" fmla="val 8000"/>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r>
              <a:rPr sz="1500" b="1" i="0">
                <a:solidFill>
                  <a:srgbClr val="FFFFFF"/>
                </a:solidFill>
                <a:latin typeface="Consolas"/>
              </a:rPr>
              <a:t>sort G</a:t>
            </a:r>
          </a:p>
        </p:txBody>
      </p:sp>
      <p:sp>
        <p:nvSpPr>
          <p:cNvPr id="7" name="Rounded Rectangle 6"/>
          <p:cNvSpPr/>
          <p:nvPr/>
        </p:nvSpPr>
        <p:spPr>
          <a:xfrm>
            <a:off x="8503920" y="2788920"/>
            <a:ext cx="1325880" cy="640080"/>
          </a:xfrm>
          <a:prstGeom prst="roundRect">
            <a:avLst>
              <a:gd name="adj" fmla="val 8000"/>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r>
              <a:rPr sz="1500" b="1" i="0">
                <a:solidFill>
                  <a:srgbClr val="FFFFFF"/>
                </a:solidFill>
                <a:latin typeface="Consolas"/>
              </a:rPr>
              <a:t>emit E</a:t>
            </a:r>
          </a:p>
        </p:txBody>
      </p:sp>
      <p:sp>
        <p:nvSpPr>
          <p:cNvPr id="8" name="Rounded Rectangle 7"/>
          <p:cNvSpPr/>
          <p:nvPr/>
        </p:nvSpPr>
        <p:spPr>
          <a:xfrm>
            <a:off x="9921240" y="2788920"/>
            <a:ext cx="1325880" cy="640080"/>
          </a:xfrm>
          <a:prstGeom prst="roundRect">
            <a:avLst>
              <a:gd name="adj" fmla="val 8000"/>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r>
              <a:rPr sz="1500" b="1" i="0">
                <a:solidFill>
                  <a:srgbClr val="FFFFFF"/>
                </a:solidFill>
                <a:latin typeface="Consolas"/>
              </a:rPr>
              <a:t>sort L</a:t>
            </a:r>
          </a:p>
        </p:txBody>
      </p:sp>
      <p:sp>
        <p:nvSpPr>
          <p:cNvPr id="9" name="TextBox 8"/>
          <p:cNvSpPr txBox="1"/>
          <p:nvPr/>
        </p:nvSpPr>
        <p:spPr>
          <a:xfrm>
            <a:off x="7086600" y="3520440"/>
            <a:ext cx="4160520" cy="640080"/>
          </a:xfrm>
          <a:prstGeom prst="rect">
            <a:avLst/>
          </a:prstGeom>
          <a:noFill/>
        </p:spPr>
        <p:txBody>
          <a:bodyPr wrap="square" lIns="0" tIns="0" rIns="0" bIns="0" anchor="t">
            <a:spAutoFit/>
          </a:bodyPr>
          <a:lstStyle/>
          <a:p>
            <a:pPr algn="ctr"/>
            <a:r>
              <a:rPr sz="1400" b="0" i="0">
                <a:solidFill>
                  <a:srgbClr val="5B6B73"/>
                </a:solidFill>
                <a:latin typeface="Calibri"/>
              </a:rPr>
              <a:t>greatest first: acc stays sorted, no reverse</a:t>
            </a:r>
          </a:p>
        </p:txBody>
      </p:sp>
      <p:sp>
        <p:nvSpPr>
          <p:cNvPr id="10" name="Rounded Rectangle 9"/>
          <p:cNvSpPr/>
          <p:nvPr/>
        </p:nvSpPr>
        <p:spPr>
          <a:xfrm>
            <a:off x="7086600" y="4206240"/>
            <a:ext cx="4526280" cy="868680"/>
          </a:xfrm>
          <a:prstGeom prst="roundRect">
            <a:avLst>
              <a:gd name="adj" fmla="val 8000"/>
            </a:avLst>
          </a:prstGeom>
          <a:solidFill>
            <a:srgbClr val="EA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269480" y="4206240"/>
            <a:ext cx="4206240" cy="868680"/>
          </a:xfrm>
          <a:prstGeom prst="rect">
            <a:avLst/>
          </a:prstGeom>
          <a:noFill/>
        </p:spPr>
        <p:txBody>
          <a:bodyPr wrap="square" lIns="0" tIns="0" rIns="0" bIns="0" anchor="ctr">
            <a:spAutoFit/>
          </a:bodyPr>
          <a:lstStyle/>
          <a:p>
            <a:pPr algn="l"/>
            <a:r>
              <a:rPr sz="1500" b="1" i="0">
                <a:solidFill>
                  <a:srgbClr val="1D2B33"/>
                </a:solidFill>
                <a:latin typeface="Calibri"/>
              </a:rPr>
              <a:t>QS-02: </a:t>
            </a:r>
            <a:r>
              <a:rPr sz="1500" b="0" i="0">
                <a:solidFill>
                  <a:srgbClr val="1D2B33"/>
                </a:solidFill>
                <a:latin typeface="Calibri"/>
              </a:rPr>
              <a:t>100,000 equal values are sorted without StackOverflowError.</a:t>
            </a:r>
          </a:p>
        </p:txBody>
      </p:sp>
      <p:sp>
        <p:nvSpPr>
          <p:cNvPr id="12" name="Rounded Rectangle 11"/>
          <p:cNvSpPr/>
          <p:nvPr/>
        </p:nvSpPr>
        <p:spPr>
          <a:xfrm>
            <a:off x="548640" y="5349240"/>
            <a:ext cx="11064240" cy="822960"/>
          </a:xfrm>
          <a:prstGeom prst="roundRect">
            <a:avLst>
              <a:gd name="adj" fmla="val 8000"/>
            </a:avLst>
          </a:prstGeom>
          <a:solidFill>
            <a:srgbClr val="FBED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77240" y="5349240"/>
            <a:ext cx="10607040" cy="822960"/>
          </a:xfrm>
          <a:prstGeom prst="rect">
            <a:avLst/>
          </a:prstGeom>
          <a:noFill/>
        </p:spPr>
        <p:txBody>
          <a:bodyPr wrap="square" lIns="0" tIns="0" rIns="0" bIns="0" anchor="ctr">
            <a:spAutoFit/>
          </a:bodyPr>
          <a:lstStyle/>
          <a:p>
            <a:pPr algn="l"/>
            <a:r>
              <a:rPr sz="1500" b="1" i="0">
                <a:solidFill>
                  <a:srgbClr val="1D2B33"/>
                </a:solidFill>
                <a:latin typeface="Calibri"/>
              </a:rPr>
              <a:t>Note: </a:t>
            </a:r>
            <a:r>
              <a:rPr sz="1500" b="0" i="0">
                <a:solidFill>
                  <a:srgbClr val="1D2B33"/>
                </a:solidFill>
                <a:latin typeface="Calibri"/>
              </a:rPr>
              <a:t>@tailrec removes recursion from the JVM stack, but memory is not constant: the task list and the output still take O(n).</a:t>
            </a:r>
          </a:p>
        </p:txBody>
      </p:sp>
      <p:sp>
        <p:nvSpPr>
          <p:cNvPr id="14" name="TextBox 13"/>
          <p:cNvSpPr txBox="1"/>
          <p:nvPr/>
        </p:nvSpPr>
        <p:spPr>
          <a:xfrm>
            <a:off x="10881360" y="6400800"/>
            <a:ext cx="822960" cy="274320"/>
          </a:xfrm>
          <a:prstGeom prst="rect">
            <a:avLst/>
          </a:prstGeom>
          <a:noFill/>
        </p:spPr>
        <p:txBody>
          <a:bodyPr wrap="square" lIns="0" tIns="0" rIns="0" bIns="0" anchor="t">
            <a:spAutoFit/>
          </a:bodyPr>
          <a:lstStyle/>
          <a:p>
            <a:pPr algn="r"/>
            <a:r>
              <a:rPr sz="1100" b="0" i="0">
                <a:solidFill>
                  <a:srgbClr val="5B6B73"/>
                </a:solidFill>
                <a:latin typeface="Calibri"/>
              </a:rPr>
              <a:t>11</a:t>
            </a:r>
          </a:p>
        </p:txBody>
      </p:sp>
      <p:sp>
        <p:nvSpPr>
          <p:cNvPr id="15" name="TextBox 14"/>
          <p:cNvSpPr txBox="1"/>
          <p:nvPr/>
        </p:nvSpPr>
        <p:spPr>
          <a:xfrm>
            <a:off x="548640" y="6400800"/>
            <a:ext cx="7315200" cy="274320"/>
          </a:xfrm>
          <a:prstGeom prst="rect">
            <a:avLst/>
          </a:prstGeom>
          <a:noFill/>
        </p:spPr>
        <p:txBody>
          <a:bodyPr wrap="square" lIns="0" tIns="0" rIns="0" bIns="0" anchor="t">
            <a:spAutoFit/>
          </a:bodyPr>
          <a:lstStyle/>
          <a:p>
            <a:pPr algn="l"/>
            <a:r>
              <a:rPr sz="1100" b="0" i="0">
                <a:solidFill>
                  <a:srgbClr val="5B6B73"/>
                </a:solidFill>
                <a:latin typeface="Calibri"/>
              </a:rPr>
              <a:t>CyED II · Integrative Assignment 1 · Divide and conquer in Scala</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47472"/>
            <a:ext cx="11064240" cy="731520"/>
          </a:xfrm>
          <a:prstGeom prst="rect">
            <a:avLst/>
          </a:prstGeom>
          <a:noFill/>
        </p:spPr>
        <p:txBody>
          <a:bodyPr wrap="square" lIns="0" tIns="0" rIns="0" bIns="0" anchor="b">
            <a:spAutoFit/>
          </a:bodyPr>
          <a:lstStyle/>
          <a:p>
            <a:pPr algn="l"/>
            <a:r>
              <a:rPr sz="3400" b="1" i="0">
                <a:solidFill>
                  <a:srgbClr val="1D2B33"/>
                </a:solidFill>
                <a:latin typeface="Cambria"/>
              </a:rPr>
              <a:t>Cost depends on the pivot and on repeated values</a:t>
            </a:r>
          </a:p>
        </p:txBody>
      </p:sp>
      <p:graphicFrame>
        <p:nvGraphicFramePr>
          <p:cNvPr id="3" name="Table 2"/>
          <p:cNvGraphicFramePr>
            <a:graphicFrameLocks noGrp="1"/>
          </p:cNvGraphicFramePr>
          <p:nvPr/>
        </p:nvGraphicFramePr>
        <p:xfrm>
          <a:off x="548640" y="1508760"/>
          <a:ext cx="6949440" cy="3291840"/>
        </p:xfrm>
        <a:graphic>
          <a:graphicData uri="http://schemas.openxmlformats.org/drawingml/2006/table">
            <a:tbl>
              <a:tblPr firstRow="1" bandRow="1">
                <a:tableStyleId>{5940675A-B579-460E-94D1-54222C63F5DA}</a:tableStyleId>
              </a:tblPr>
              <a:tblGrid>
                <a:gridCol w="2148840">
                  <a:extLst>
                    <a:ext uri="{9D8B030D-6E8A-4147-A177-3AD203B41FA5}">
                      <a16:colId xmlns:a16="http://schemas.microsoft.com/office/drawing/2014/main" val="20000"/>
                    </a:ext>
                  </a:extLst>
                </a:gridCol>
                <a:gridCol w="3246120">
                  <a:extLst>
                    <a:ext uri="{9D8B030D-6E8A-4147-A177-3AD203B41FA5}">
                      <a16:colId xmlns:a16="http://schemas.microsoft.com/office/drawing/2014/main" val="20001"/>
                    </a:ext>
                  </a:extLst>
                </a:gridCol>
                <a:gridCol w="1554480">
                  <a:extLst>
                    <a:ext uri="{9D8B030D-6E8A-4147-A177-3AD203B41FA5}">
                      <a16:colId xmlns:a16="http://schemas.microsoft.com/office/drawing/2014/main" val="20002"/>
                    </a:ext>
                  </a:extLst>
                </a:gridCol>
              </a:tblGrid>
              <a:tr h="548640">
                <a:tc>
                  <a:txBody>
                    <a:bodyPr/>
                    <a:lstStyle/>
                    <a:p>
                      <a:pPr algn="l"/>
                      <a:r>
                        <a:rPr sz="1500" b="1" i="0">
                          <a:solidFill>
                            <a:srgbClr val="FFFFFF"/>
                          </a:solidFill>
                          <a:latin typeface="Calibri"/>
                        </a:rPr>
                        <a:t>Case</a:t>
                      </a:r>
                    </a:p>
                  </a:txBody>
                  <a:tcPr marT="36576" marB="36576" anchor="ctr">
                    <a:lnL w="9525">
                      <a:solidFill>
                        <a:srgbClr val="D5E2E0"/>
                      </a:solidFill>
                    </a:lnL>
                    <a:lnR w="9525">
                      <a:solidFill>
                        <a:srgbClr val="D5E2E0"/>
                      </a:solidFill>
                    </a:lnR>
                    <a:lnT w="9525">
                      <a:solidFill>
                        <a:srgbClr val="D5E2E0"/>
                      </a:solidFill>
                    </a:lnT>
                    <a:lnB w="9525">
                      <a:solidFill>
                        <a:srgbClr val="D5E2E0"/>
                      </a:solidFill>
                    </a:lnB>
                    <a:solidFill>
                      <a:srgbClr val="0B3C49"/>
                    </a:solidFill>
                  </a:tcPr>
                </a:tc>
                <a:tc>
                  <a:txBody>
                    <a:bodyPr/>
                    <a:lstStyle/>
                    <a:p>
                      <a:pPr algn="l"/>
                      <a:r>
                        <a:rPr sz="1500" b="1" i="0">
                          <a:solidFill>
                            <a:srgbClr val="FFFFFF"/>
                          </a:solidFill>
                          <a:latin typeface="Calibri"/>
                        </a:rPr>
                        <a:t>Recurrence</a:t>
                      </a:r>
                    </a:p>
                  </a:txBody>
                  <a:tcPr marT="36576" marB="36576" anchor="ctr">
                    <a:lnL w="9525">
                      <a:solidFill>
                        <a:srgbClr val="D5E2E0"/>
                      </a:solidFill>
                    </a:lnL>
                    <a:lnR w="9525">
                      <a:solidFill>
                        <a:srgbClr val="D5E2E0"/>
                      </a:solidFill>
                    </a:lnR>
                    <a:lnT w="9525">
                      <a:solidFill>
                        <a:srgbClr val="D5E2E0"/>
                      </a:solidFill>
                    </a:lnT>
                    <a:lnB w="9525">
                      <a:solidFill>
                        <a:srgbClr val="D5E2E0"/>
                      </a:solidFill>
                    </a:lnB>
                    <a:solidFill>
                      <a:srgbClr val="0B3C49"/>
                    </a:solidFill>
                  </a:tcPr>
                </a:tc>
                <a:tc>
                  <a:txBody>
                    <a:bodyPr/>
                    <a:lstStyle/>
                    <a:p>
                      <a:pPr algn="l"/>
                      <a:r>
                        <a:rPr sz="1500" b="1" i="0">
                          <a:solidFill>
                            <a:srgbClr val="FFFFFF"/>
                          </a:solidFill>
                          <a:latin typeface="Calibri"/>
                        </a:rPr>
                        <a:t>Result</a:t>
                      </a:r>
                    </a:p>
                  </a:txBody>
                  <a:tcPr marT="36576" marB="36576" anchor="ctr">
                    <a:lnL w="9525">
                      <a:solidFill>
                        <a:srgbClr val="D5E2E0"/>
                      </a:solidFill>
                    </a:lnL>
                    <a:lnR w="9525">
                      <a:solidFill>
                        <a:srgbClr val="D5E2E0"/>
                      </a:solidFill>
                    </a:lnR>
                    <a:lnT w="9525">
                      <a:solidFill>
                        <a:srgbClr val="D5E2E0"/>
                      </a:solidFill>
                    </a:lnT>
                    <a:lnB w="9525">
                      <a:solidFill>
                        <a:srgbClr val="D5E2E0"/>
                      </a:solidFill>
                    </a:lnB>
                    <a:solidFill>
                      <a:srgbClr val="0B3C49"/>
                    </a:solidFill>
                  </a:tcPr>
                </a:tc>
                <a:extLst>
                  <a:ext uri="{0D108BD9-81ED-4DB2-BD59-A6C34878D82A}">
                    <a16:rowId xmlns:a16="http://schemas.microsoft.com/office/drawing/2014/main" val="10000"/>
                  </a:ext>
                </a:extLst>
              </a:tr>
              <a:tr h="548640">
                <a:tc>
                  <a:txBody>
                    <a:bodyPr/>
                    <a:lstStyle/>
                    <a:p>
                      <a:pPr algn="l"/>
                      <a:r>
                        <a:rPr sz="1500" b="0" i="0">
                          <a:solidFill>
                            <a:srgbClr val="1D2B33"/>
                          </a:solidFill>
                          <a:latin typeface="Calibri"/>
                        </a:rPr>
                        <a:t>Balanced pivot</a:t>
                      </a:r>
                    </a:p>
                  </a:txBody>
                  <a:tcPr marT="36576" marB="36576" anchor="ctr">
                    <a:lnL w="9525">
                      <a:solidFill>
                        <a:srgbClr val="D5E2E0"/>
                      </a:solidFill>
                    </a:lnL>
                    <a:lnR w="9525">
                      <a:solidFill>
                        <a:srgbClr val="D5E2E0"/>
                      </a:solidFill>
                    </a:lnR>
                    <a:lnT w="9525">
                      <a:solidFill>
                        <a:srgbClr val="D5E2E0"/>
                      </a:solidFill>
                    </a:lnT>
                    <a:lnB w="9525">
                      <a:solidFill>
                        <a:srgbClr val="D5E2E0"/>
                      </a:solidFill>
                    </a:lnB>
                    <a:solidFill>
                      <a:srgbClr val="FFFFFF"/>
                    </a:solidFill>
                  </a:tcPr>
                </a:tc>
                <a:tc>
                  <a:txBody>
                    <a:bodyPr/>
                    <a:lstStyle/>
                    <a:p>
                      <a:pPr algn="l"/>
                      <a:r>
                        <a:rPr sz="1500" b="0" i="0">
                          <a:solidFill>
                            <a:srgbClr val="1D2B33"/>
                          </a:solidFill>
                          <a:latin typeface="Calibri"/>
                        </a:rPr>
                        <a:t>T(n) = 2T(n/2) + Θ(n)</a:t>
                      </a:r>
                    </a:p>
                  </a:txBody>
                  <a:tcPr marT="36576" marB="36576" anchor="ctr">
                    <a:lnL w="9525">
                      <a:solidFill>
                        <a:srgbClr val="D5E2E0"/>
                      </a:solidFill>
                    </a:lnL>
                    <a:lnR w="9525">
                      <a:solidFill>
                        <a:srgbClr val="D5E2E0"/>
                      </a:solidFill>
                    </a:lnR>
                    <a:lnT w="9525">
                      <a:solidFill>
                        <a:srgbClr val="D5E2E0"/>
                      </a:solidFill>
                    </a:lnT>
                    <a:lnB w="9525">
                      <a:solidFill>
                        <a:srgbClr val="D5E2E0"/>
                      </a:solidFill>
                    </a:lnB>
                    <a:solidFill>
                      <a:srgbClr val="FFFFFF"/>
                    </a:solidFill>
                  </a:tcPr>
                </a:tc>
                <a:tc>
                  <a:txBody>
                    <a:bodyPr/>
                    <a:lstStyle/>
                    <a:p>
                      <a:pPr algn="l"/>
                      <a:r>
                        <a:rPr sz="1500" b="0" i="0">
                          <a:solidFill>
                            <a:srgbClr val="1D2B33"/>
                          </a:solidFill>
                          <a:latin typeface="Calibri"/>
                        </a:rPr>
                        <a:t>Θ(n log n)</a:t>
                      </a:r>
                    </a:p>
                  </a:txBody>
                  <a:tcPr marT="36576" marB="36576" anchor="ctr">
                    <a:lnL w="9525">
                      <a:solidFill>
                        <a:srgbClr val="D5E2E0"/>
                      </a:solidFill>
                    </a:lnL>
                    <a:lnR w="9525">
                      <a:solidFill>
                        <a:srgbClr val="D5E2E0"/>
                      </a:solidFill>
                    </a:lnR>
                    <a:lnT w="9525">
                      <a:solidFill>
                        <a:srgbClr val="D5E2E0"/>
                      </a:solidFill>
                    </a:lnT>
                    <a:lnB w="9525">
                      <a:solidFill>
                        <a:srgbClr val="D5E2E0"/>
                      </a:solidFill>
                    </a:lnB>
                    <a:solidFill>
                      <a:srgbClr val="FFFFFF"/>
                    </a:solidFill>
                  </a:tcPr>
                </a:tc>
                <a:extLst>
                  <a:ext uri="{0D108BD9-81ED-4DB2-BD59-A6C34878D82A}">
                    <a16:rowId xmlns:a16="http://schemas.microsoft.com/office/drawing/2014/main" val="10001"/>
                  </a:ext>
                </a:extLst>
              </a:tr>
              <a:tr h="548640">
                <a:tc>
                  <a:txBody>
                    <a:bodyPr/>
                    <a:lstStyle/>
                    <a:p>
                      <a:pPr algn="l"/>
                      <a:r>
                        <a:rPr sz="1500" b="0" i="0">
                          <a:solidFill>
                            <a:srgbClr val="1D2B33"/>
                          </a:solidFill>
                          <a:latin typeface="Calibri"/>
                        </a:rPr>
                        <a:t>Worst (minimum or maximum)</a:t>
                      </a:r>
                    </a:p>
                  </a:txBody>
                  <a:tcPr marT="36576" marB="36576" anchor="ctr">
                    <a:lnL w="9525">
                      <a:solidFill>
                        <a:srgbClr val="D5E2E0"/>
                      </a:solidFill>
                    </a:lnL>
                    <a:lnR w="9525">
                      <a:solidFill>
                        <a:srgbClr val="D5E2E0"/>
                      </a:solidFill>
                    </a:lnR>
                    <a:lnT w="9525">
                      <a:solidFill>
                        <a:srgbClr val="D5E2E0"/>
                      </a:solidFill>
                    </a:lnT>
                    <a:lnB w="9525">
                      <a:solidFill>
                        <a:srgbClr val="D5E2E0"/>
                      </a:solidFill>
                    </a:lnB>
                    <a:solidFill>
                      <a:srgbClr val="FBEDE8"/>
                    </a:solidFill>
                  </a:tcPr>
                </a:tc>
                <a:tc>
                  <a:txBody>
                    <a:bodyPr/>
                    <a:lstStyle/>
                    <a:p>
                      <a:pPr algn="l"/>
                      <a:r>
                        <a:rPr sz="1500" b="0" i="0">
                          <a:solidFill>
                            <a:srgbClr val="1D2B33"/>
                          </a:solidFill>
                          <a:latin typeface="Calibri"/>
                        </a:rPr>
                        <a:t>T(n) = T(n−1) + Θ(n)</a:t>
                      </a:r>
                    </a:p>
                  </a:txBody>
                  <a:tcPr marT="36576" marB="36576" anchor="ctr">
                    <a:lnL w="9525">
                      <a:solidFill>
                        <a:srgbClr val="D5E2E0"/>
                      </a:solidFill>
                    </a:lnL>
                    <a:lnR w="9525">
                      <a:solidFill>
                        <a:srgbClr val="D5E2E0"/>
                      </a:solidFill>
                    </a:lnR>
                    <a:lnT w="9525">
                      <a:solidFill>
                        <a:srgbClr val="D5E2E0"/>
                      </a:solidFill>
                    </a:lnT>
                    <a:lnB w="9525">
                      <a:solidFill>
                        <a:srgbClr val="D5E2E0"/>
                      </a:solidFill>
                    </a:lnB>
                    <a:solidFill>
                      <a:srgbClr val="FBEDE8"/>
                    </a:solidFill>
                  </a:tcPr>
                </a:tc>
                <a:tc>
                  <a:txBody>
                    <a:bodyPr/>
                    <a:lstStyle/>
                    <a:p>
                      <a:pPr algn="l"/>
                      <a:r>
                        <a:rPr sz="1500" b="0" i="0">
                          <a:solidFill>
                            <a:srgbClr val="1D2B33"/>
                          </a:solidFill>
                          <a:latin typeface="Calibri"/>
                        </a:rPr>
                        <a:t>Θ(n²)</a:t>
                      </a:r>
                    </a:p>
                  </a:txBody>
                  <a:tcPr marT="36576" marB="36576" anchor="ctr">
                    <a:lnL w="9525">
                      <a:solidFill>
                        <a:srgbClr val="D5E2E0"/>
                      </a:solidFill>
                    </a:lnL>
                    <a:lnR w="9525">
                      <a:solidFill>
                        <a:srgbClr val="D5E2E0"/>
                      </a:solidFill>
                    </a:lnR>
                    <a:lnT w="9525">
                      <a:solidFill>
                        <a:srgbClr val="D5E2E0"/>
                      </a:solidFill>
                    </a:lnT>
                    <a:lnB w="9525">
                      <a:solidFill>
                        <a:srgbClr val="D5E2E0"/>
                      </a:solidFill>
                    </a:lnB>
                    <a:solidFill>
                      <a:srgbClr val="FBEDE8"/>
                    </a:solidFill>
                  </a:tcPr>
                </a:tc>
                <a:extLst>
                  <a:ext uri="{0D108BD9-81ED-4DB2-BD59-A6C34878D82A}">
                    <a16:rowId xmlns:a16="http://schemas.microsoft.com/office/drawing/2014/main" val="10002"/>
                  </a:ext>
                </a:extLst>
              </a:tr>
              <a:tr h="548640">
                <a:tc>
                  <a:txBody>
                    <a:bodyPr/>
                    <a:lstStyle/>
                    <a:p>
                      <a:pPr algn="l"/>
                      <a:r>
                        <a:rPr sz="1500" b="0" i="0">
                          <a:solidFill>
                            <a:srgbClr val="1D2B33"/>
                          </a:solidFill>
                          <a:latin typeface="Calibri"/>
                        </a:rPr>
                        <a:t>All equal</a:t>
                      </a:r>
                    </a:p>
                  </a:txBody>
                  <a:tcPr marT="36576" marB="36576" anchor="ctr">
                    <a:lnL w="9525">
                      <a:solidFill>
                        <a:srgbClr val="D5E2E0"/>
                      </a:solidFill>
                    </a:lnL>
                    <a:lnR w="9525">
                      <a:solidFill>
                        <a:srgbClr val="D5E2E0"/>
                      </a:solidFill>
                    </a:lnR>
                    <a:lnT w="9525">
                      <a:solidFill>
                        <a:srgbClr val="D5E2E0"/>
                      </a:solidFill>
                    </a:lnT>
                    <a:lnB w="9525">
                      <a:solidFill>
                        <a:srgbClr val="D5E2E0"/>
                      </a:solidFill>
                    </a:lnB>
                    <a:solidFill>
                      <a:srgbClr val="FFFFFF"/>
                    </a:solidFill>
                  </a:tcPr>
                </a:tc>
                <a:tc>
                  <a:txBody>
                    <a:bodyPr/>
                    <a:lstStyle/>
                    <a:p>
                      <a:pPr algn="l"/>
                      <a:r>
                        <a:rPr sz="1500" b="0" i="0">
                          <a:solidFill>
                            <a:srgbClr val="1D2B33"/>
                          </a:solidFill>
                          <a:latin typeface="Calibri"/>
                        </a:rPr>
                        <a:t>a single partition</a:t>
                      </a:r>
                    </a:p>
                  </a:txBody>
                  <a:tcPr marT="36576" marB="36576" anchor="ctr">
                    <a:lnL w="9525">
                      <a:solidFill>
                        <a:srgbClr val="D5E2E0"/>
                      </a:solidFill>
                    </a:lnL>
                    <a:lnR w="9525">
                      <a:solidFill>
                        <a:srgbClr val="D5E2E0"/>
                      </a:solidFill>
                    </a:lnR>
                    <a:lnT w="9525">
                      <a:solidFill>
                        <a:srgbClr val="D5E2E0"/>
                      </a:solidFill>
                    </a:lnT>
                    <a:lnB w="9525">
                      <a:solidFill>
                        <a:srgbClr val="D5E2E0"/>
                      </a:solidFill>
                    </a:lnB>
                    <a:solidFill>
                      <a:srgbClr val="FFFFFF"/>
                    </a:solidFill>
                  </a:tcPr>
                </a:tc>
                <a:tc>
                  <a:txBody>
                    <a:bodyPr/>
                    <a:lstStyle/>
                    <a:p>
                      <a:pPr algn="l"/>
                      <a:r>
                        <a:rPr sz="1500" b="0" i="0">
                          <a:solidFill>
                            <a:srgbClr val="1D2B33"/>
                          </a:solidFill>
                          <a:latin typeface="Calibri"/>
                        </a:rPr>
                        <a:t>Θ(n)</a:t>
                      </a:r>
                    </a:p>
                  </a:txBody>
                  <a:tcPr marT="36576" marB="36576" anchor="ctr">
                    <a:lnL w="9525">
                      <a:solidFill>
                        <a:srgbClr val="D5E2E0"/>
                      </a:solidFill>
                    </a:lnL>
                    <a:lnR w="9525">
                      <a:solidFill>
                        <a:srgbClr val="D5E2E0"/>
                      </a:solidFill>
                    </a:lnR>
                    <a:lnT w="9525">
                      <a:solidFill>
                        <a:srgbClr val="D5E2E0"/>
                      </a:solidFill>
                    </a:lnT>
                    <a:lnB w="9525">
                      <a:solidFill>
                        <a:srgbClr val="D5E2E0"/>
                      </a:solidFill>
                    </a:lnB>
                    <a:solidFill>
                      <a:srgbClr val="FFFFFF"/>
                    </a:solidFill>
                  </a:tcPr>
                </a:tc>
                <a:extLst>
                  <a:ext uri="{0D108BD9-81ED-4DB2-BD59-A6C34878D82A}">
                    <a16:rowId xmlns:a16="http://schemas.microsoft.com/office/drawing/2014/main" val="10003"/>
                  </a:ext>
                </a:extLst>
              </a:tr>
              <a:tr h="548640">
                <a:tc>
                  <a:txBody>
                    <a:bodyPr/>
                    <a:lstStyle/>
                    <a:p>
                      <a:pPr algn="l"/>
                      <a:r>
                        <a:rPr sz="1500" b="0" i="0">
                          <a:solidFill>
                            <a:srgbClr val="1D2B33"/>
                          </a:solidFill>
                          <a:latin typeface="Calibri"/>
                        </a:rPr>
                        <a:t>k distinct values</a:t>
                      </a:r>
                    </a:p>
                  </a:txBody>
                  <a:tcPr marT="36576" marB="36576" anchor="ctr">
                    <a:lnL w="9525">
                      <a:solidFill>
                        <a:srgbClr val="D5E2E0"/>
                      </a:solidFill>
                    </a:lnL>
                    <a:lnR w="9525">
                      <a:solidFill>
                        <a:srgbClr val="D5E2E0"/>
                      </a:solidFill>
                    </a:lnR>
                    <a:lnT w="9525">
                      <a:solidFill>
                        <a:srgbClr val="D5E2E0"/>
                      </a:solidFill>
                    </a:lnT>
                    <a:lnB w="9525">
                      <a:solidFill>
                        <a:srgbClr val="D5E2E0"/>
                      </a:solidFill>
                    </a:lnB>
                    <a:solidFill>
                      <a:srgbClr val="EAF3F1"/>
                    </a:solidFill>
                  </a:tcPr>
                </a:tc>
                <a:tc>
                  <a:txBody>
                    <a:bodyPr/>
                    <a:lstStyle/>
                    <a:p>
                      <a:pPr algn="l"/>
                      <a:r>
                        <a:rPr sz="1500" b="0" i="0">
                          <a:solidFill>
                            <a:srgbClr val="1D2B33"/>
                          </a:solidFill>
                          <a:latin typeface="Calibri"/>
                        </a:rPr>
                        <a:t>depth ≤ k</a:t>
                      </a:r>
                    </a:p>
                  </a:txBody>
                  <a:tcPr marT="36576" marB="36576" anchor="ctr">
                    <a:lnL w="9525">
                      <a:solidFill>
                        <a:srgbClr val="D5E2E0"/>
                      </a:solidFill>
                    </a:lnL>
                    <a:lnR w="9525">
                      <a:solidFill>
                        <a:srgbClr val="D5E2E0"/>
                      </a:solidFill>
                    </a:lnR>
                    <a:lnT w="9525">
                      <a:solidFill>
                        <a:srgbClr val="D5E2E0"/>
                      </a:solidFill>
                    </a:lnT>
                    <a:lnB w="9525">
                      <a:solidFill>
                        <a:srgbClr val="D5E2E0"/>
                      </a:solidFill>
                    </a:lnB>
                    <a:solidFill>
                      <a:srgbClr val="EAF3F1"/>
                    </a:solidFill>
                  </a:tcPr>
                </a:tc>
                <a:tc>
                  <a:txBody>
                    <a:bodyPr/>
                    <a:lstStyle/>
                    <a:p>
                      <a:pPr algn="l"/>
                      <a:r>
                        <a:rPr sz="1500" b="0" i="0">
                          <a:solidFill>
                            <a:srgbClr val="1D2B33"/>
                          </a:solidFill>
                          <a:latin typeface="Calibri"/>
                        </a:rPr>
                        <a:t>O(n·k)</a:t>
                      </a:r>
                    </a:p>
                  </a:txBody>
                  <a:tcPr marT="36576" marB="36576" anchor="ctr">
                    <a:lnL w="9525">
                      <a:solidFill>
                        <a:srgbClr val="D5E2E0"/>
                      </a:solidFill>
                    </a:lnL>
                    <a:lnR w="9525">
                      <a:solidFill>
                        <a:srgbClr val="D5E2E0"/>
                      </a:solidFill>
                    </a:lnR>
                    <a:lnT w="9525">
                      <a:solidFill>
                        <a:srgbClr val="D5E2E0"/>
                      </a:solidFill>
                    </a:lnT>
                    <a:lnB w="9525">
                      <a:solidFill>
                        <a:srgbClr val="D5E2E0"/>
                      </a:solidFill>
                    </a:lnB>
                    <a:solidFill>
                      <a:srgbClr val="EAF3F1"/>
                    </a:solidFill>
                  </a:tcPr>
                </a:tc>
                <a:extLst>
                  <a:ext uri="{0D108BD9-81ED-4DB2-BD59-A6C34878D82A}">
                    <a16:rowId xmlns:a16="http://schemas.microsoft.com/office/drawing/2014/main" val="10004"/>
                  </a:ext>
                </a:extLst>
              </a:tr>
              <a:tr h="548640">
                <a:tc>
                  <a:txBody>
                    <a:bodyPr/>
                    <a:lstStyle/>
                    <a:p>
                      <a:pPr algn="l"/>
                      <a:r>
                        <a:rPr sz="1500" b="0" i="0">
                          <a:solidFill>
                            <a:srgbClr val="1D2B33"/>
                          </a:solidFill>
                          <a:latin typeface="Calibri"/>
                        </a:rPr>
                        <a:t>Expected (random)</a:t>
                      </a:r>
                    </a:p>
                  </a:txBody>
                  <a:tcPr marT="36576" marB="36576" anchor="ctr">
                    <a:lnL w="9525">
                      <a:solidFill>
                        <a:srgbClr val="D5E2E0"/>
                      </a:solidFill>
                    </a:lnL>
                    <a:lnR w="9525">
                      <a:solidFill>
                        <a:srgbClr val="D5E2E0"/>
                      </a:solidFill>
                    </a:lnR>
                    <a:lnT w="9525">
                      <a:solidFill>
                        <a:srgbClr val="D5E2E0"/>
                      </a:solidFill>
                    </a:lnT>
                    <a:lnB w="9525">
                      <a:solidFill>
                        <a:srgbClr val="D5E2E0"/>
                      </a:solidFill>
                    </a:lnB>
                    <a:solidFill>
                      <a:srgbClr val="FFFFFF"/>
                    </a:solidFill>
                  </a:tcPr>
                </a:tc>
                <a:tc>
                  <a:txBody>
                    <a:bodyPr/>
                    <a:lstStyle/>
                    <a:p>
                      <a:pPr algn="l"/>
                      <a:r>
                        <a:rPr sz="1500" b="0" i="0">
                          <a:solidFill>
                            <a:srgbClr val="1D2B33"/>
                          </a:solidFill>
                          <a:latin typeface="Calibri"/>
                        </a:rPr>
                        <a:t>E[T(n)] = (2/n) Σ E[T(j)] + Θ(n)</a:t>
                      </a:r>
                    </a:p>
                  </a:txBody>
                  <a:tcPr marT="36576" marB="36576" anchor="ctr">
                    <a:lnL w="9525">
                      <a:solidFill>
                        <a:srgbClr val="D5E2E0"/>
                      </a:solidFill>
                    </a:lnL>
                    <a:lnR w="9525">
                      <a:solidFill>
                        <a:srgbClr val="D5E2E0"/>
                      </a:solidFill>
                    </a:lnR>
                    <a:lnT w="9525">
                      <a:solidFill>
                        <a:srgbClr val="D5E2E0"/>
                      </a:solidFill>
                    </a:lnT>
                    <a:lnB w="9525">
                      <a:solidFill>
                        <a:srgbClr val="D5E2E0"/>
                      </a:solidFill>
                    </a:lnB>
                    <a:solidFill>
                      <a:srgbClr val="FFFFFF"/>
                    </a:solidFill>
                  </a:tcPr>
                </a:tc>
                <a:tc>
                  <a:txBody>
                    <a:bodyPr/>
                    <a:lstStyle/>
                    <a:p>
                      <a:pPr algn="l"/>
                      <a:r>
                        <a:rPr sz="1500" b="0" i="0" dirty="0">
                          <a:solidFill>
                            <a:srgbClr val="1D2B33"/>
                          </a:solidFill>
                          <a:latin typeface="Calibri"/>
                        </a:rPr>
                        <a:t>Θ(n log n)</a:t>
                      </a:r>
                    </a:p>
                  </a:txBody>
                  <a:tcPr marT="36576" marB="36576" anchor="ctr">
                    <a:lnL w="9525">
                      <a:solidFill>
                        <a:srgbClr val="D5E2E0"/>
                      </a:solidFill>
                    </a:lnL>
                    <a:lnR w="9525">
                      <a:solidFill>
                        <a:srgbClr val="D5E2E0"/>
                      </a:solidFill>
                    </a:lnR>
                    <a:lnT w="9525">
                      <a:solidFill>
                        <a:srgbClr val="D5E2E0"/>
                      </a:solidFill>
                    </a:lnT>
                    <a:lnB w="9525">
                      <a:solidFill>
                        <a:srgbClr val="D5E2E0"/>
                      </a:solidFill>
                    </a:lnB>
                    <a:solidFill>
                      <a:srgbClr val="FFFFFF"/>
                    </a:solidFill>
                  </a:tcPr>
                </a:tc>
                <a:extLst>
                  <a:ext uri="{0D108BD9-81ED-4DB2-BD59-A6C34878D82A}">
                    <a16:rowId xmlns:a16="http://schemas.microsoft.com/office/drawing/2014/main" val="10005"/>
                  </a:ext>
                </a:extLst>
              </a:tr>
            </a:tbl>
          </a:graphicData>
        </a:graphic>
      </p:graphicFrame>
      <p:sp>
        <p:nvSpPr>
          <p:cNvPr id="4" name="TextBox 3"/>
          <p:cNvSpPr txBox="1"/>
          <p:nvPr/>
        </p:nvSpPr>
        <p:spPr>
          <a:xfrm>
            <a:off x="548640" y="5029200"/>
            <a:ext cx="6949440" cy="1188720"/>
          </a:xfrm>
          <a:prstGeom prst="rect">
            <a:avLst/>
          </a:prstGeom>
          <a:noFill/>
        </p:spPr>
        <p:txBody>
          <a:bodyPr wrap="square" lIns="0" tIns="0" rIns="0" bIns="0" anchor="t">
            <a:spAutoFit/>
          </a:bodyPr>
          <a:lstStyle/>
          <a:p>
            <a:pPr algn="l"/>
            <a:r>
              <a:rPr sz="1500" b="0" i="0">
                <a:solidFill>
                  <a:srgbClr val="5B6B73"/>
                </a:solidFill>
                <a:latin typeface="Calibri"/>
              </a:rPr>
              <a:t>The worst case cannot be solved with the master theorem: the size drops by 1, not by a factor. Expanding: Θ(n) + Θ(n−1) + … + Θ(1) = Θ(n²).</a:t>
            </a:r>
          </a:p>
        </p:txBody>
      </p:sp>
      <p:sp>
        <p:nvSpPr>
          <p:cNvPr id="5" name="Rounded Rectangle 4"/>
          <p:cNvSpPr/>
          <p:nvPr/>
        </p:nvSpPr>
        <p:spPr>
          <a:xfrm>
            <a:off x="7863840" y="1508760"/>
            <a:ext cx="3749039" cy="4663440"/>
          </a:xfrm>
          <a:prstGeom prst="roundRect">
            <a:avLst>
              <a:gd name="adj" fmla="val 8000"/>
            </a:avLst>
          </a:prstGeom>
          <a:solidFill>
            <a:srgbClr val="0B3C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138160" y="1783080"/>
            <a:ext cx="3200400" cy="457200"/>
          </a:xfrm>
          <a:prstGeom prst="rect">
            <a:avLst/>
          </a:prstGeom>
          <a:noFill/>
        </p:spPr>
        <p:txBody>
          <a:bodyPr wrap="square" lIns="0" tIns="0" rIns="0" bIns="0" anchor="t">
            <a:spAutoFit/>
          </a:bodyPr>
          <a:lstStyle/>
          <a:p>
            <a:pPr algn="l"/>
            <a:r>
              <a:rPr sz="1600" b="0" i="0">
                <a:solidFill>
                  <a:srgbClr val="BFD6DB"/>
                </a:solidFill>
                <a:latin typeface="Calibri"/>
              </a:rPr>
              <a:t>Measured with n = 2²⁰</a:t>
            </a:r>
          </a:p>
        </p:txBody>
      </p:sp>
      <p:sp>
        <p:nvSpPr>
          <p:cNvPr id="7" name="TextBox 6"/>
          <p:cNvSpPr txBox="1"/>
          <p:nvPr/>
        </p:nvSpPr>
        <p:spPr>
          <a:xfrm>
            <a:off x="8138160" y="2240280"/>
            <a:ext cx="3200400" cy="1097280"/>
          </a:xfrm>
          <a:prstGeom prst="rect">
            <a:avLst/>
          </a:prstGeom>
          <a:noFill/>
        </p:spPr>
        <p:txBody>
          <a:bodyPr wrap="square" lIns="0" tIns="0" rIns="0" bIns="0" anchor="t">
            <a:spAutoFit/>
          </a:bodyPr>
          <a:lstStyle/>
          <a:p>
            <a:pPr algn="l"/>
            <a:r>
              <a:rPr sz="6600" b="1" i="0">
                <a:solidFill>
                  <a:srgbClr val="E9C46A"/>
                </a:solidFill>
                <a:latin typeface="Cambria"/>
              </a:rPr>
              <a:t>12.9×</a:t>
            </a:r>
          </a:p>
        </p:txBody>
      </p:sp>
      <p:sp>
        <p:nvSpPr>
          <p:cNvPr id="8" name="TextBox 7"/>
          <p:cNvSpPr txBox="1"/>
          <p:nvPr/>
        </p:nvSpPr>
        <p:spPr>
          <a:xfrm>
            <a:off x="8138160" y="3429000"/>
            <a:ext cx="3200400" cy="731520"/>
          </a:xfrm>
          <a:prstGeom prst="rect">
            <a:avLst/>
          </a:prstGeom>
          <a:noFill/>
        </p:spPr>
        <p:txBody>
          <a:bodyPr wrap="square" lIns="0" tIns="0" rIns="0" bIns="0" anchor="t">
            <a:spAutoFit/>
          </a:bodyPr>
          <a:lstStyle/>
          <a:p>
            <a:pPr algn="l"/>
            <a:r>
              <a:rPr sz="1700" b="0" i="0">
                <a:solidFill>
                  <a:srgbClr val="FFFFFF"/>
                </a:solidFill>
                <a:latin typeface="Calibri"/>
              </a:rPr>
              <a:t>faster with only 5 distinct values</a:t>
            </a:r>
          </a:p>
        </p:txBody>
      </p:sp>
      <p:sp>
        <p:nvSpPr>
          <p:cNvPr id="9" name="TextBox 8"/>
          <p:cNvSpPr txBox="1"/>
          <p:nvPr/>
        </p:nvSpPr>
        <p:spPr>
          <a:xfrm>
            <a:off x="8138160" y="4343400"/>
            <a:ext cx="3200400" cy="1645920"/>
          </a:xfrm>
          <a:prstGeom prst="rect">
            <a:avLst/>
          </a:prstGeom>
          <a:noFill/>
        </p:spPr>
        <p:txBody>
          <a:bodyPr wrap="square" lIns="0" tIns="0" rIns="0" bIns="0" anchor="t">
            <a:spAutoFit/>
          </a:bodyPr>
          <a:lstStyle/>
          <a:p>
            <a:pPr algn="l">
              <a:spcAft>
                <a:spcPts val="600"/>
              </a:spcAft>
            </a:pPr>
            <a:r>
              <a:rPr sz="1600" b="1" i="0">
                <a:solidFill>
                  <a:srgbClr val="E9C46A"/>
                </a:solidFill>
                <a:latin typeface="Calibri"/>
              </a:rPr>
              <a:t>76 ms </a:t>
            </a:r>
            <a:r>
              <a:rPr sz="1600" b="0" i="0">
                <a:solidFill>
                  <a:srgbClr val="FFFFFF"/>
                </a:solidFill>
                <a:latin typeface="Calibri"/>
              </a:rPr>
              <a:t>with duplicates</a:t>
            </a:r>
          </a:p>
          <a:p>
            <a:pPr algn="l">
              <a:spcAft>
                <a:spcPts val="600"/>
              </a:spcAft>
            </a:pPr>
            <a:r>
              <a:rPr sz="1600" b="1" i="0">
                <a:solidFill>
                  <a:srgbClr val="E9C46A"/>
                </a:solidFill>
                <a:latin typeface="Calibri"/>
              </a:rPr>
              <a:t>981 ms </a:t>
            </a:r>
            <a:r>
              <a:rPr sz="1600" b="0" i="0">
                <a:solidFill>
                  <a:srgbClr val="FFFFFF"/>
                </a:solidFill>
                <a:latin typeface="Calibri"/>
              </a:rPr>
              <a:t>with random values</a:t>
            </a:r>
          </a:p>
        </p:txBody>
      </p:sp>
      <p:sp>
        <p:nvSpPr>
          <p:cNvPr id="10" name="TextBox 9"/>
          <p:cNvSpPr txBox="1"/>
          <p:nvPr/>
        </p:nvSpPr>
        <p:spPr>
          <a:xfrm>
            <a:off x="10881360" y="6400800"/>
            <a:ext cx="822960" cy="274320"/>
          </a:xfrm>
          <a:prstGeom prst="rect">
            <a:avLst/>
          </a:prstGeom>
          <a:noFill/>
        </p:spPr>
        <p:txBody>
          <a:bodyPr wrap="square" lIns="0" tIns="0" rIns="0" bIns="0" anchor="t">
            <a:spAutoFit/>
          </a:bodyPr>
          <a:lstStyle/>
          <a:p>
            <a:pPr algn="r"/>
            <a:r>
              <a:rPr sz="1100" b="0" i="0">
                <a:solidFill>
                  <a:srgbClr val="5B6B73"/>
                </a:solidFill>
                <a:latin typeface="Calibri"/>
              </a:rPr>
              <a:t>12</a:t>
            </a:r>
          </a:p>
        </p:txBody>
      </p:sp>
      <p:sp>
        <p:nvSpPr>
          <p:cNvPr id="11" name="TextBox 10"/>
          <p:cNvSpPr txBox="1"/>
          <p:nvPr/>
        </p:nvSpPr>
        <p:spPr>
          <a:xfrm>
            <a:off x="548640" y="6400800"/>
            <a:ext cx="7315200" cy="274320"/>
          </a:xfrm>
          <a:prstGeom prst="rect">
            <a:avLst/>
          </a:prstGeom>
          <a:noFill/>
        </p:spPr>
        <p:txBody>
          <a:bodyPr wrap="square" lIns="0" tIns="0" rIns="0" bIns="0" anchor="t">
            <a:spAutoFit/>
          </a:bodyPr>
          <a:lstStyle/>
          <a:p>
            <a:pPr algn="l"/>
            <a:r>
              <a:rPr sz="1100" b="0" i="0">
                <a:solidFill>
                  <a:srgbClr val="5B6B73"/>
                </a:solidFill>
                <a:latin typeface="Calibri"/>
              </a:rPr>
              <a:t>CyED II · Integrative Assignment 1 · Divide and conquer in Scala</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B3C49"/>
        </a:solidFill>
        <a:effectLst/>
      </p:bgPr>
    </p:bg>
    <p:spTree>
      <p:nvGrpSpPr>
        <p:cNvPr id="1" name=""/>
        <p:cNvGrpSpPr/>
        <p:nvPr/>
      </p:nvGrpSpPr>
      <p:grpSpPr>
        <a:xfrm>
          <a:off x="0" y="0"/>
          <a:ext cx="0" cy="0"/>
          <a:chOff x="0" y="0"/>
          <a:chExt cx="0" cy="0"/>
        </a:xfrm>
      </p:grpSpPr>
      <p:sp>
        <p:nvSpPr>
          <p:cNvPr id="2" name="TextBox 1"/>
          <p:cNvSpPr txBox="1"/>
          <p:nvPr/>
        </p:nvSpPr>
        <p:spPr>
          <a:xfrm>
            <a:off x="822960" y="1737360"/>
            <a:ext cx="3657600" cy="1463040"/>
          </a:xfrm>
          <a:prstGeom prst="rect">
            <a:avLst/>
          </a:prstGeom>
          <a:noFill/>
        </p:spPr>
        <p:txBody>
          <a:bodyPr wrap="square" lIns="0" tIns="0" rIns="0" bIns="0" anchor="t">
            <a:spAutoFit/>
          </a:bodyPr>
          <a:lstStyle/>
          <a:p>
            <a:pPr algn="l"/>
            <a:r>
              <a:rPr sz="11000" b="1" i="0">
                <a:solidFill>
                  <a:srgbClr val="E9C46A"/>
                </a:solidFill>
                <a:latin typeface="Cambria"/>
              </a:rPr>
              <a:t>03</a:t>
            </a:r>
          </a:p>
        </p:txBody>
      </p:sp>
      <p:sp>
        <p:nvSpPr>
          <p:cNvPr id="3" name="TextBox 2"/>
          <p:cNvSpPr txBox="1"/>
          <p:nvPr/>
        </p:nvSpPr>
        <p:spPr>
          <a:xfrm>
            <a:off x="822960" y="3337560"/>
            <a:ext cx="10058400" cy="914400"/>
          </a:xfrm>
          <a:prstGeom prst="rect">
            <a:avLst/>
          </a:prstGeom>
          <a:noFill/>
        </p:spPr>
        <p:txBody>
          <a:bodyPr wrap="square" lIns="0" tIns="0" rIns="0" bIns="0" anchor="t">
            <a:spAutoFit/>
          </a:bodyPr>
          <a:lstStyle/>
          <a:p>
            <a:pPr algn="l"/>
            <a:r>
              <a:rPr sz="4400" b="1" i="0">
                <a:solidFill>
                  <a:srgbClr val="FFFFFF"/>
                </a:solidFill>
                <a:latin typeface="Cambria"/>
              </a:rPr>
              <a:t>Closest pair of points</a:t>
            </a:r>
          </a:p>
        </p:txBody>
      </p:sp>
      <p:sp>
        <p:nvSpPr>
          <p:cNvPr id="4" name="TextBox 3"/>
          <p:cNvSpPr txBox="1"/>
          <p:nvPr/>
        </p:nvSpPr>
        <p:spPr>
          <a:xfrm>
            <a:off x="822960" y="4251960"/>
            <a:ext cx="10058400" cy="548640"/>
          </a:xfrm>
          <a:prstGeom prst="rect">
            <a:avLst/>
          </a:prstGeom>
          <a:noFill/>
        </p:spPr>
        <p:txBody>
          <a:bodyPr wrap="square" lIns="0" tIns="0" rIns="0" bIns="0" anchor="t">
            <a:spAutoFit/>
          </a:bodyPr>
          <a:lstStyle/>
          <a:p>
            <a:pPr algn="l"/>
            <a:r>
              <a:rPr sz="2000" b="0" i="1">
                <a:solidFill>
                  <a:srgbClr val="BFD6DB"/>
                </a:solidFill>
                <a:latin typeface="Calibri"/>
              </a:rPr>
              <a:t>The strip recovers what the split loses</a:t>
            </a:r>
          </a:p>
        </p:txBody>
      </p:sp>
      <p:sp>
        <p:nvSpPr>
          <p:cNvPr id="5" name="TextBox 4"/>
          <p:cNvSpPr txBox="1"/>
          <p:nvPr/>
        </p:nvSpPr>
        <p:spPr>
          <a:xfrm>
            <a:off x="10881360" y="6400800"/>
            <a:ext cx="822960" cy="274320"/>
          </a:xfrm>
          <a:prstGeom prst="rect">
            <a:avLst/>
          </a:prstGeom>
          <a:noFill/>
        </p:spPr>
        <p:txBody>
          <a:bodyPr wrap="square" lIns="0" tIns="0" rIns="0" bIns="0" anchor="t">
            <a:spAutoFit/>
          </a:bodyPr>
          <a:lstStyle/>
          <a:p>
            <a:pPr algn="r"/>
            <a:r>
              <a:rPr sz="1100" b="0" i="0">
                <a:solidFill>
                  <a:srgbClr val="9FB8BF"/>
                </a:solidFill>
                <a:latin typeface="Calibri"/>
              </a:rPr>
              <a:t>13</a:t>
            </a:r>
          </a:p>
        </p:txBody>
      </p:sp>
      <p:sp>
        <p:nvSpPr>
          <p:cNvPr id="6" name="TextBox 5"/>
          <p:cNvSpPr txBox="1"/>
          <p:nvPr/>
        </p:nvSpPr>
        <p:spPr>
          <a:xfrm>
            <a:off x="548640" y="6400800"/>
            <a:ext cx="7315200" cy="274320"/>
          </a:xfrm>
          <a:prstGeom prst="rect">
            <a:avLst/>
          </a:prstGeom>
          <a:noFill/>
        </p:spPr>
        <p:txBody>
          <a:bodyPr wrap="square" lIns="0" tIns="0" rIns="0" bIns="0" anchor="t">
            <a:spAutoFit/>
          </a:bodyPr>
          <a:lstStyle/>
          <a:p>
            <a:pPr algn="l"/>
            <a:r>
              <a:rPr sz="1100" b="0" i="0">
                <a:solidFill>
                  <a:srgbClr val="9FB8BF"/>
                </a:solidFill>
                <a:latin typeface="Calibri"/>
              </a:rPr>
              <a:t>CyED II · Integrative Assignment 1 · Divide and conquer in Scala</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47472"/>
            <a:ext cx="11064240" cy="731520"/>
          </a:xfrm>
          <a:prstGeom prst="rect">
            <a:avLst/>
          </a:prstGeom>
          <a:noFill/>
        </p:spPr>
        <p:txBody>
          <a:bodyPr wrap="square" lIns="0" tIns="0" rIns="0" bIns="0" anchor="b">
            <a:spAutoFit/>
          </a:bodyPr>
          <a:lstStyle/>
          <a:p>
            <a:pPr algn="l"/>
            <a:r>
              <a:rPr sz="3400" b="1" i="0">
                <a:solidFill>
                  <a:srgbClr val="1D2B33"/>
                </a:solidFill>
                <a:latin typeface="Cambria"/>
              </a:rPr>
              <a:t>Split by x, solve the halves, check the strip</a:t>
            </a:r>
          </a:p>
        </p:txBody>
      </p:sp>
      <p:sp>
        <p:nvSpPr>
          <p:cNvPr id="3" name="Rounded Rectangle 2"/>
          <p:cNvSpPr/>
          <p:nvPr/>
        </p:nvSpPr>
        <p:spPr>
          <a:xfrm>
            <a:off x="548640" y="1508760"/>
            <a:ext cx="5852160" cy="4663440"/>
          </a:xfrm>
          <a:prstGeom prst="roundRect">
            <a:avLst>
              <a:gd name="adj" fmla="val 3000"/>
            </a:avLst>
          </a:prstGeom>
          <a:solidFill>
            <a:srgbClr val="EA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2788920" y="1508760"/>
            <a:ext cx="1371600" cy="4663440"/>
          </a:xfrm>
          <a:prstGeom prst="rect">
            <a:avLst/>
          </a:prstGeom>
          <a:solidFill>
            <a:srgbClr val="F7D9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 name="Connector 4"/>
          <p:cNvCxnSpPr/>
          <p:nvPr/>
        </p:nvCxnSpPr>
        <p:spPr>
          <a:xfrm>
            <a:off x="3474720" y="1508760"/>
            <a:ext cx="0" cy="4663440"/>
          </a:xfrm>
          <a:prstGeom prst="line">
            <a:avLst/>
          </a:prstGeom>
          <a:ln w="25400">
            <a:solidFill>
              <a:srgbClr val="0B3C49"/>
            </a:solidFill>
            <a:prstDash val="dash"/>
          </a:ln>
        </p:spPr>
        <p:style>
          <a:lnRef idx="2">
            <a:schemeClr val="accent1"/>
          </a:lnRef>
          <a:fillRef idx="0">
            <a:schemeClr val="accent1"/>
          </a:fillRef>
          <a:effectRef idx="1">
            <a:schemeClr val="accent1"/>
          </a:effectRef>
          <a:fontRef idx="minor">
            <a:schemeClr val="tx1"/>
          </a:fontRef>
        </p:style>
      </p:cxnSp>
      <p:sp>
        <p:nvSpPr>
          <p:cNvPr id="6" name="Oval 5"/>
          <p:cNvSpPr/>
          <p:nvPr/>
        </p:nvSpPr>
        <p:spPr>
          <a:xfrm>
            <a:off x="1014983" y="2249424"/>
            <a:ext cx="164592" cy="164592"/>
          </a:xfrm>
          <a:prstGeom prst="ellipse">
            <a:avLst/>
          </a:prstGeom>
          <a:solidFill>
            <a:srgbClr val="1450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746504" y="3529584"/>
            <a:ext cx="164592" cy="164592"/>
          </a:xfrm>
          <a:prstGeom prst="ellipse">
            <a:avLst/>
          </a:prstGeom>
          <a:solidFill>
            <a:srgbClr val="1450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1289304" y="4901183"/>
            <a:ext cx="164592" cy="164592"/>
          </a:xfrm>
          <a:prstGeom prst="ellipse">
            <a:avLst/>
          </a:prstGeom>
          <a:solidFill>
            <a:srgbClr val="1450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2478024" y="2798064"/>
            <a:ext cx="164592" cy="164592"/>
          </a:xfrm>
          <a:prstGeom prst="ellipse">
            <a:avLst/>
          </a:prstGeom>
          <a:solidFill>
            <a:srgbClr val="1450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2295144" y="5449824"/>
            <a:ext cx="164592" cy="164592"/>
          </a:xfrm>
          <a:prstGeom prst="ellipse">
            <a:avLst/>
          </a:prstGeom>
          <a:solidFill>
            <a:srgbClr val="1450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2020824" y="4261104"/>
            <a:ext cx="164592" cy="164592"/>
          </a:xfrm>
          <a:prstGeom prst="ellipse">
            <a:avLst/>
          </a:prstGeom>
          <a:solidFill>
            <a:srgbClr val="1450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4306824" y="2157984"/>
            <a:ext cx="164592" cy="164592"/>
          </a:xfrm>
          <a:prstGeom prst="ellipse">
            <a:avLst/>
          </a:prstGeom>
          <a:solidFill>
            <a:srgbClr val="1450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5495544" y="3255264"/>
            <a:ext cx="164592" cy="164592"/>
          </a:xfrm>
          <a:prstGeom prst="ellipse">
            <a:avLst/>
          </a:prstGeom>
          <a:solidFill>
            <a:srgbClr val="1450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4946904" y="4718304"/>
            <a:ext cx="164592" cy="164592"/>
          </a:xfrm>
          <a:prstGeom prst="ellipse">
            <a:avLst/>
          </a:prstGeom>
          <a:solidFill>
            <a:srgbClr val="1450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5769864" y="5449824"/>
            <a:ext cx="164592" cy="164592"/>
          </a:xfrm>
          <a:prstGeom prst="ellipse">
            <a:avLst/>
          </a:prstGeom>
          <a:solidFill>
            <a:srgbClr val="1450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4672583" y="3163824"/>
            <a:ext cx="164592" cy="164592"/>
          </a:xfrm>
          <a:prstGeom prst="ellipse">
            <a:avLst/>
          </a:prstGeom>
          <a:solidFill>
            <a:srgbClr val="1450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3054096" y="3785615"/>
            <a:ext cx="201168" cy="201168"/>
          </a:xfrm>
          <a:prstGeom prst="ellipse">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3602736" y="4059935"/>
            <a:ext cx="201168" cy="201168"/>
          </a:xfrm>
          <a:prstGeom prst="ellipse">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9" name="Connector 18"/>
          <p:cNvCxnSpPr/>
          <p:nvPr/>
        </p:nvCxnSpPr>
        <p:spPr>
          <a:xfrm>
            <a:off x="3154680" y="3886200"/>
            <a:ext cx="548640" cy="274320"/>
          </a:xfrm>
          <a:prstGeom prst="line">
            <a:avLst/>
          </a:prstGeom>
          <a:ln w="25400">
            <a:solidFill>
              <a:srgbClr val="E76F51"/>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1828800" y="3611879"/>
            <a:ext cx="274320" cy="731521"/>
          </a:xfrm>
          <a:prstGeom prst="line">
            <a:avLst/>
          </a:prstGeom>
          <a:ln w="25400">
            <a:solidFill>
              <a:srgbClr val="2A9D8F"/>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H="1" flipV="1">
            <a:off x="4754879" y="3246120"/>
            <a:ext cx="822961" cy="91440"/>
          </a:xfrm>
          <a:prstGeom prst="line">
            <a:avLst/>
          </a:prstGeom>
          <a:ln w="25400">
            <a:solidFill>
              <a:srgbClr val="2A9D8F"/>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731520" y="1645919"/>
            <a:ext cx="1097280" cy="365760"/>
          </a:xfrm>
          <a:prstGeom prst="rect">
            <a:avLst/>
          </a:prstGeom>
          <a:noFill/>
        </p:spPr>
        <p:txBody>
          <a:bodyPr wrap="square" lIns="0" tIns="0" rIns="0" bIns="0" anchor="t">
            <a:spAutoFit/>
          </a:bodyPr>
          <a:lstStyle/>
          <a:p>
            <a:pPr algn="l"/>
            <a:r>
              <a:rPr sz="2000" b="1" i="0">
                <a:solidFill>
                  <a:srgbClr val="14505F"/>
                </a:solidFill>
                <a:latin typeface="Cambria"/>
              </a:rPr>
              <a:t>L</a:t>
            </a:r>
          </a:p>
        </p:txBody>
      </p:sp>
      <p:sp>
        <p:nvSpPr>
          <p:cNvPr id="23" name="TextBox 22"/>
          <p:cNvSpPr txBox="1"/>
          <p:nvPr/>
        </p:nvSpPr>
        <p:spPr>
          <a:xfrm>
            <a:off x="5852160" y="1645919"/>
            <a:ext cx="365760" cy="365760"/>
          </a:xfrm>
          <a:prstGeom prst="rect">
            <a:avLst/>
          </a:prstGeom>
          <a:noFill/>
        </p:spPr>
        <p:txBody>
          <a:bodyPr wrap="square" lIns="0" tIns="0" rIns="0" bIns="0" anchor="t">
            <a:spAutoFit/>
          </a:bodyPr>
          <a:lstStyle/>
          <a:p>
            <a:pPr algn="l"/>
            <a:r>
              <a:rPr sz="2000" b="1" i="0">
                <a:solidFill>
                  <a:srgbClr val="14505F"/>
                </a:solidFill>
                <a:latin typeface="Cambria"/>
              </a:rPr>
              <a:t>R</a:t>
            </a:r>
          </a:p>
        </p:txBody>
      </p:sp>
      <p:sp>
        <p:nvSpPr>
          <p:cNvPr id="24" name="TextBox 23"/>
          <p:cNvSpPr txBox="1"/>
          <p:nvPr/>
        </p:nvSpPr>
        <p:spPr>
          <a:xfrm>
            <a:off x="2788920" y="5715000"/>
            <a:ext cx="1371600" cy="365760"/>
          </a:xfrm>
          <a:prstGeom prst="rect">
            <a:avLst/>
          </a:prstGeom>
          <a:noFill/>
        </p:spPr>
        <p:txBody>
          <a:bodyPr wrap="square" lIns="0" tIns="0" rIns="0" bIns="0" anchor="t">
            <a:spAutoFit/>
          </a:bodyPr>
          <a:lstStyle/>
          <a:p>
            <a:pPr algn="ctr"/>
            <a:r>
              <a:rPr sz="1300" b="1" i="0">
                <a:solidFill>
                  <a:srgbClr val="E76F51"/>
                </a:solidFill>
                <a:latin typeface="Calibri"/>
              </a:rPr>
              <a:t>2δ strip</a:t>
            </a:r>
          </a:p>
        </p:txBody>
      </p:sp>
      <p:sp>
        <p:nvSpPr>
          <p:cNvPr id="25" name="TextBox 24"/>
          <p:cNvSpPr txBox="1"/>
          <p:nvPr/>
        </p:nvSpPr>
        <p:spPr>
          <a:xfrm>
            <a:off x="731520" y="5715000"/>
            <a:ext cx="2377440" cy="365760"/>
          </a:xfrm>
          <a:prstGeom prst="rect">
            <a:avLst/>
          </a:prstGeom>
          <a:noFill/>
        </p:spPr>
        <p:txBody>
          <a:bodyPr wrap="square" lIns="0" tIns="0" rIns="0" bIns="0" anchor="t">
            <a:spAutoFit/>
          </a:bodyPr>
          <a:lstStyle/>
          <a:p>
            <a:pPr algn="l"/>
            <a:r>
              <a:rPr sz="1300" b="1" i="0">
                <a:solidFill>
                  <a:srgbClr val="2A9D8F"/>
                </a:solidFill>
                <a:latin typeface="Calibri"/>
              </a:rPr>
              <a:t>δ = min(δL, δR)</a:t>
            </a:r>
          </a:p>
        </p:txBody>
      </p:sp>
      <p:sp>
        <p:nvSpPr>
          <p:cNvPr id="26" name="Oval 25"/>
          <p:cNvSpPr/>
          <p:nvPr/>
        </p:nvSpPr>
        <p:spPr>
          <a:xfrm>
            <a:off x="6720840" y="1554480"/>
            <a:ext cx="411480" cy="411480"/>
          </a:xfrm>
          <a:prstGeom prst="ellipse">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400" b="1" i="0">
                <a:solidFill>
                  <a:srgbClr val="FFFFFF"/>
                </a:solidFill>
                <a:latin typeface="Cambria"/>
              </a:rPr>
              <a:t>1</a:t>
            </a:r>
          </a:p>
        </p:txBody>
      </p:sp>
      <p:sp>
        <p:nvSpPr>
          <p:cNvPr id="27" name="TextBox 26"/>
          <p:cNvSpPr txBox="1"/>
          <p:nvPr/>
        </p:nvSpPr>
        <p:spPr>
          <a:xfrm>
            <a:off x="7269480" y="1508760"/>
            <a:ext cx="4343400" cy="548640"/>
          </a:xfrm>
          <a:prstGeom prst="rect">
            <a:avLst/>
          </a:prstGeom>
          <a:noFill/>
        </p:spPr>
        <p:txBody>
          <a:bodyPr wrap="square" lIns="0" tIns="0" rIns="0" bIns="0" anchor="ctr">
            <a:spAutoFit/>
          </a:bodyPr>
          <a:lstStyle/>
          <a:p>
            <a:pPr algn="l"/>
            <a:r>
              <a:rPr sz="1500" b="0" i="0">
                <a:solidFill>
                  <a:srgbClr val="1D2B33"/>
                </a:solidFill>
                <a:latin typeface="Calibri"/>
              </a:rPr>
              <a:t>Sort once by x.</a:t>
            </a:r>
          </a:p>
        </p:txBody>
      </p:sp>
      <p:sp>
        <p:nvSpPr>
          <p:cNvPr id="28" name="Oval 27"/>
          <p:cNvSpPr/>
          <p:nvPr/>
        </p:nvSpPr>
        <p:spPr>
          <a:xfrm>
            <a:off x="6720840" y="2212848"/>
            <a:ext cx="411480" cy="411480"/>
          </a:xfrm>
          <a:prstGeom prst="ellipse">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400" b="1" i="0">
                <a:solidFill>
                  <a:srgbClr val="FFFFFF"/>
                </a:solidFill>
                <a:latin typeface="Cambria"/>
              </a:rPr>
              <a:t>2</a:t>
            </a:r>
          </a:p>
        </p:txBody>
      </p:sp>
      <p:sp>
        <p:nvSpPr>
          <p:cNvPr id="29" name="TextBox 28"/>
          <p:cNvSpPr txBox="1"/>
          <p:nvPr/>
        </p:nvSpPr>
        <p:spPr>
          <a:xfrm>
            <a:off x="7269480" y="2167128"/>
            <a:ext cx="4343400" cy="548640"/>
          </a:xfrm>
          <a:prstGeom prst="rect">
            <a:avLst/>
          </a:prstGeom>
          <a:noFill/>
        </p:spPr>
        <p:txBody>
          <a:bodyPr wrap="square" lIns="0" tIns="0" rIns="0" bIns="0" anchor="ctr">
            <a:spAutoFit/>
          </a:bodyPr>
          <a:lstStyle/>
          <a:p>
            <a:pPr algn="l"/>
            <a:r>
              <a:rPr sz="1500" b="0" i="0">
                <a:solidFill>
                  <a:srgbClr val="1D2B33"/>
                </a:solidFill>
                <a:latin typeface="Calibri"/>
              </a:rPr>
              <a:t>Split into L and R; the line is the x of the first point of R.</a:t>
            </a:r>
          </a:p>
        </p:txBody>
      </p:sp>
      <p:sp>
        <p:nvSpPr>
          <p:cNvPr id="30" name="Oval 29"/>
          <p:cNvSpPr/>
          <p:nvPr/>
        </p:nvSpPr>
        <p:spPr>
          <a:xfrm>
            <a:off x="6720840" y="2871215"/>
            <a:ext cx="411480" cy="411480"/>
          </a:xfrm>
          <a:prstGeom prst="ellipse">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400" b="1" i="0">
                <a:solidFill>
                  <a:srgbClr val="FFFFFF"/>
                </a:solidFill>
                <a:latin typeface="Cambria"/>
              </a:rPr>
              <a:t>3</a:t>
            </a:r>
          </a:p>
        </p:txBody>
      </p:sp>
      <p:sp>
        <p:nvSpPr>
          <p:cNvPr id="31" name="TextBox 30"/>
          <p:cNvSpPr txBox="1"/>
          <p:nvPr/>
        </p:nvSpPr>
        <p:spPr>
          <a:xfrm>
            <a:off x="7269480" y="2825496"/>
            <a:ext cx="4343400" cy="548640"/>
          </a:xfrm>
          <a:prstGeom prst="rect">
            <a:avLst/>
          </a:prstGeom>
          <a:noFill/>
        </p:spPr>
        <p:txBody>
          <a:bodyPr wrap="square" lIns="0" tIns="0" rIns="0" bIns="0" anchor="ctr">
            <a:spAutoFit/>
          </a:bodyPr>
          <a:lstStyle/>
          <a:p>
            <a:pPr algn="l"/>
            <a:r>
              <a:rPr sz="1500" b="0" i="0">
                <a:solidFill>
                  <a:srgbClr val="1D2B33"/>
                </a:solidFill>
                <a:latin typeface="Calibri"/>
              </a:rPr>
              <a:t>Solve L and R recursively: δ = min(δL, δR).</a:t>
            </a:r>
          </a:p>
        </p:txBody>
      </p:sp>
      <p:sp>
        <p:nvSpPr>
          <p:cNvPr id="32" name="Oval 31"/>
          <p:cNvSpPr/>
          <p:nvPr/>
        </p:nvSpPr>
        <p:spPr>
          <a:xfrm>
            <a:off x="6720840" y="3529583"/>
            <a:ext cx="411480" cy="411480"/>
          </a:xfrm>
          <a:prstGeom prst="ellipse">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400" b="1" i="0">
                <a:solidFill>
                  <a:srgbClr val="FFFFFF"/>
                </a:solidFill>
                <a:latin typeface="Cambria"/>
              </a:rPr>
              <a:t>4</a:t>
            </a:r>
          </a:p>
        </p:txBody>
      </p:sp>
      <p:sp>
        <p:nvSpPr>
          <p:cNvPr id="33" name="TextBox 32"/>
          <p:cNvSpPr txBox="1"/>
          <p:nvPr/>
        </p:nvSpPr>
        <p:spPr>
          <a:xfrm>
            <a:off x="7269480" y="3483863"/>
            <a:ext cx="4343400" cy="548640"/>
          </a:xfrm>
          <a:prstGeom prst="rect">
            <a:avLst/>
          </a:prstGeom>
          <a:noFill/>
        </p:spPr>
        <p:txBody>
          <a:bodyPr wrap="square" lIns="0" tIns="0" rIns="0" bIns="0" anchor="ctr">
            <a:spAutoFit/>
          </a:bodyPr>
          <a:lstStyle/>
          <a:p>
            <a:pPr algn="l"/>
            <a:r>
              <a:rPr sz="1500" b="0" i="0">
                <a:solidFill>
                  <a:srgbClr val="1D2B33"/>
                </a:solidFill>
                <a:latin typeface="Calibri"/>
              </a:rPr>
              <a:t>Strip: points with (x − line)² &lt; δ².</a:t>
            </a:r>
          </a:p>
        </p:txBody>
      </p:sp>
      <p:sp>
        <p:nvSpPr>
          <p:cNvPr id="34" name="Oval 33"/>
          <p:cNvSpPr/>
          <p:nvPr/>
        </p:nvSpPr>
        <p:spPr>
          <a:xfrm>
            <a:off x="6720840" y="4187951"/>
            <a:ext cx="411480" cy="411480"/>
          </a:xfrm>
          <a:prstGeom prst="ellipse">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400" b="1" i="0">
                <a:solidFill>
                  <a:srgbClr val="FFFFFF"/>
                </a:solidFill>
                <a:latin typeface="Cambria"/>
              </a:rPr>
              <a:t>5</a:t>
            </a:r>
          </a:p>
        </p:txBody>
      </p:sp>
      <p:sp>
        <p:nvSpPr>
          <p:cNvPr id="35" name="TextBox 34"/>
          <p:cNvSpPr txBox="1"/>
          <p:nvPr/>
        </p:nvSpPr>
        <p:spPr>
          <a:xfrm>
            <a:off x="7269480" y="4142231"/>
            <a:ext cx="4343400" cy="548640"/>
          </a:xfrm>
          <a:prstGeom prst="rect">
            <a:avLst/>
          </a:prstGeom>
          <a:noFill/>
        </p:spPr>
        <p:txBody>
          <a:bodyPr wrap="square" lIns="0" tIns="0" rIns="0" bIns="0" anchor="ctr">
            <a:spAutoFit/>
          </a:bodyPr>
          <a:lstStyle/>
          <a:p>
            <a:pPr algn="l"/>
            <a:r>
              <a:rPr sz="1500" b="0" i="0">
                <a:solidFill>
                  <a:srgbClr val="1D2B33"/>
                </a:solidFill>
                <a:latin typeface="Calibri"/>
              </a:rPr>
              <a:t>Sort the strip by y with Merge Sort.</a:t>
            </a:r>
          </a:p>
        </p:txBody>
      </p:sp>
      <p:sp>
        <p:nvSpPr>
          <p:cNvPr id="36" name="Oval 35"/>
          <p:cNvSpPr/>
          <p:nvPr/>
        </p:nvSpPr>
        <p:spPr>
          <a:xfrm>
            <a:off x="6720840" y="4846319"/>
            <a:ext cx="411480" cy="411480"/>
          </a:xfrm>
          <a:prstGeom prst="ellipse">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400" b="1" i="0">
                <a:solidFill>
                  <a:srgbClr val="FFFFFF"/>
                </a:solidFill>
                <a:latin typeface="Cambria"/>
              </a:rPr>
              <a:t>6</a:t>
            </a:r>
          </a:p>
        </p:txBody>
      </p:sp>
      <p:sp>
        <p:nvSpPr>
          <p:cNvPr id="37" name="TextBox 36"/>
          <p:cNvSpPr txBox="1"/>
          <p:nvPr/>
        </p:nvSpPr>
        <p:spPr>
          <a:xfrm>
            <a:off x="7269480" y="4800599"/>
            <a:ext cx="4343400" cy="548640"/>
          </a:xfrm>
          <a:prstGeom prst="rect">
            <a:avLst/>
          </a:prstGeom>
          <a:noFill/>
        </p:spPr>
        <p:txBody>
          <a:bodyPr wrap="square" lIns="0" tIns="0" rIns="0" bIns="0" anchor="ctr">
            <a:spAutoFit/>
          </a:bodyPr>
          <a:lstStyle/>
          <a:p>
            <a:pPr algn="l"/>
            <a:r>
              <a:rPr sz="1500" b="0" i="0">
                <a:solidFill>
                  <a:srgbClr val="1D2B33"/>
                </a:solidFill>
                <a:latin typeface="Calibri"/>
              </a:rPr>
              <a:t>Compare each with ≤ 7 next points; stop if Δy ≥ δ.</a:t>
            </a:r>
          </a:p>
        </p:txBody>
      </p:sp>
      <p:sp>
        <p:nvSpPr>
          <p:cNvPr id="38" name="Rounded Rectangle 37"/>
          <p:cNvSpPr/>
          <p:nvPr/>
        </p:nvSpPr>
        <p:spPr>
          <a:xfrm>
            <a:off x="6720840" y="5623560"/>
            <a:ext cx="4892040" cy="548640"/>
          </a:xfrm>
          <a:prstGeom prst="roundRect">
            <a:avLst>
              <a:gd name="adj" fmla="val 8000"/>
            </a:avLst>
          </a:prstGeom>
          <a:solidFill>
            <a:srgbClr val="FBEDE8"/>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r>
              <a:rPr sz="1500" b="1" i="0">
                <a:solidFill>
                  <a:srgbClr val="1D2B33"/>
                </a:solidFill>
                <a:latin typeface="Calibri"/>
              </a:rPr>
              <a:t>If |P| ≤ 3: compare every pair</a:t>
            </a:r>
          </a:p>
        </p:txBody>
      </p:sp>
      <p:sp>
        <p:nvSpPr>
          <p:cNvPr id="39" name="TextBox 38"/>
          <p:cNvSpPr txBox="1"/>
          <p:nvPr/>
        </p:nvSpPr>
        <p:spPr>
          <a:xfrm>
            <a:off x="10881360" y="6400800"/>
            <a:ext cx="822960" cy="274320"/>
          </a:xfrm>
          <a:prstGeom prst="rect">
            <a:avLst/>
          </a:prstGeom>
          <a:noFill/>
        </p:spPr>
        <p:txBody>
          <a:bodyPr wrap="square" lIns="0" tIns="0" rIns="0" bIns="0" anchor="t">
            <a:spAutoFit/>
          </a:bodyPr>
          <a:lstStyle/>
          <a:p>
            <a:pPr algn="r"/>
            <a:r>
              <a:rPr sz="1100" b="0" i="0">
                <a:solidFill>
                  <a:srgbClr val="5B6B73"/>
                </a:solidFill>
                <a:latin typeface="Calibri"/>
              </a:rPr>
              <a:t>14</a:t>
            </a:r>
          </a:p>
        </p:txBody>
      </p:sp>
      <p:sp>
        <p:nvSpPr>
          <p:cNvPr id="40" name="TextBox 39"/>
          <p:cNvSpPr txBox="1"/>
          <p:nvPr/>
        </p:nvSpPr>
        <p:spPr>
          <a:xfrm>
            <a:off x="548640" y="6400800"/>
            <a:ext cx="7315200" cy="274320"/>
          </a:xfrm>
          <a:prstGeom prst="rect">
            <a:avLst/>
          </a:prstGeom>
          <a:noFill/>
        </p:spPr>
        <p:txBody>
          <a:bodyPr wrap="square" lIns="0" tIns="0" rIns="0" bIns="0" anchor="t">
            <a:spAutoFit/>
          </a:bodyPr>
          <a:lstStyle/>
          <a:p>
            <a:pPr algn="l"/>
            <a:r>
              <a:rPr sz="1100" b="0" i="0">
                <a:solidFill>
                  <a:srgbClr val="5B6B73"/>
                </a:solidFill>
                <a:latin typeface="Calibri"/>
              </a:rPr>
              <a:t>CyED II · Integrative Assignment 1 · Divide and conquer in Scala</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47472"/>
            <a:ext cx="11064240" cy="731520"/>
          </a:xfrm>
          <a:prstGeom prst="rect">
            <a:avLst/>
          </a:prstGeom>
          <a:noFill/>
        </p:spPr>
        <p:txBody>
          <a:bodyPr wrap="square" lIns="0" tIns="0" rIns="0" bIns="0" anchor="b">
            <a:spAutoFit/>
          </a:bodyPr>
          <a:lstStyle/>
          <a:p>
            <a:pPr algn="l"/>
            <a:r>
              <a:rPr sz="3400" b="1" i="0">
                <a:solidFill>
                  <a:srgbClr val="1D2B33"/>
                </a:solidFill>
                <a:latin typeface="Cambria"/>
              </a:rPr>
              <a:t>Why are 7 neighbours in the strip enough?</a:t>
            </a:r>
          </a:p>
        </p:txBody>
      </p:sp>
      <p:sp>
        <p:nvSpPr>
          <p:cNvPr id="3" name="Rectangle 2"/>
          <p:cNvSpPr/>
          <p:nvPr/>
        </p:nvSpPr>
        <p:spPr>
          <a:xfrm>
            <a:off x="822960" y="1737360"/>
            <a:ext cx="960120" cy="960120"/>
          </a:xfrm>
          <a:prstGeom prst="rect">
            <a:avLst/>
          </a:prstGeom>
          <a:solidFill>
            <a:srgbClr val="EAF3F1"/>
          </a:solidFill>
          <a:ln w="15875">
            <a:solidFill>
              <a:srgbClr val="9FB8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783080" y="1737360"/>
            <a:ext cx="960120" cy="960120"/>
          </a:xfrm>
          <a:prstGeom prst="rect">
            <a:avLst/>
          </a:prstGeom>
          <a:solidFill>
            <a:srgbClr val="EAF3F1"/>
          </a:solidFill>
          <a:ln w="15875">
            <a:solidFill>
              <a:srgbClr val="9FB8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2743200" y="1737360"/>
            <a:ext cx="960120" cy="960120"/>
          </a:xfrm>
          <a:prstGeom prst="rect">
            <a:avLst/>
          </a:prstGeom>
          <a:solidFill>
            <a:srgbClr val="F7D9CF"/>
          </a:solidFill>
          <a:ln w="15875">
            <a:solidFill>
              <a:srgbClr val="9FB8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3703320" y="1737360"/>
            <a:ext cx="960120" cy="960120"/>
          </a:xfrm>
          <a:prstGeom prst="rect">
            <a:avLst/>
          </a:prstGeom>
          <a:solidFill>
            <a:srgbClr val="F7D9CF"/>
          </a:solidFill>
          <a:ln w="15875">
            <a:solidFill>
              <a:srgbClr val="9FB8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822960" y="2697480"/>
            <a:ext cx="960120" cy="960120"/>
          </a:xfrm>
          <a:prstGeom prst="rect">
            <a:avLst/>
          </a:prstGeom>
          <a:solidFill>
            <a:srgbClr val="EAF3F1"/>
          </a:solidFill>
          <a:ln w="15875">
            <a:solidFill>
              <a:srgbClr val="9FB8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1783080" y="2697480"/>
            <a:ext cx="960120" cy="960120"/>
          </a:xfrm>
          <a:prstGeom prst="rect">
            <a:avLst/>
          </a:prstGeom>
          <a:solidFill>
            <a:srgbClr val="EAF3F1"/>
          </a:solidFill>
          <a:ln w="15875">
            <a:solidFill>
              <a:srgbClr val="9FB8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2743200" y="2697480"/>
            <a:ext cx="960120" cy="960120"/>
          </a:xfrm>
          <a:prstGeom prst="rect">
            <a:avLst/>
          </a:prstGeom>
          <a:solidFill>
            <a:srgbClr val="F7D9CF"/>
          </a:solidFill>
          <a:ln w="15875">
            <a:solidFill>
              <a:srgbClr val="9FB8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3703320" y="2697480"/>
            <a:ext cx="960120" cy="960120"/>
          </a:xfrm>
          <a:prstGeom prst="rect">
            <a:avLst/>
          </a:prstGeom>
          <a:solidFill>
            <a:srgbClr val="F7D9CF"/>
          </a:solidFill>
          <a:ln w="15875">
            <a:solidFill>
              <a:srgbClr val="9FB8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1" name="Connector 10"/>
          <p:cNvCxnSpPr/>
          <p:nvPr/>
        </p:nvCxnSpPr>
        <p:spPr>
          <a:xfrm>
            <a:off x="2743200" y="1508760"/>
            <a:ext cx="0" cy="2377440"/>
          </a:xfrm>
          <a:prstGeom prst="line">
            <a:avLst/>
          </a:prstGeom>
          <a:ln w="28575">
            <a:solidFill>
              <a:srgbClr val="0B3C49"/>
            </a:solidFill>
            <a:prstDash val="dash"/>
          </a:ln>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1051560" y="3200400"/>
            <a:ext cx="201168" cy="201168"/>
          </a:xfrm>
          <a:prstGeom prst="ellipse">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298448" y="3108960"/>
            <a:ext cx="365760" cy="320040"/>
          </a:xfrm>
          <a:prstGeom prst="rect">
            <a:avLst/>
          </a:prstGeom>
          <a:noFill/>
        </p:spPr>
        <p:txBody>
          <a:bodyPr wrap="square" lIns="0" tIns="0" rIns="0" bIns="0" anchor="t">
            <a:spAutoFit/>
          </a:bodyPr>
          <a:lstStyle/>
          <a:p>
            <a:pPr algn="l"/>
            <a:r>
              <a:rPr sz="1600" b="1" i="0">
                <a:solidFill>
                  <a:srgbClr val="E76F51"/>
                </a:solidFill>
                <a:latin typeface="Cambria"/>
              </a:rPr>
              <a:t>p</a:t>
            </a:r>
          </a:p>
        </p:txBody>
      </p:sp>
      <p:sp>
        <p:nvSpPr>
          <p:cNvPr id="14" name="TextBox 13"/>
          <p:cNvSpPr txBox="1"/>
          <p:nvPr/>
        </p:nvSpPr>
        <p:spPr>
          <a:xfrm>
            <a:off x="822960" y="3931920"/>
            <a:ext cx="3840480" cy="365760"/>
          </a:xfrm>
          <a:prstGeom prst="rect">
            <a:avLst/>
          </a:prstGeom>
          <a:noFill/>
        </p:spPr>
        <p:txBody>
          <a:bodyPr wrap="square" lIns="0" tIns="0" rIns="0" bIns="0" anchor="t">
            <a:spAutoFit/>
          </a:bodyPr>
          <a:lstStyle/>
          <a:p>
            <a:pPr algn="ctr"/>
            <a:r>
              <a:rPr sz="1400" b="0" i="0">
                <a:solidFill>
                  <a:srgbClr val="5B6B73"/>
                </a:solidFill>
                <a:latin typeface="Calibri"/>
              </a:rPr>
              <a:t>2δ wide</a:t>
            </a:r>
          </a:p>
        </p:txBody>
      </p:sp>
      <p:sp>
        <p:nvSpPr>
          <p:cNvPr id="15" name="TextBox 14"/>
          <p:cNvSpPr txBox="1"/>
          <p:nvPr/>
        </p:nvSpPr>
        <p:spPr>
          <a:xfrm>
            <a:off x="4754880" y="2468880"/>
            <a:ext cx="731520" cy="365760"/>
          </a:xfrm>
          <a:prstGeom prst="rect">
            <a:avLst/>
          </a:prstGeom>
          <a:noFill/>
        </p:spPr>
        <p:txBody>
          <a:bodyPr wrap="square" lIns="0" tIns="0" rIns="0" bIns="0" anchor="t">
            <a:spAutoFit/>
          </a:bodyPr>
          <a:lstStyle/>
          <a:p>
            <a:pPr algn="l"/>
            <a:r>
              <a:rPr sz="1600" b="1" i="0">
                <a:solidFill>
                  <a:srgbClr val="5B6B73"/>
                </a:solidFill>
                <a:latin typeface="Calibri"/>
              </a:rPr>
              <a:t>δ</a:t>
            </a:r>
          </a:p>
        </p:txBody>
      </p:sp>
      <p:sp>
        <p:nvSpPr>
          <p:cNvPr id="16" name="TextBox 15"/>
          <p:cNvSpPr txBox="1"/>
          <p:nvPr/>
        </p:nvSpPr>
        <p:spPr>
          <a:xfrm>
            <a:off x="822960" y="4297680"/>
            <a:ext cx="4389120" cy="731520"/>
          </a:xfrm>
          <a:prstGeom prst="rect">
            <a:avLst/>
          </a:prstGeom>
          <a:noFill/>
        </p:spPr>
        <p:txBody>
          <a:bodyPr wrap="square" lIns="0" tIns="0" rIns="0" bIns="0" anchor="t">
            <a:spAutoFit/>
          </a:bodyPr>
          <a:lstStyle/>
          <a:p>
            <a:pPr algn="ctr"/>
            <a:r>
              <a:rPr sz="1600" b="1" i="0">
                <a:solidFill>
                  <a:srgbClr val="1D2B33"/>
                </a:solidFill>
                <a:latin typeface="Cambria"/>
              </a:rPr>
              <a:t>8 squares of side δ/2</a:t>
            </a:r>
          </a:p>
        </p:txBody>
      </p:sp>
      <p:sp>
        <p:nvSpPr>
          <p:cNvPr id="17" name="Rounded Rectangle 16"/>
          <p:cNvSpPr/>
          <p:nvPr/>
        </p:nvSpPr>
        <p:spPr>
          <a:xfrm>
            <a:off x="5486400" y="1508760"/>
            <a:ext cx="6126480" cy="2514600"/>
          </a:xfrm>
          <a:prstGeom prst="roundRect">
            <a:avLst>
              <a:gd name="adj" fmla="val 8000"/>
            </a:avLst>
          </a:prstGeom>
          <a:solidFill>
            <a:srgbClr val="EA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760720" y="1645920"/>
            <a:ext cx="5577840" cy="2286000"/>
          </a:xfrm>
          <a:prstGeom prst="rect">
            <a:avLst/>
          </a:prstGeom>
          <a:noFill/>
        </p:spPr>
        <p:txBody>
          <a:bodyPr wrap="square" lIns="0" tIns="0" rIns="0" bIns="0" anchor="t">
            <a:spAutoFit/>
          </a:bodyPr>
          <a:lstStyle/>
          <a:p>
            <a:pPr algn="l">
              <a:spcAft>
                <a:spcPts val="800"/>
              </a:spcAft>
            </a:pPr>
            <a:r>
              <a:rPr sz="1900" b="1" i="0">
                <a:solidFill>
                  <a:srgbClr val="1D2B33"/>
                </a:solidFill>
                <a:latin typeface="Cambria"/>
              </a:rPr>
              <a:t>Strip lemma</a:t>
            </a:r>
          </a:p>
          <a:p>
            <a:pPr algn="l">
              <a:spcAft>
                <a:spcPts val="800"/>
              </a:spcAft>
            </a:pPr>
            <a:r>
              <a:rPr sz="1500" b="0" i="0">
                <a:solidFill>
                  <a:srgbClr val="1D2B33"/>
                </a:solidFill>
                <a:latin typeface="Calibri"/>
              </a:rPr>
              <a:t>If p ∈ L and q ∈ R are closer than δ, both are in the strip and at most 7 positions apart in y-order.</a:t>
            </a:r>
          </a:p>
          <a:p>
            <a:pPr algn="l">
              <a:spcAft>
                <a:spcPts val="800"/>
              </a:spcAft>
            </a:pPr>
            <a:r>
              <a:rPr sz="1500" b="0" i="0">
                <a:solidFill>
                  <a:srgbClr val="1D2B33"/>
                </a:solidFill>
                <a:latin typeface="Calibri"/>
              </a:rPr>
              <a:t>Two points of the same half cannot share a square: they would be ≤ δ/√2 &lt; δ apart. Contradiction. So the rectangle holds at most 8 points, p included.</a:t>
            </a:r>
          </a:p>
        </p:txBody>
      </p:sp>
      <p:sp>
        <p:nvSpPr>
          <p:cNvPr id="19" name="Rounded Rectangle 18"/>
          <p:cNvSpPr/>
          <p:nvPr/>
        </p:nvSpPr>
        <p:spPr>
          <a:xfrm>
            <a:off x="5486400" y="4206240"/>
            <a:ext cx="6126480" cy="1965960"/>
          </a:xfrm>
          <a:prstGeom prst="roundRect">
            <a:avLst>
              <a:gd name="adj" fmla="val 8000"/>
            </a:avLst>
          </a:prstGeom>
          <a:solidFill>
            <a:srgbClr val="0B3C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760720" y="4297680"/>
            <a:ext cx="5577840" cy="1783080"/>
          </a:xfrm>
          <a:prstGeom prst="rect">
            <a:avLst/>
          </a:prstGeom>
          <a:noFill/>
        </p:spPr>
        <p:txBody>
          <a:bodyPr wrap="square" lIns="0" tIns="0" rIns="0" bIns="0" anchor="ctr">
            <a:spAutoFit/>
          </a:bodyPr>
          <a:lstStyle/>
          <a:p>
            <a:pPr algn="l">
              <a:spcAft>
                <a:spcPts val="800"/>
              </a:spcAft>
            </a:pPr>
            <a:r>
              <a:rPr sz="1900" b="1" i="0">
                <a:solidFill>
                  <a:srgbClr val="E9C46A"/>
                </a:solidFill>
                <a:latin typeface="Cambria"/>
              </a:rPr>
              <a:t>Design decision: keep it simple</a:t>
            </a:r>
          </a:p>
          <a:p>
            <a:pPr algn="l">
              <a:spcAft>
                <a:spcPts val="800"/>
              </a:spcAft>
            </a:pPr>
            <a:r>
              <a:rPr sz="1500" b="0" i="0">
                <a:solidFill>
                  <a:srgbClr val="FFFFFF"/>
                </a:solidFill>
                <a:latin typeface="Calibri"/>
              </a:rPr>
              <a:t>Re-sorting the strip by y in every call gives </a:t>
            </a:r>
            <a:r>
              <a:rPr sz="1500" b="1" i="0">
                <a:solidFill>
                  <a:srgbClr val="FFFFFF"/>
                </a:solidFill>
                <a:latin typeface="Calibri"/>
              </a:rPr>
              <a:t>Θ(n log² n)</a:t>
            </a:r>
            <a:r>
              <a:rPr sz="1500" b="0" i="0">
                <a:solidFill>
                  <a:srgbClr val="FFFFFF"/>
                </a:solidFill>
                <a:latin typeface="Calibri"/>
              </a:rPr>
              <a:t>. Merging y-sorted halves instead would give </a:t>
            </a:r>
            <a:r>
              <a:rPr sz="1500" b="1" i="0">
                <a:solidFill>
                  <a:srgbClr val="E9C46A"/>
                </a:solidFill>
                <a:latin typeface="Calibri"/>
              </a:rPr>
              <a:t>Θ(n log n)</a:t>
            </a:r>
            <a:r>
              <a:rPr sz="1500" b="0" i="0">
                <a:solidFill>
                  <a:srgbClr val="FFFFFF"/>
                </a:solidFill>
                <a:latin typeface="Calibri"/>
              </a:rPr>
              <a:t>; the simpler version was kept.</a:t>
            </a:r>
          </a:p>
        </p:txBody>
      </p:sp>
      <p:sp>
        <p:nvSpPr>
          <p:cNvPr id="21" name="TextBox 20"/>
          <p:cNvSpPr txBox="1"/>
          <p:nvPr/>
        </p:nvSpPr>
        <p:spPr>
          <a:xfrm>
            <a:off x="10881360" y="6400800"/>
            <a:ext cx="822960" cy="274320"/>
          </a:xfrm>
          <a:prstGeom prst="rect">
            <a:avLst/>
          </a:prstGeom>
          <a:noFill/>
        </p:spPr>
        <p:txBody>
          <a:bodyPr wrap="square" lIns="0" tIns="0" rIns="0" bIns="0" anchor="t">
            <a:spAutoFit/>
          </a:bodyPr>
          <a:lstStyle/>
          <a:p>
            <a:pPr algn="r"/>
            <a:r>
              <a:rPr sz="1100" b="0" i="0">
                <a:solidFill>
                  <a:srgbClr val="5B6B73"/>
                </a:solidFill>
                <a:latin typeface="Calibri"/>
              </a:rPr>
              <a:t>15</a:t>
            </a:r>
          </a:p>
        </p:txBody>
      </p:sp>
      <p:sp>
        <p:nvSpPr>
          <p:cNvPr id="22" name="TextBox 21"/>
          <p:cNvSpPr txBox="1"/>
          <p:nvPr/>
        </p:nvSpPr>
        <p:spPr>
          <a:xfrm>
            <a:off x="548640" y="6400800"/>
            <a:ext cx="7315200" cy="274320"/>
          </a:xfrm>
          <a:prstGeom prst="rect">
            <a:avLst/>
          </a:prstGeom>
          <a:noFill/>
        </p:spPr>
        <p:txBody>
          <a:bodyPr wrap="square" lIns="0" tIns="0" rIns="0" bIns="0" anchor="t">
            <a:spAutoFit/>
          </a:bodyPr>
          <a:lstStyle/>
          <a:p>
            <a:pPr algn="l"/>
            <a:r>
              <a:rPr sz="1100" b="0" i="0">
                <a:solidFill>
                  <a:srgbClr val="5B6B73"/>
                </a:solidFill>
                <a:latin typeface="Calibri"/>
              </a:rPr>
              <a:t>CyED II · Integrative Assignment 1 · Divide and conquer in Scala</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B3C49"/>
        </a:solidFill>
        <a:effectLst/>
      </p:bgPr>
    </p:bg>
    <p:spTree>
      <p:nvGrpSpPr>
        <p:cNvPr id="1" name=""/>
        <p:cNvGrpSpPr/>
        <p:nvPr/>
      </p:nvGrpSpPr>
      <p:grpSpPr>
        <a:xfrm>
          <a:off x="0" y="0"/>
          <a:ext cx="0" cy="0"/>
          <a:chOff x="0" y="0"/>
          <a:chExt cx="0" cy="0"/>
        </a:xfrm>
      </p:grpSpPr>
      <p:sp>
        <p:nvSpPr>
          <p:cNvPr id="2" name="TextBox 1"/>
          <p:cNvSpPr txBox="1"/>
          <p:nvPr/>
        </p:nvSpPr>
        <p:spPr>
          <a:xfrm>
            <a:off x="822960" y="1737360"/>
            <a:ext cx="3657600" cy="1463040"/>
          </a:xfrm>
          <a:prstGeom prst="rect">
            <a:avLst/>
          </a:prstGeom>
          <a:noFill/>
        </p:spPr>
        <p:txBody>
          <a:bodyPr wrap="square" lIns="0" tIns="0" rIns="0" bIns="0" anchor="t">
            <a:spAutoFit/>
          </a:bodyPr>
          <a:lstStyle/>
          <a:p>
            <a:pPr algn="l"/>
            <a:r>
              <a:rPr sz="11000" b="1" i="0">
                <a:solidFill>
                  <a:srgbClr val="E9C46A"/>
                </a:solidFill>
                <a:latin typeface="Cambria"/>
              </a:rPr>
              <a:t>04</a:t>
            </a:r>
          </a:p>
        </p:txBody>
      </p:sp>
      <p:sp>
        <p:nvSpPr>
          <p:cNvPr id="3" name="TextBox 2"/>
          <p:cNvSpPr txBox="1"/>
          <p:nvPr/>
        </p:nvSpPr>
        <p:spPr>
          <a:xfrm>
            <a:off x="822960" y="3337560"/>
            <a:ext cx="10058400" cy="914400"/>
          </a:xfrm>
          <a:prstGeom prst="rect">
            <a:avLst/>
          </a:prstGeom>
          <a:noFill/>
        </p:spPr>
        <p:txBody>
          <a:bodyPr wrap="square" lIns="0" tIns="0" rIns="0" bIns="0" anchor="t">
            <a:spAutoFit/>
          </a:bodyPr>
          <a:lstStyle/>
          <a:p>
            <a:pPr algn="l"/>
            <a:r>
              <a:rPr sz="4400" b="1" i="0">
                <a:solidFill>
                  <a:srgbClr val="FFFFFF"/>
                </a:solidFill>
                <a:latin typeface="Cambria"/>
              </a:rPr>
              <a:t>Validation and experiments</a:t>
            </a:r>
          </a:p>
        </p:txBody>
      </p:sp>
      <p:sp>
        <p:nvSpPr>
          <p:cNvPr id="4" name="TextBox 3"/>
          <p:cNvSpPr txBox="1"/>
          <p:nvPr/>
        </p:nvSpPr>
        <p:spPr>
          <a:xfrm>
            <a:off x="822960" y="4251960"/>
            <a:ext cx="10058400" cy="548640"/>
          </a:xfrm>
          <a:prstGeom prst="rect">
            <a:avLst/>
          </a:prstGeom>
          <a:noFill/>
        </p:spPr>
        <p:txBody>
          <a:bodyPr wrap="square" lIns="0" tIns="0" rIns="0" bIns="0" anchor="t">
            <a:spAutoFit/>
          </a:bodyPr>
          <a:lstStyle/>
          <a:p>
            <a:pPr algn="l"/>
            <a:r>
              <a:rPr sz="2000" b="0" i="1">
                <a:solidFill>
                  <a:srgbClr val="BFD6DB"/>
                </a:solidFill>
                <a:latin typeface="Calibri"/>
              </a:rPr>
              <a:t>Oracle tests and measured times</a:t>
            </a:r>
          </a:p>
        </p:txBody>
      </p:sp>
      <p:sp>
        <p:nvSpPr>
          <p:cNvPr id="5" name="TextBox 4"/>
          <p:cNvSpPr txBox="1"/>
          <p:nvPr/>
        </p:nvSpPr>
        <p:spPr>
          <a:xfrm>
            <a:off x="10881360" y="6400800"/>
            <a:ext cx="822960" cy="274320"/>
          </a:xfrm>
          <a:prstGeom prst="rect">
            <a:avLst/>
          </a:prstGeom>
          <a:noFill/>
        </p:spPr>
        <p:txBody>
          <a:bodyPr wrap="square" lIns="0" tIns="0" rIns="0" bIns="0" anchor="t">
            <a:spAutoFit/>
          </a:bodyPr>
          <a:lstStyle/>
          <a:p>
            <a:pPr algn="r"/>
            <a:r>
              <a:rPr sz="1100" b="0" i="0">
                <a:solidFill>
                  <a:srgbClr val="9FB8BF"/>
                </a:solidFill>
                <a:latin typeface="Calibri"/>
              </a:rPr>
              <a:t>16</a:t>
            </a:r>
          </a:p>
        </p:txBody>
      </p:sp>
      <p:sp>
        <p:nvSpPr>
          <p:cNvPr id="6" name="TextBox 5"/>
          <p:cNvSpPr txBox="1"/>
          <p:nvPr/>
        </p:nvSpPr>
        <p:spPr>
          <a:xfrm>
            <a:off x="548640" y="6400800"/>
            <a:ext cx="7315200" cy="274320"/>
          </a:xfrm>
          <a:prstGeom prst="rect">
            <a:avLst/>
          </a:prstGeom>
          <a:noFill/>
        </p:spPr>
        <p:txBody>
          <a:bodyPr wrap="square" lIns="0" tIns="0" rIns="0" bIns="0" anchor="t">
            <a:spAutoFit/>
          </a:bodyPr>
          <a:lstStyle/>
          <a:p>
            <a:pPr algn="l"/>
            <a:r>
              <a:rPr sz="1100" b="0" i="0">
                <a:solidFill>
                  <a:srgbClr val="9FB8BF"/>
                </a:solidFill>
                <a:latin typeface="Calibri"/>
              </a:rPr>
              <a:t>CyED II · Integrative Assignment 1 · Divide and conquer in Scala</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47472"/>
            <a:ext cx="11064240" cy="731520"/>
          </a:xfrm>
          <a:prstGeom prst="rect">
            <a:avLst/>
          </a:prstGeom>
          <a:noFill/>
        </p:spPr>
        <p:txBody>
          <a:bodyPr wrap="square" lIns="0" tIns="0" rIns="0" bIns="0" anchor="b">
            <a:spAutoFit/>
          </a:bodyPr>
          <a:lstStyle/>
          <a:p>
            <a:pPr algn="l"/>
            <a:r>
              <a:rPr sz="3400" b="1" i="0">
                <a:solidFill>
                  <a:srgbClr val="1D2B33"/>
                </a:solidFill>
                <a:latin typeface="Cambria"/>
              </a:rPr>
              <a:t>Tests against brute-force oracles</a:t>
            </a:r>
          </a:p>
        </p:txBody>
      </p:sp>
      <p:sp>
        <p:nvSpPr>
          <p:cNvPr id="3" name="Rounded Rectangle 2"/>
          <p:cNvSpPr/>
          <p:nvPr/>
        </p:nvSpPr>
        <p:spPr>
          <a:xfrm>
            <a:off x="548640" y="1508760"/>
            <a:ext cx="3474720" cy="1737360"/>
          </a:xfrm>
          <a:prstGeom prst="roundRect">
            <a:avLst>
              <a:gd name="adj" fmla="val 8000"/>
            </a:avLst>
          </a:prstGeom>
          <a:solidFill>
            <a:srgbClr val="0B3C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22959" y="1600200"/>
            <a:ext cx="2926080" cy="707886"/>
          </a:xfrm>
          <a:prstGeom prst="rect">
            <a:avLst/>
          </a:prstGeom>
          <a:noFill/>
        </p:spPr>
        <p:txBody>
          <a:bodyPr wrap="square" lIns="0" tIns="0" rIns="0" bIns="0" anchor="t">
            <a:spAutoFit/>
          </a:bodyPr>
          <a:lstStyle/>
          <a:p>
            <a:r>
              <a:rPr sz="4600" b="1" i="0" dirty="0">
                <a:solidFill>
                  <a:srgbClr val="E9C46A"/>
                </a:solidFill>
                <a:latin typeface="Cambria"/>
              </a:rPr>
              <a:t>3,280</a:t>
            </a:r>
            <a:endParaRPr sz="4600" b="1" i="0" dirty="0">
              <a:solidFill>
                <a:srgbClr val="E9C46A"/>
              </a:solidFill>
              <a:latin typeface="Cambria"/>
            </a:endParaRPr>
          </a:p>
        </p:txBody>
      </p:sp>
      <p:sp>
        <p:nvSpPr>
          <p:cNvPr id="5" name="TextBox 4"/>
          <p:cNvSpPr txBox="1"/>
          <p:nvPr/>
        </p:nvSpPr>
        <p:spPr>
          <a:xfrm>
            <a:off x="822959" y="2468880"/>
            <a:ext cx="2926080" cy="731520"/>
          </a:xfrm>
          <a:prstGeom prst="rect">
            <a:avLst/>
          </a:prstGeom>
          <a:noFill/>
        </p:spPr>
        <p:txBody>
          <a:bodyPr wrap="square" lIns="0" tIns="0" rIns="0" bIns="0" anchor="t">
            <a:spAutoFit/>
          </a:bodyPr>
          <a:lstStyle/>
          <a:p>
            <a:pPr algn="l"/>
            <a:r>
              <a:rPr sz="1400" b="0" i="0">
                <a:solidFill>
                  <a:srgbClr val="FFFFFF"/>
                </a:solidFill>
                <a:latin typeface="Calibri"/>
              </a:rPr>
              <a:t>exhaustive lists of length 0–7 over {−1, 0, 1} (INV-04, QS-03)</a:t>
            </a:r>
          </a:p>
        </p:txBody>
      </p:sp>
      <p:sp>
        <p:nvSpPr>
          <p:cNvPr id="6" name="Rounded Rectangle 5"/>
          <p:cNvSpPr/>
          <p:nvPr/>
        </p:nvSpPr>
        <p:spPr>
          <a:xfrm>
            <a:off x="4297679" y="1508760"/>
            <a:ext cx="3474720" cy="1737360"/>
          </a:xfrm>
          <a:prstGeom prst="roundRect">
            <a:avLst>
              <a:gd name="adj" fmla="val 8000"/>
            </a:avLst>
          </a:prstGeom>
          <a:solidFill>
            <a:srgbClr val="0B3C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1999" y="1600200"/>
            <a:ext cx="2926080" cy="868680"/>
          </a:xfrm>
          <a:prstGeom prst="rect">
            <a:avLst/>
          </a:prstGeom>
          <a:noFill/>
        </p:spPr>
        <p:txBody>
          <a:bodyPr wrap="square" lIns="0" tIns="0" rIns="0" bIns="0" anchor="t">
            <a:spAutoFit/>
          </a:bodyPr>
          <a:lstStyle/>
          <a:p>
            <a:pPr algn="l"/>
            <a:r>
              <a:rPr sz="4600" b="1" i="0">
                <a:solidFill>
                  <a:srgbClr val="E9C46A"/>
                </a:solidFill>
                <a:latin typeface="Cambria"/>
              </a:rPr>
              <a:t>300</a:t>
            </a:r>
          </a:p>
        </p:txBody>
      </p:sp>
      <p:sp>
        <p:nvSpPr>
          <p:cNvPr id="8" name="TextBox 7"/>
          <p:cNvSpPr txBox="1"/>
          <p:nvPr/>
        </p:nvSpPr>
        <p:spPr>
          <a:xfrm>
            <a:off x="4571999" y="2468880"/>
            <a:ext cx="2926080" cy="731520"/>
          </a:xfrm>
          <a:prstGeom prst="rect">
            <a:avLst/>
          </a:prstGeom>
          <a:noFill/>
        </p:spPr>
        <p:txBody>
          <a:bodyPr wrap="square" lIns="0" tIns="0" rIns="0" bIns="0" anchor="t">
            <a:spAutoFit/>
          </a:bodyPr>
          <a:lstStyle/>
          <a:p>
            <a:pPr algn="l"/>
            <a:r>
              <a:rPr sz="1400" b="0" i="0">
                <a:solidFill>
                  <a:srgbClr val="FFFFFF"/>
                </a:solidFill>
                <a:latin typeface="Calibri"/>
              </a:rPr>
              <a:t>random sets of 2–80 points, relative error &lt; 10⁻¹⁰ (CP-07)</a:t>
            </a:r>
          </a:p>
        </p:txBody>
      </p:sp>
      <p:sp>
        <p:nvSpPr>
          <p:cNvPr id="9" name="Rounded Rectangle 8"/>
          <p:cNvSpPr/>
          <p:nvPr/>
        </p:nvSpPr>
        <p:spPr>
          <a:xfrm>
            <a:off x="8046719" y="1508760"/>
            <a:ext cx="3474720" cy="1737360"/>
          </a:xfrm>
          <a:prstGeom prst="roundRect">
            <a:avLst>
              <a:gd name="adj" fmla="val 8000"/>
            </a:avLst>
          </a:prstGeom>
          <a:solidFill>
            <a:srgbClr val="0B3C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321040" y="1600200"/>
            <a:ext cx="2926080" cy="868680"/>
          </a:xfrm>
          <a:prstGeom prst="rect">
            <a:avLst/>
          </a:prstGeom>
          <a:noFill/>
        </p:spPr>
        <p:txBody>
          <a:bodyPr wrap="square" lIns="0" tIns="0" rIns="0" bIns="0" anchor="t">
            <a:spAutoFit/>
          </a:bodyPr>
          <a:lstStyle/>
          <a:p>
            <a:pPr algn="l"/>
            <a:r>
              <a:rPr sz="4600" b="1" i="0">
                <a:solidFill>
                  <a:srgbClr val="E9C46A"/>
                </a:solidFill>
                <a:latin typeface="Cambria"/>
              </a:rPr>
              <a:t>20</a:t>
            </a:r>
          </a:p>
        </p:txBody>
      </p:sp>
      <p:sp>
        <p:nvSpPr>
          <p:cNvPr id="11" name="TextBox 10"/>
          <p:cNvSpPr txBox="1"/>
          <p:nvPr/>
        </p:nvSpPr>
        <p:spPr>
          <a:xfrm>
            <a:off x="8321040" y="2468880"/>
            <a:ext cx="2926080" cy="731520"/>
          </a:xfrm>
          <a:prstGeom prst="rect">
            <a:avLst/>
          </a:prstGeom>
          <a:noFill/>
        </p:spPr>
        <p:txBody>
          <a:bodyPr wrap="square" lIns="0" tIns="0" rIns="0" bIns="0" anchor="t">
            <a:spAutoFit/>
          </a:bodyPr>
          <a:lstStyle/>
          <a:p>
            <a:pPr algn="l"/>
            <a:r>
              <a:rPr sz="1400" b="0" i="0">
                <a:solidFill>
                  <a:srgbClr val="FFFFFF"/>
                </a:solidFill>
                <a:latin typeface="Calibri"/>
              </a:rPr>
              <a:t>JUnit tests, all passing</a:t>
            </a:r>
          </a:p>
        </p:txBody>
      </p:sp>
      <p:sp>
        <p:nvSpPr>
          <p:cNvPr id="12" name="Rounded Rectangle 11"/>
          <p:cNvSpPr/>
          <p:nvPr/>
        </p:nvSpPr>
        <p:spPr>
          <a:xfrm>
            <a:off x="548640" y="3520440"/>
            <a:ext cx="3474720" cy="2651760"/>
          </a:xfrm>
          <a:prstGeom prst="roundRect">
            <a:avLst>
              <a:gd name="adj" fmla="val 8000"/>
            </a:avLst>
          </a:prstGeom>
          <a:solidFill>
            <a:srgbClr val="EA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822959" y="3703320"/>
            <a:ext cx="411480" cy="411480"/>
          </a:xfrm>
          <a:prstGeom prst="ellipse">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400" b="1" i="0">
                <a:solidFill>
                  <a:srgbClr val="FFFFFF"/>
                </a:solidFill>
                <a:latin typeface="Cambria"/>
              </a:rPr>
              <a:t>✓</a:t>
            </a:r>
          </a:p>
        </p:txBody>
      </p:sp>
      <p:sp>
        <p:nvSpPr>
          <p:cNvPr id="14" name="TextBox 13"/>
          <p:cNvSpPr txBox="1"/>
          <p:nvPr/>
        </p:nvSpPr>
        <p:spPr>
          <a:xfrm>
            <a:off x="1371600" y="3657600"/>
            <a:ext cx="2560320" cy="502920"/>
          </a:xfrm>
          <a:prstGeom prst="rect">
            <a:avLst/>
          </a:prstGeom>
          <a:noFill/>
        </p:spPr>
        <p:txBody>
          <a:bodyPr wrap="square" lIns="0" tIns="0" rIns="0" bIns="0" anchor="ctr">
            <a:spAutoFit/>
          </a:bodyPr>
          <a:lstStyle/>
          <a:p>
            <a:pPr algn="l"/>
            <a:r>
              <a:rPr sz="1800" b="1" i="0">
                <a:solidFill>
                  <a:srgbClr val="1D2B33"/>
                </a:solidFill>
                <a:latin typeface="Cambria"/>
              </a:rPr>
              <a:t>Inversions</a:t>
            </a:r>
          </a:p>
        </p:txBody>
      </p:sp>
      <p:sp>
        <p:nvSpPr>
          <p:cNvPr id="15" name="TextBox 14"/>
          <p:cNvSpPr txBox="1"/>
          <p:nvPr/>
        </p:nvSpPr>
        <p:spPr>
          <a:xfrm>
            <a:off x="822959" y="4297680"/>
            <a:ext cx="3017520" cy="1828800"/>
          </a:xfrm>
          <a:prstGeom prst="rect">
            <a:avLst/>
          </a:prstGeom>
          <a:noFill/>
        </p:spPr>
        <p:txBody>
          <a:bodyPr wrap="square" lIns="0" tIns="0" rIns="0" bIns="0" anchor="t">
            <a:spAutoFit/>
          </a:bodyPr>
          <a:lstStyle/>
          <a:p>
            <a:pPr marL="256032" indent="-256032" algn="l">
              <a:spcAft>
                <a:spcPts val="500"/>
              </a:spcAft>
              <a:buClr>
                <a:srgbClr val="2A9D8F"/>
              </a:buClr>
              <a:buFont typeface="Arial"/>
              <a:buChar char="•"/>
            </a:pPr>
            <a:r>
              <a:rPr sz="1400" b="0" i="0">
                <a:solidFill>
                  <a:srgbClr val="1D2B33"/>
                </a:solidFill>
                <a:latin typeface="Calibri"/>
              </a:rPr>
              <a:t>INV-01 example [2,3,9,2,9] → 2</a:t>
            </a:r>
          </a:p>
          <a:p>
            <a:pPr marL="256032" indent="-256032" algn="l">
              <a:spcAft>
                <a:spcPts val="500"/>
              </a:spcAft>
              <a:buClr>
                <a:srgbClr val="2A9D8F"/>
              </a:buClr>
              <a:buFont typeface="Arial"/>
              <a:buChar char="•"/>
            </a:pPr>
            <a:r>
              <a:rPr sz="1400" b="0" i="0">
                <a:solidFill>
                  <a:srgbClr val="1D2B33"/>
                </a:solidFill>
                <a:latin typeface="Calibri"/>
              </a:rPr>
              <a:t>INV-02 [9,7,5,3] → 6</a:t>
            </a:r>
          </a:p>
          <a:p>
            <a:pPr marL="256032" indent="-256032" algn="l">
              <a:spcAft>
                <a:spcPts val="500"/>
              </a:spcAft>
              <a:buClr>
                <a:srgbClr val="2A9D8F"/>
              </a:buClr>
              <a:buFont typeface="Arial"/>
              <a:buChar char="•"/>
            </a:pPr>
            <a:r>
              <a:rPr sz="1400" b="0" i="0">
                <a:solidFill>
                  <a:srgbClr val="1D2B33"/>
                </a:solidFill>
                <a:latin typeface="Calibri"/>
              </a:rPr>
              <a:t>INV-03 100,000 decreasing → 4,999,950,000 (&gt; Int) · INV-05…07 sorted, equal, extremes</a:t>
            </a:r>
          </a:p>
        </p:txBody>
      </p:sp>
      <p:sp>
        <p:nvSpPr>
          <p:cNvPr id="16" name="Rounded Rectangle 15"/>
          <p:cNvSpPr/>
          <p:nvPr/>
        </p:nvSpPr>
        <p:spPr>
          <a:xfrm>
            <a:off x="4297679" y="3520440"/>
            <a:ext cx="3474720" cy="2651760"/>
          </a:xfrm>
          <a:prstGeom prst="roundRect">
            <a:avLst>
              <a:gd name="adj" fmla="val 8000"/>
            </a:avLst>
          </a:prstGeom>
          <a:solidFill>
            <a:srgbClr val="EA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4571999" y="3703320"/>
            <a:ext cx="411480" cy="411480"/>
          </a:xfrm>
          <a:prstGeom prst="ellipse">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400" b="1" i="0">
                <a:solidFill>
                  <a:srgbClr val="FFFFFF"/>
                </a:solidFill>
                <a:latin typeface="Cambria"/>
              </a:rPr>
              <a:t>✓</a:t>
            </a:r>
          </a:p>
        </p:txBody>
      </p:sp>
      <p:sp>
        <p:nvSpPr>
          <p:cNvPr id="18" name="TextBox 17"/>
          <p:cNvSpPr txBox="1"/>
          <p:nvPr/>
        </p:nvSpPr>
        <p:spPr>
          <a:xfrm>
            <a:off x="5120640" y="3657600"/>
            <a:ext cx="2560320" cy="502920"/>
          </a:xfrm>
          <a:prstGeom prst="rect">
            <a:avLst/>
          </a:prstGeom>
          <a:noFill/>
        </p:spPr>
        <p:txBody>
          <a:bodyPr wrap="square" lIns="0" tIns="0" rIns="0" bIns="0" anchor="ctr">
            <a:spAutoFit/>
          </a:bodyPr>
          <a:lstStyle/>
          <a:p>
            <a:pPr algn="l"/>
            <a:r>
              <a:rPr sz="1800" b="1" i="0">
                <a:solidFill>
                  <a:srgbClr val="1D2B33"/>
                </a:solidFill>
                <a:latin typeface="Cambria"/>
              </a:rPr>
              <a:t>Quick Sort</a:t>
            </a:r>
          </a:p>
        </p:txBody>
      </p:sp>
      <p:sp>
        <p:nvSpPr>
          <p:cNvPr id="19" name="TextBox 18"/>
          <p:cNvSpPr txBox="1"/>
          <p:nvPr/>
        </p:nvSpPr>
        <p:spPr>
          <a:xfrm>
            <a:off x="4571999" y="4297680"/>
            <a:ext cx="3017520" cy="1828800"/>
          </a:xfrm>
          <a:prstGeom prst="rect">
            <a:avLst/>
          </a:prstGeom>
          <a:noFill/>
        </p:spPr>
        <p:txBody>
          <a:bodyPr wrap="square" lIns="0" tIns="0" rIns="0" bIns="0" anchor="t">
            <a:spAutoFit/>
          </a:bodyPr>
          <a:lstStyle/>
          <a:p>
            <a:pPr marL="256032" indent="-256032" algn="l">
              <a:spcAft>
                <a:spcPts val="500"/>
              </a:spcAft>
              <a:buClr>
                <a:srgbClr val="2A9D8F"/>
              </a:buClr>
              <a:buFont typeface="Arial"/>
              <a:buChar char="•"/>
            </a:pPr>
            <a:r>
              <a:rPr sz="1400" b="0" i="0">
                <a:solidFill>
                  <a:srgbClr val="1D2B33"/>
                </a:solidFill>
                <a:latin typeface="Calibri"/>
              </a:rPr>
              <a:t>QS-01 repeated → [1,1,4,4,4,4,4,9]</a:t>
            </a:r>
          </a:p>
          <a:p>
            <a:pPr marL="256032" indent="-256032" algn="l">
              <a:spcAft>
                <a:spcPts val="500"/>
              </a:spcAft>
              <a:buClr>
                <a:srgbClr val="2A9D8F"/>
              </a:buClr>
              <a:buFont typeface="Arial"/>
              <a:buChar char="•"/>
            </a:pPr>
            <a:r>
              <a:rPr sz="1400" b="0" i="0">
                <a:solidFill>
                  <a:srgbClr val="1D2B33"/>
                </a:solidFill>
                <a:latin typeface="Calibri"/>
              </a:rPr>
              <a:t>QS-02 100,000 equal values, no overflow</a:t>
            </a:r>
          </a:p>
          <a:p>
            <a:pPr marL="256032" indent="-256032" algn="l">
              <a:spcAft>
                <a:spcPts val="500"/>
              </a:spcAft>
              <a:buClr>
                <a:srgbClr val="2A9D8F"/>
              </a:buClr>
              <a:buFont typeface="Arial"/>
              <a:buChar char="•"/>
            </a:pPr>
            <a:r>
              <a:rPr sz="1400" b="0" i="0">
                <a:solidFill>
                  <a:srgbClr val="1D2B33"/>
                </a:solidFill>
                <a:latin typeface="Calibri"/>
              </a:rPr>
              <a:t>QS-04…07 example, 100,000 sorted, seeds, extremes</a:t>
            </a:r>
          </a:p>
        </p:txBody>
      </p:sp>
      <p:sp>
        <p:nvSpPr>
          <p:cNvPr id="20" name="Rounded Rectangle 19"/>
          <p:cNvSpPr/>
          <p:nvPr/>
        </p:nvSpPr>
        <p:spPr>
          <a:xfrm>
            <a:off x="8046719" y="3520440"/>
            <a:ext cx="3474720" cy="2651760"/>
          </a:xfrm>
          <a:prstGeom prst="roundRect">
            <a:avLst>
              <a:gd name="adj" fmla="val 8000"/>
            </a:avLst>
          </a:prstGeom>
          <a:solidFill>
            <a:srgbClr val="EA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8321040" y="3703320"/>
            <a:ext cx="411480" cy="411480"/>
          </a:xfrm>
          <a:prstGeom prst="ellipse">
            <a:avLst/>
          </a:prstGeom>
          <a:solidFill>
            <a:srgbClr val="E9C46A"/>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400" b="1" i="0">
                <a:solidFill>
                  <a:srgbClr val="0B3C49"/>
                </a:solidFill>
                <a:latin typeface="Cambria"/>
              </a:rPr>
              <a:t>✓</a:t>
            </a:r>
          </a:p>
        </p:txBody>
      </p:sp>
      <p:sp>
        <p:nvSpPr>
          <p:cNvPr id="22" name="TextBox 21"/>
          <p:cNvSpPr txBox="1"/>
          <p:nvPr/>
        </p:nvSpPr>
        <p:spPr>
          <a:xfrm>
            <a:off x="8869680" y="3657600"/>
            <a:ext cx="2560320" cy="502920"/>
          </a:xfrm>
          <a:prstGeom prst="rect">
            <a:avLst/>
          </a:prstGeom>
          <a:noFill/>
        </p:spPr>
        <p:txBody>
          <a:bodyPr wrap="square" lIns="0" tIns="0" rIns="0" bIns="0" anchor="ctr">
            <a:spAutoFit/>
          </a:bodyPr>
          <a:lstStyle/>
          <a:p>
            <a:pPr algn="l"/>
            <a:r>
              <a:rPr sz="1800" b="1" i="0">
                <a:solidFill>
                  <a:srgbClr val="1D2B33"/>
                </a:solidFill>
                <a:latin typeface="Cambria"/>
              </a:rPr>
              <a:t>Closest pair</a:t>
            </a:r>
          </a:p>
        </p:txBody>
      </p:sp>
      <p:sp>
        <p:nvSpPr>
          <p:cNvPr id="23" name="TextBox 22"/>
          <p:cNvSpPr txBox="1"/>
          <p:nvPr/>
        </p:nvSpPr>
        <p:spPr>
          <a:xfrm>
            <a:off x="8321040" y="4297680"/>
            <a:ext cx="3017520" cy="1828800"/>
          </a:xfrm>
          <a:prstGeom prst="rect">
            <a:avLst/>
          </a:prstGeom>
          <a:noFill/>
        </p:spPr>
        <p:txBody>
          <a:bodyPr wrap="square" lIns="0" tIns="0" rIns="0" bIns="0" anchor="t">
            <a:spAutoFit/>
          </a:bodyPr>
          <a:lstStyle/>
          <a:p>
            <a:pPr marL="256032" indent="-256032" algn="l">
              <a:spcAft>
                <a:spcPts val="500"/>
              </a:spcAft>
              <a:buClr>
                <a:srgbClr val="2A9D8F"/>
              </a:buClr>
              <a:buFont typeface="Arial"/>
              <a:buChar char="•"/>
            </a:pPr>
            <a:r>
              <a:rPr sz="1400" b="0" i="0">
                <a:solidFill>
                  <a:srgbClr val="1D2B33"/>
                </a:solidFill>
                <a:latin typeface="Calibri"/>
              </a:rPr>
              <a:t>CP-01/02 examples: 5.0 and √2</a:t>
            </a:r>
          </a:p>
          <a:p>
            <a:pPr marL="256032" indent="-256032" algn="l">
              <a:spcAft>
                <a:spcPts val="500"/>
              </a:spcAft>
              <a:buClr>
                <a:srgbClr val="2A9D8F"/>
              </a:buClr>
              <a:buFont typeface="Arial"/>
              <a:buChar char="•"/>
            </a:pPr>
            <a:r>
              <a:rPr sz="1400" b="0" i="0">
                <a:solidFill>
                  <a:srgbClr val="1D2B33"/>
                </a:solidFill>
                <a:latin typeface="Calibri"/>
              </a:rPr>
              <a:t>CP-03 crossing pair · CP-04 same x</a:t>
            </a:r>
          </a:p>
          <a:p>
            <a:pPr marL="256032" indent="-256032" algn="l">
              <a:spcAft>
                <a:spcPts val="500"/>
              </a:spcAft>
              <a:buClr>
                <a:srgbClr val="2A9D8F"/>
              </a:buClr>
              <a:buFont typeface="Arial"/>
              <a:buChar char="•"/>
            </a:pPr>
            <a:r>
              <a:rPr sz="1400" b="0" i="0">
                <a:solidFill>
                  <a:srgbClr val="1D2B33"/>
                </a:solidFill>
                <a:latin typeface="Calibri"/>
              </a:rPr>
              <a:t>CP-05 duplicates · CP-06 Int extremes · CP-08/09 errors · CP-10 10,001 points</a:t>
            </a:r>
          </a:p>
        </p:txBody>
      </p:sp>
      <p:sp>
        <p:nvSpPr>
          <p:cNvPr id="24" name="TextBox 23"/>
          <p:cNvSpPr txBox="1"/>
          <p:nvPr/>
        </p:nvSpPr>
        <p:spPr>
          <a:xfrm>
            <a:off x="10881360" y="6400800"/>
            <a:ext cx="822960" cy="274320"/>
          </a:xfrm>
          <a:prstGeom prst="rect">
            <a:avLst/>
          </a:prstGeom>
          <a:noFill/>
        </p:spPr>
        <p:txBody>
          <a:bodyPr wrap="square" lIns="0" tIns="0" rIns="0" bIns="0" anchor="t">
            <a:spAutoFit/>
          </a:bodyPr>
          <a:lstStyle/>
          <a:p>
            <a:pPr algn="r"/>
            <a:r>
              <a:rPr sz="1100" b="0" i="0">
                <a:solidFill>
                  <a:srgbClr val="5B6B73"/>
                </a:solidFill>
                <a:latin typeface="Calibri"/>
              </a:rPr>
              <a:t>17</a:t>
            </a:r>
          </a:p>
        </p:txBody>
      </p:sp>
      <p:sp>
        <p:nvSpPr>
          <p:cNvPr id="25" name="TextBox 24"/>
          <p:cNvSpPr txBox="1"/>
          <p:nvPr/>
        </p:nvSpPr>
        <p:spPr>
          <a:xfrm>
            <a:off x="548640" y="6400800"/>
            <a:ext cx="7315200" cy="274320"/>
          </a:xfrm>
          <a:prstGeom prst="rect">
            <a:avLst/>
          </a:prstGeom>
          <a:noFill/>
        </p:spPr>
        <p:txBody>
          <a:bodyPr wrap="square" lIns="0" tIns="0" rIns="0" bIns="0" anchor="t">
            <a:spAutoFit/>
          </a:bodyPr>
          <a:lstStyle/>
          <a:p>
            <a:pPr algn="l"/>
            <a:r>
              <a:rPr sz="1100" b="0" i="0">
                <a:solidFill>
                  <a:srgbClr val="5B6B73"/>
                </a:solidFill>
                <a:latin typeface="Calibri"/>
              </a:rPr>
              <a:t>CyED II · Integrative Assignment 1 · Divide and conquer in Scala</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47472"/>
            <a:ext cx="11064240" cy="731520"/>
          </a:xfrm>
          <a:prstGeom prst="rect">
            <a:avLst/>
          </a:prstGeom>
          <a:noFill/>
        </p:spPr>
        <p:txBody>
          <a:bodyPr wrap="square" lIns="0" tIns="0" rIns="0" bIns="0" anchor="b">
            <a:spAutoFit/>
          </a:bodyPr>
          <a:lstStyle/>
          <a:p>
            <a:pPr algn="l"/>
            <a:r>
              <a:rPr sz="3400" b="1" i="0">
                <a:solidFill>
                  <a:srgbClr val="1D2B33"/>
                </a:solidFill>
                <a:latin typeface="Cambria"/>
              </a:rPr>
              <a:t>Experiment design</a:t>
            </a:r>
          </a:p>
        </p:txBody>
      </p:sp>
      <p:sp>
        <p:nvSpPr>
          <p:cNvPr id="3" name="Rounded Rectangle 2"/>
          <p:cNvSpPr/>
          <p:nvPr/>
        </p:nvSpPr>
        <p:spPr>
          <a:xfrm>
            <a:off x="548640" y="1508760"/>
            <a:ext cx="2596896" cy="2743200"/>
          </a:xfrm>
          <a:prstGeom prst="roundRect">
            <a:avLst>
              <a:gd name="adj" fmla="val 8000"/>
            </a:avLst>
          </a:prstGeom>
          <a:solidFill>
            <a:srgbClr val="EA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77240" y="1600200"/>
            <a:ext cx="2194560" cy="914400"/>
          </a:xfrm>
          <a:prstGeom prst="rect">
            <a:avLst/>
          </a:prstGeom>
          <a:noFill/>
        </p:spPr>
        <p:txBody>
          <a:bodyPr wrap="square" lIns="0" tIns="0" rIns="0" bIns="0" anchor="t">
            <a:spAutoFit/>
          </a:bodyPr>
          <a:lstStyle/>
          <a:p>
            <a:pPr algn="l"/>
            <a:r>
              <a:rPr sz="5400" b="1" i="0">
                <a:solidFill>
                  <a:srgbClr val="E76F51"/>
                </a:solidFill>
                <a:latin typeface="Cambria"/>
              </a:rPr>
              <a:t>7</a:t>
            </a:r>
          </a:p>
        </p:txBody>
      </p:sp>
      <p:sp>
        <p:nvSpPr>
          <p:cNvPr id="5" name="TextBox 4"/>
          <p:cNvSpPr txBox="1"/>
          <p:nvPr/>
        </p:nvSpPr>
        <p:spPr>
          <a:xfrm>
            <a:off x="777240" y="2560320"/>
            <a:ext cx="2194560" cy="411480"/>
          </a:xfrm>
          <a:prstGeom prst="rect">
            <a:avLst/>
          </a:prstGeom>
          <a:noFill/>
        </p:spPr>
        <p:txBody>
          <a:bodyPr wrap="square" lIns="0" tIns="0" rIns="0" bIns="0" anchor="t">
            <a:spAutoFit/>
          </a:bodyPr>
          <a:lstStyle/>
          <a:p>
            <a:pPr algn="l"/>
            <a:r>
              <a:rPr sz="1700" b="1" i="0">
                <a:solidFill>
                  <a:srgbClr val="1D2B33"/>
                </a:solidFill>
                <a:latin typeface="Calibri"/>
              </a:rPr>
              <a:t>input sizes</a:t>
            </a:r>
          </a:p>
        </p:txBody>
      </p:sp>
      <p:sp>
        <p:nvSpPr>
          <p:cNvPr id="6" name="TextBox 5"/>
          <p:cNvSpPr txBox="1"/>
          <p:nvPr/>
        </p:nvSpPr>
        <p:spPr>
          <a:xfrm>
            <a:off x="777240" y="2971800"/>
            <a:ext cx="2194560" cy="1234440"/>
          </a:xfrm>
          <a:prstGeom prst="rect">
            <a:avLst/>
          </a:prstGeom>
          <a:noFill/>
        </p:spPr>
        <p:txBody>
          <a:bodyPr wrap="square" lIns="0" tIns="0" rIns="0" bIns="0" anchor="t">
            <a:spAutoFit/>
          </a:bodyPr>
          <a:lstStyle/>
          <a:p>
            <a:pPr algn="l"/>
            <a:r>
              <a:rPr sz="1400" b="0" i="0">
                <a:solidFill>
                  <a:srgbClr val="5B6B73"/>
                </a:solidFill>
                <a:latin typeface="Calibri"/>
              </a:rPr>
              <a:t>16 to 1,048,576 (Toy, Small, Medium, Large)</a:t>
            </a:r>
          </a:p>
        </p:txBody>
      </p:sp>
      <p:sp>
        <p:nvSpPr>
          <p:cNvPr id="7" name="Rounded Rectangle 6"/>
          <p:cNvSpPr/>
          <p:nvPr/>
        </p:nvSpPr>
        <p:spPr>
          <a:xfrm>
            <a:off x="3346704" y="1508760"/>
            <a:ext cx="2596896" cy="2743200"/>
          </a:xfrm>
          <a:prstGeom prst="roundRect">
            <a:avLst>
              <a:gd name="adj" fmla="val 8000"/>
            </a:avLst>
          </a:prstGeom>
          <a:solidFill>
            <a:srgbClr val="EA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575304" y="1600200"/>
            <a:ext cx="2194560" cy="914400"/>
          </a:xfrm>
          <a:prstGeom prst="rect">
            <a:avLst/>
          </a:prstGeom>
          <a:noFill/>
        </p:spPr>
        <p:txBody>
          <a:bodyPr wrap="square" lIns="0" tIns="0" rIns="0" bIns="0" anchor="t">
            <a:spAutoFit/>
          </a:bodyPr>
          <a:lstStyle/>
          <a:p>
            <a:pPr algn="l"/>
            <a:r>
              <a:rPr sz="5400" b="1" i="0">
                <a:solidFill>
                  <a:srgbClr val="E76F51"/>
                </a:solidFill>
                <a:latin typeface="Cambria"/>
              </a:rPr>
              <a:t>5</a:t>
            </a:r>
          </a:p>
        </p:txBody>
      </p:sp>
      <p:sp>
        <p:nvSpPr>
          <p:cNvPr id="9" name="TextBox 8"/>
          <p:cNvSpPr txBox="1"/>
          <p:nvPr/>
        </p:nvSpPr>
        <p:spPr>
          <a:xfrm>
            <a:off x="3575304" y="2560320"/>
            <a:ext cx="2194560" cy="411480"/>
          </a:xfrm>
          <a:prstGeom prst="rect">
            <a:avLst/>
          </a:prstGeom>
          <a:noFill/>
        </p:spPr>
        <p:txBody>
          <a:bodyPr wrap="square" lIns="0" tIns="0" rIns="0" bIns="0" anchor="t">
            <a:spAutoFit/>
          </a:bodyPr>
          <a:lstStyle/>
          <a:p>
            <a:pPr algn="l"/>
            <a:r>
              <a:rPr sz="1700" b="1" i="0">
                <a:solidFill>
                  <a:srgbClr val="1D2B33"/>
                </a:solidFill>
                <a:latin typeface="Calibri"/>
              </a:rPr>
              <a:t>warm-up runs</a:t>
            </a:r>
          </a:p>
        </p:txBody>
      </p:sp>
      <p:sp>
        <p:nvSpPr>
          <p:cNvPr id="10" name="TextBox 9"/>
          <p:cNvSpPr txBox="1"/>
          <p:nvPr/>
        </p:nvSpPr>
        <p:spPr>
          <a:xfrm>
            <a:off x="3575304" y="2971800"/>
            <a:ext cx="2194560" cy="1234440"/>
          </a:xfrm>
          <a:prstGeom prst="rect">
            <a:avLst/>
          </a:prstGeom>
          <a:noFill/>
        </p:spPr>
        <p:txBody>
          <a:bodyPr wrap="square" lIns="0" tIns="0" rIns="0" bIns="0" anchor="t">
            <a:spAutoFit/>
          </a:bodyPr>
          <a:lstStyle/>
          <a:p>
            <a:pPr algn="l"/>
            <a:r>
              <a:rPr sz="1400" b="0" i="0">
                <a:solidFill>
                  <a:srgbClr val="5B6B73"/>
                </a:solidFill>
                <a:latin typeface="Calibri"/>
              </a:rPr>
              <a:t>untimed runs so the JIT can act</a:t>
            </a:r>
          </a:p>
        </p:txBody>
      </p:sp>
      <p:sp>
        <p:nvSpPr>
          <p:cNvPr id="11" name="Rounded Rectangle 10"/>
          <p:cNvSpPr/>
          <p:nvPr/>
        </p:nvSpPr>
        <p:spPr>
          <a:xfrm>
            <a:off x="6144768" y="1508760"/>
            <a:ext cx="2596896" cy="2743200"/>
          </a:xfrm>
          <a:prstGeom prst="roundRect">
            <a:avLst>
              <a:gd name="adj" fmla="val 8000"/>
            </a:avLst>
          </a:prstGeom>
          <a:solidFill>
            <a:srgbClr val="EA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373368" y="1600200"/>
            <a:ext cx="2194560" cy="914400"/>
          </a:xfrm>
          <a:prstGeom prst="rect">
            <a:avLst/>
          </a:prstGeom>
          <a:noFill/>
        </p:spPr>
        <p:txBody>
          <a:bodyPr wrap="square" lIns="0" tIns="0" rIns="0" bIns="0" anchor="t">
            <a:spAutoFit/>
          </a:bodyPr>
          <a:lstStyle/>
          <a:p>
            <a:pPr algn="l"/>
            <a:r>
              <a:rPr sz="5400" b="1" i="0">
                <a:solidFill>
                  <a:srgbClr val="E76F51"/>
                </a:solidFill>
                <a:latin typeface="Cambria"/>
              </a:rPr>
              <a:t>10</a:t>
            </a:r>
          </a:p>
        </p:txBody>
      </p:sp>
      <p:sp>
        <p:nvSpPr>
          <p:cNvPr id="13" name="TextBox 12"/>
          <p:cNvSpPr txBox="1"/>
          <p:nvPr/>
        </p:nvSpPr>
        <p:spPr>
          <a:xfrm>
            <a:off x="6373368" y="2560320"/>
            <a:ext cx="2194560" cy="411480"/>
          </a:xfrm>
          <a:prstGeom prst="rect">
            <a:avLst/>
          </a:prstGeom>
          <a:noFill/>
        </p:spPr>
        <p:txBody>
          <a:bodyPr wrap="square" lIns="0" tIns="0" rIns="0" bIns="0" anchor="t">
            <a:spAutoFit/>
          </a:bodyPr>
          <a:lstStyle/>
          <a:p>
            <a:pPr algn="l"/>
            <a:r>
              <a:rPr sz="1700" b="1" i="0">
                <a:solidFill>
                  <a:srgbClr val="1D2B33"/>
                </a:solidFill>
                <a:latin typeface="Calibri"/>
              </a:rPr>
              <a:t>averaged runs</a:t>
            </a:r>
          </a:p>
        </p:txBody>
      </p:sp>
      <p:sp>
        <p:nvSpPr>
          <p:cNvPr id="14" name="TextBox 13"/>
          <p:cNvSpPr txBox="1"/>
          <p:nvPr/>
        </p:nvSpPr>
        <p:spPr>
          <a:xfrm>
            <a:off x="6373368" y="2971800"/>
            <a:ext cx="2194560" cy="1234440"/>
          </a:xfrm>
          <a:prstGeom prst="rect">
            <a:avLst/>
          </a:prstGeom>
          <a:noFill/>
        </p:spPr>
        <p:txBody>
          <a:bodyPr wrap="square" lIns="0" tIns="0" rIns="0" bIns="0" anchor="t">
            <a:spAutoFit/>
          </a:bodyPr>
          <a:lstStyle/>
          <a:p>
            <a:pPr algn="l"/>
            <a:r>
              <a:rPr sz="1400" b="0" i="0">
                <a:solidFill>
                  <a:srgbClr val="5B6B73"/>
                </a:solidFill>
                <a:latin typeface="Calibri"/>
              </a:rPr>
              <a:t>11 are timed and the first is discarded</a:t>
            </a:r>
          </a:p>
        </p:txBody>
      </p:sp>
      <p:sp>
        <p:nvSpPr>
          <p:cNvPr id="15" name="Rounded Rectangle 14"/>
          <p:cNvSpPr/>
          <p:nvPr/>
        </p:nvSpPr>
        <p:spPr>
          <a:xfrm>
            <a:off x="8942832" y="1508760"/>
            <a:ext cx="2596896" cy="2743200"/>
          </a:xfrm>
          <a:prstGeom prst="roundRect">
            <a:avLst>
              <a:gd name="adj" fmla="val 8000"/>
            </a:avLst>
          </a:prstGeom>
          <a:solidFill>
            <a:srgbClr val="EA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171432" y="1600200"/>
            <a:ext cx="2194560" cy="914400"/>
          </a:xfrm>
          <a:prstGeom prst="rect">
            <a:avLst/>
          </a:prstGeom>
          <a:noFill/>
        </p:spPr>
        <p:txBody>
          <a:bodyPr wrap="square" lIns="0" tIns="0" rIns="0" bIns="0" anchor="t">
            <a:spAutoFit/>
          </a:bodyPr>
          <a:lstStyle/>
          <a:p>
            <a:pPr algn="l"/>
            <a:r>
              <a:rPr sz="5400" b="1" i="0">
                <a:solidFill>
                  <a:srgbClr val="E76F51"/>
                </a:solidFill>
                <a:latin typeface="Cambria"/>
              </a:rPr>
              <a:t>5</a:t>
            </a:r>
          </a:p>
        </p:txBody>
      </p:sp>
      <p:sp>
        <p:nvSpPr>
          <p:cNvPr id="17" name="TextBox 16"/>
          <p:cNvSpPr txBox="1"/>
          <p:nvPr/>
        </p:nvSpPr>
        <p:spPr>
          <a:xfrm>
            <a:off x="9171432" y="2560320"/>
            <a:ext cx="2194560" cy="411480"/>
          </a:xfrm>
          <a:prstGeom prst="rect">
            <a:avLst/>
          </a:prstGeom>
          <a:noFill/>
        </p:spPr>
        <p:txBody>
          <a:bodyPr wrap="square" lIns="0" tIns="0" rIns="0" bIns="0" anchor="t">
            <a:spAutoFit/>
          </a:bodyPr>
          <a:lstStyle/>
          <a:p>
            <a:pPr algn="l"/>
            <a:r>
              <a:rPr sz="1700" b="1" i="0">
                <a:solidFill>
                  <a:srgbClr val="1D2B33"/>
                </a:solidFill>
                <a:latin typeface="Calibri"/>
              </a:rPr>
              <a:t>scenarios</a:t>
            </a:r>
          </a:p>
        </p:txBody>
      </p:sp>
      <p:sp>
        <p:nvSpPr>
          <p:cNvPr id="18" name="TextBox 17"/>
          <p:cNvSpPr txBox="1"/>
          <p:nvPr/>
        </p:nvSpPr>
        <p:spPr>
          <a:xfrm>
            <a:off x="9171432" y="2971800"/>
            <a:ext cx="2194560" cy="1234440"/>
          </a:xfrm>
          <a:prstGeom prst="rect">
            <a:avLst/>
          </a:prstGeom>
          <a:noFill/>
        </p:spPr>
        <p:txBody>
          <a:bodyPr wrap="square" lIns="0" tIns="0" rIns="0" bIns="0" anchor="t">
            <a:spAutoFit/>
          </a:bodyPr>
          <a:lstStyle/>
          <a:p>
            <a:pPr algn="l"/>
            <a:r>
              <a:rPr sz="1400" b="0" i="0">
                <a:solidFill>
                  <a:srgbClr val="5B6B73"/>
                </a:solidFill>
                <a:latin typeface="Calibri"/>
              </a:rPr>
              <a:t>random and decreasing inversions, random and 5-value Quick Sort, random points</a:t>
            </a:r>
          </a:p>
        </p:txBody>
      </p:sp>
      <p:sp>
        <p:nvSpPr>
          <p:cNvPr id="19" name="Rounded Rectangle 18"/>
          <p:cNvSpPr/>
          <p:nvPr/>
        </p:nvSpPr>
        <p:spPr>
          <a:xfrm>
            <a:off x="548640" y="4526280"/>
            <a:ext cx="6766560" cy="1645920"/>
          </a:xfrm>
          <a:prstGeom prst="roundRect">
            <a:avLst>
              <a:gd name="adj" fmla="val 8000"/>
            </a:avLst>
          </a:prstGeom>
          <a:solidFill>
            <a:srgbClr val="0B3C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22960" y="4617720"/>
            <a:ext cx="6309360" cy="1463040"/>
          </a:xfrm>
          <a:prstGeom prst="rect">
            <a:avLst/>
          </a:prstGeom>
          <a:noFill/>
        </p:spPr>
        <p:txBody>
          <a:bodyPr wrap="square" lIns="0" tIns="0" rIns="0" bIns="0" anchor="ctr">
            <a:spAutoFit/>
          </a:bodyPr>
          <a:lstStyle/>
          <a:p>
            <a:pPr algn="l">
              <a:spcAft>
                <a:spcPts val="400"/>
              </a:spcAft>
            </a:pPr>
            <a:r>
              <a:rPr sz="1800" b="1" i="0">
                <a:solidFill>
                  <a:srgbClr val="E9C46A"/>
                </a:solidFill>
                <a:latin typeface="Cambria"/>
              </a:rPr>
              <a:t>Environment</a:t>
            </a:r>
          </a:p>
          <a:p>
            <a:pPr algn="l">
              <a:spcAft>
                <a:spcPts val="400"/>
              </a:spcAft>
            </a:pPr>
            <a:r>
              <a:rPr sz="1500" b="0" i="0">
                <a:solidFill>
                  <a:srgbClr val="FFFFFF"/>
                </a:solidFill>
                <a:latin typeface="Calibri"/>
              </a:rPr>
              <a:t>AMD Ryzen 7 260 · 16 threads · 31.3 GiB RAM · Windows 11</a:t>
            </a:r>
          </a:p>
          <a:p>
            <a:pPr algn="l">
              <a:spcAft>
                <a:spcPts val="400"/>
              </a:spcAft>
            </a:pPr>
            <a:r>
              <a:rPr sz="1500" b="0" i="0">
                <a:solidFill>
                  <a:srgbClr val="FFFFFF"/>
                </a:solidFill>
                <a:latin typeface="Calibri"/>
              </a:rPr>
              <a:t>Java 17 · Scala 2.13.16 · JVM with -Xms256m -Xmx2g · seed 20261011</a:t>
            </a:r>
          </a:p>
        </p:txBody>
      </p:sp>
      <p:sp>
        <p:nvSpPr>
          <p:cNvPr id="21" name="Rounded Rectangle 20"/>
          <p:cNvSpPr/>
          <p:nvPr/>
        </p:nvSpPr>
        <p:spPr>
          <a:xfrm>
            <a:off x="7589520" y="4526280"/>
            <a:ext cx="4023360" cy="1645920"/>
          </a:xfrm>
          <a:prstGeom prst="roundRect">
            <a:avLst>
              <a:gd name="adj" fmla="val 8000"/>
            </a:avLst>
          </a:prstGeom>
          <a:solidFill>
            <a:srgbClr val="FBED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818120" y="4617720"/>
            <a:ext cx="3611880" cy="1463040"/>
          </a:xfrm>
          <a:prstGeom prst="rect">
            <a:avLst/>
          </a:prstGeom>
          <a:noFill/>
        </p:spPr>
        <p:txBody>
          <a:bodyPr wrap="square" lIns="0" tIns="0" rIns="0" bIns="0" anchor="ctr">
            <a:spAutoFit/>
          </a:bodyPr>
          <a:lstStyle/>
          <a:p>
            <a:pPr algn="l">
              <a:spcAft>
                <a:spcPts val="400"/>
              </a:spcAft>
            </a:pPr>
            <a:r>
              <a:rPr sz="1800" b="1" i="0">
                <a:solidFill>
                  <a:srgbClr val="1D2B33"/>
                </a:solidFill>
                <a:latin typeface="Cambria"/>
              </a:rPr>
              <a:t>Fitting</a:t>
            </a:r>
          </a:p>
          <a:p>
            <a:pPr algn="l">
              <a:spcAft>
                <a:spcPts val="400"/>
              </a:spcAft>
            </a:pPr>
            <a:r>
              <a:rPr sz="1500" b="0" i="0">
                <a:solidFill>
                  <a:srgbClr val="1D2B33"/>
                </a:solidFill>
                <a:latin typeface="Calibri"/>
              </a:rPr>
              <a:t>Least squares of a·f(n) + b with f ∈ {n, n log n, n log² n, n²}.</a:t>
            </a:r>
          </a:p>
        </p:txBody>
      </p:sp>
      <p:sp>
        <p:nvSpPr>
          <p:cNvPr id="23" name="TextBox 22"/>
          <p:cNvSpPr txBox="1"/>
          <p:nvPr/>
        </p:nvSpPr>
        <p:spPr>
          <a:xfrm>
            <a:off x="10881360" y="6400800"/>
            <a:ext cx="822960" cy="274320"/>
          </a:xfrm>
          <a:prstGeom prst="rect">
            <a:avLst/>
          </a:prstGeom>
          <a:noFill/>
        </p:spPr>
        <p:txBody>
          <a:bodyPr wrap="square" lIns="0" tIns="0" rIns="0" bIns="0" anchor="t">
            <a:spAutoFit/>
          </a:bodyPr>
          <a:lstStyle/>
          <a:p>
            <a:pPr algn="r"/>
            <a:r>
              <a:rPr sz="1100" b="0" i="0">
                <a:solidFill>
                  <a:srgbClr val="5B6B73"/>
                </a:solidFill>
                <a:latin typeface="Calibri"/>
              </a:rPr>
              <a:t>18</a:t>
            </a:r>
          </a:p>
        </p:txBody>
      </p:sp>
      <p:sp>
        <p:nvSpPr>
          <p:cNvPr id="24" name="TextBox 23"/>
          <p:cNvSpPr txBox="1"/>
          <p:nvPr/>
        </p:nvSpPr>
        <p:spPr>
          <a:xfrm>
            <a:off x="548640" y="6400800"/>
            <a:ext cx="7315200" cy="274320"/>
          </a:xfrm>
          <a:prstGeom prst="rect">
            <a:avLst/>
          </a:prstGeom>
          <a:noFill/>
        </p:spPr>
        <p:txBody>
          <a:bodyPr wrap="square" lIns="0" tIns="0" rIns="0" bIns="0" anchor="t">
            <a:spAutoFit/>
          </a:bodyPr>
          <a:lstStyle/>
          <a:p>
            <a:pPr algn="l"/>
            <a:r>
              <a:rPr sz="1100" b="0" i="0">
                <a:solidFill>
                  <a:srgbClr val="5B6B73"/>
                </a:solidFill>
                <a:latin typeface="Calibri"/>
              </a:rPr>
              <a:t>CyED II · Integrative Assignment 1 · Divide and conquer in Scala</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47472"/>
            <a:ext cx="11064240" cy="731520"/>
          </a:xfrm>
          <a:prstGeom prst="rect">
            <a:avLst/>
          </a:prstGeom>
          <a:noFill/>
        </p:spPr>
        <p:txBody>
          <a:bodyPr wrap="square" lIns="0" tIns="0" rIns="0" bIns="0" anchor="b">
            <a:spAutoFit/>
          </a:bodyPr>
          <a:lstStyle/>
          <a:p>
            <a:pPr algn="l"/>
            <a:r>
              <a:rPr sz="3400" b="1" i="0">
                <a:solidFill>
                  <a:srgbClr val="1D2B33"/>
                </a:solidFill>
                <a:latin typeface="Cambria"/>
              </a:rPr>
              <a:t>Growth follows the theory in every scenario</a:t>
            </a:r>
          </a:p>
        </p:txBody>
      </p:sp>
      <p:graphicFrame>
        <p:nvGraphicFramePr>
          <p:cNvPr id="3" name="Chart 2"/>
          <p:cNvGraphicFramePr>
            <a:graphicFrameLocks noGrp="1"/>
          </p:cNvGraphicFramePr>
          <p:nvPr/>
        </p:nvGraphicFramePr>
        <p:xfrm>
          <a:off x="548640" y="1371600"/>
          <a:ext cx="7863840" cy="4892040"/>
        </p:xfrm>
        <a:graphic>
          <a:graphicData uri="http://schemas.openxmlformats.org/drawingml/2006/chart">
            <c:chart xmlns:c="http://schemas.openxmlformats.org/drawingml/2006/chart" xmlns:r="http://schemas.openxmlformats.org/officeDocument/2006/relationships" r:id="rId3"/>
          </a:graphicData>
        </a:graphic>
      </p:graphicFrame>
      <p:sp>
        <p:nvSpPr>
          <p:cNvPr id="4" name="Rounded Rectangle 3"/>
          <p:cNvSpPr/>
          <p:nvPr/>
        </p:nvSpPr>
        <p:spPr>
          <a:xfrm>
            <a:off x="8686800" y="1508760"/>
            <a:ext cx="2926080" cy="4663440"/>
          </a:xfrm>
          <a:prstGeom prst="roundRect">
            <a:avLst>
              <a:gd name="adj" fmla="val 8000"/>
            </a:avLst>
          </a:prstGeom>
          <a:solidFill>
            <a:srgbClr val="EA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915400" y="1691640"/>
            <a:ext cx="2514600" cy="4389120"/>
          </a:xfrm>
          <a:prstGeom prst="rect">
            <a:avLst/>
          </a:prstGeom>
          <a:noFill/>
        </p:spPr>
        <p:txBody>
          <a:bodyPr wrap="square" lIns="0" tIns="0" rIns="0" bIns="0" anchor="t">
            <a:spAutoFit/>
          </a:bodyPr>
          <a:lstStyle/>
          <a:p>
            <a:pPr algn="l">
              <a:spcAft>
                <a:spcPts val="900"/>
              </a:spcAft>
            </a:pPr>
            <a:r>
              <a:rPr sz="1800" b="1" i="0">
                <a:solidFill>
                  <a:srgbClr val="1D2B33"/>
                </a:solidFill>
                <a:latin typeface="Cambria"/>
              </a:rPr>
              <a:t>With n = 2²⁰</a:t>
            </a:r>
          </a:p>
          <a:p>
            <a:pPr algn="l">
              <a:spcAft>
                <a:spcPts val="900"/>
              </a:spcAft>
            </a:pPr>
            <a:r>
              <a:rPr sz="1500" b="1" i="0">
                <a:solidFill>
                  <a:srgbClr val="E76F51"/>
                </a:solidFill>
                <a:latin typeface="Calibri"/>
              </a:rPr>
              <a:t>3,135 ms </a:t>
            </a:r>
            <a:r>
              <a:rPr sz="1500" b="0" i="0">
                <a:solidFill>
                  <a:srgbClr val="1D2B33"/>
                </a:solidFill>
                <a:latin typeface="Calibri"/>
              </a:rPr>
              <a:t>closest pair</a:t>
            </a:r>
          </a:p>
          <a:p>
            <a:pPr algn="l">
              <a:spcAft>
                <a:spcPts val="900"/>
              </a:spcAft>
            </a:pPr>
            <a:r>
              <a:rPr sz="1500" b="1" i="0">
                <a:solidFill>
                  <a:srgbClr val="E76F51"/>
                </a:solidFill>
                <a:latin typeface="Calibri"/>
              </a:rPr>
              <a:t>1,058 ms </a:t>
            </a:r>
            <a:r>
              <a:rPr sz="1500" b="0" i="0">
                <a:solidFill>
                  <a:srgbClr val="1D2B33"/>
                </a:solidFill>
                <a:latin typeface="Calibri"/>
              </a:rPr>
              <a:t>random inversions</a:t>
            </a:r>
          </a:p>
          <a:p>
            <a:pPr algn="l">
              <a:spcAft>
                <a:spcPts val="900"/>
              </a:spcAft>
            </a:pPr>
            <a:r>
              <a:rPr sz="1500" b="1" i="0">
                <a:solidFill>
                  <a:srgbClr val="E76F51"/>
                </a:solidFill>
                <a:latin typeface="Calibri"/>
              </a:rPr>
              <a:t>981 ms </a:t>
            </a:r>
            <a:r>
              <a:rPr sz="1500" b="0" i="0">
                <a:solidFill>
                  <a:srgbClr val="1D2B33"/>
                </a:solidFill>
                <a:latin typeface="Calibri"/>
              </a:rPr>
              <a:t>random Quick Sort</a:t>
            </a:r>
          </a:p>
          <a:p>
            <a:pPr algn="l">
              <a:spcAft>
                <a:spcPts val="900"/>
              </a:spcAft>
            </a:pPr>
            <a:r>
              <a:rPr sz="1500" b="1" i="0">
                <a:solidFill>
                  <a:srgbClr val="E76F51"/>
                </a:solidFill>
                <a:latin typeface="Calibri"/>
              </a:rPr>
              <a:t>568 ms </a:t>
            </a:r>
            <a:r>
              <a:rPr sz="1500" b="0" i="0">
                <a:solidFill>
                  <a:srgbClr val="1D2B33"/>
                </a:solidFill>
                <a:latin typeface="Calibri"/>
              </a:rPr>
              <a:t>decreasing inversions</a:t>
            </a:r>
          </a:p>
          <a:p>
            <a:pPr algn="l">
              <a:spcAft>
                <a:spcPts val="900"/>
              </a:spcAft>
            </a:pPr>
            <a:r>
              <a:rPr sz="1500" b="1" i="0">
                <a:solidFill>
                  <a:srgbClr val="E76F51"/>
                </a:solidFill>
                <a:latin typeface="Calibri"/>
              </a:rPr>
              <a:t>76 ms </a:t>
            </a:r>
            <a:r>
              <a:rPr sz="1500" b="0" i="0">
                <a:solidFill>
                  <a:srgbClr val="1D2B33"/>
                </a:solidFill>
                <a:latin typeface="Calibri"/>
              </a:rPr>
              <a:t>Quick Sort duplicates</a:t>
            </a:r>
          </a:p>
          <a:p>
            <a:pPr algn="l">
              <a:spcAft>
                <a:spcPts val="900"/>
              </a:spcAft>
            </a:pPr>
            <a:r>
              <a:rPr sz="1500" b="0" i="1">
                <a:solidFill>
                  <a:srgbClr val="5B6B73"/>
                </a:solidFill>
                <a:latin typeface="Calibri"/>
              </a:rPr>
              <a:t>On a log-log scale, parallel slopes mean the same order of growth.</a:t>
            </a:r>
          </a:p>
        </p:txBody>
      </p:sp>
      <p:sp>
        <p:nvSpPr>
          <p:cNvPr id="6" name="TextBox 5"/>
          <p:cNvSpPr txBox="1"/>
          <p:nvPr/>
        </p:nvSpPr>
        <p:spPr>
          <a:xfrm>
            <a:off x="10881360" y="6400800"/>
            <a:ext cx="822960" cy="274320"/>
          </a:xfrm>
          <a:prstGeom prst="rect">
            <a:avLst/>
          </a:prstGeom>
          <a:noFill/>
        </p:spPr>
        <p:txBody>
          <a:bodyPr wrap="square" lIns="0" tIns="0" rIns="0" bIns="0" anchor="t">
            <a:spAutoFit/>
          </a:bodyPr>
          <a:lstStyle/>
          <a:p>
            <a:pPr algn="r"/>
            <a:r>
              <a:rPr sz="1100" b="0" i="0">
                <a:solidFill>
                  <a:srgbClr val="5B6B73"/>
                </a:solidFill>
                <a:latin typeface="Calibri"/>
              </a:rPr>
              <a:t>19</a:t>
            </a:r>
          </a:p>
        </p:txBody>
      </p:sp>
      <p:sp>
        <p:nvSpPr>
          <p:cNvPr id="7" name="TextBox 6"/>
          <p:cNvSpPr txBox="1"/>
          <p:nvPr/>
        </p:nvSpPr>
        <p:spPr>
          <a:xfrm>
            <a:off x="548640" y="6400800"/>
            <a:ext cx="7315200" cy="274320"/>
          </a:xfrm>
          <a:prstGeom prst="rect">
            <a:avLst/>
          </a:prstGeom>
          <a:noFill/>
        </p:spPr>
        <p:txBody>
          <a:bodyPr wrap="square" lIns="0" tIns="0" rIns="0" bIns="0" anchor="t">
            <a:spAutoFit/>
          </a:bodyPr>
          <a:lstStyle/>
          <a:p>
            <a:pPr algn="l"/>
            <a:r>
              <a:rPr sz="1100" b="0" i="0">
                <a:solidFill>
                  <a:srgbClr val="5B6B73"/>
                </a:solidFill>
                <a:latin typeface="Calibri"/>
              </a:rPr>
              <a:t>CyED II · Integrative Assignment 1 · Divide and conquer in Scala</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47472"/>
            <a:ext cx="11064240" cy="731520"/>
          </a:xfrm>
          <a:prstGeom prst="rect">
            <a:avLst/>
          </a:prstGeom>
          <a:noFill/>
        </p:spPr>
        <p:txBody>
          <a:bodyPr wrap="square" lIns="0" tIns="0" rIns="0" bIns="0" anchor="b">
            <a:spAutoFit/>
          </a:bodyPr>
          <a:lstStyle/>
          <a:p>
            <a:pPr algn="l"/>
            <a:r>
              <a:rPr sz="3400" b="1" i="0">
                <a:solidFill>
                  <a:srgbClr val="1D2B33"/>
                </a:solidFill>
                <a:latin typeface="Cambria"/>
              </a:rPr>
              <a:t>Theory predicts the shape of the growth</a:t>
            </a:r>
          </a:p>
        </p:txBody>
      </p:sp>
      <p:sp>
        <p:nvSpPr>
          <p:cNvPr id="3" name="TextBox 2"/>
          <p:cNvSpPr txBox="1"/>
          <p:nvPr/>
        </p:nvSpPr>
        <p:spPr>
          <a:xfrm>
            <a:off x="548640" y="1143000"/>
            <a:ext cx="10972800" cy="411480"/>
          </a:xfrm>
          <a:prstGeom prst="rect">
            <a:avLst/>
          </a:prstGeom>
          <a:noFill/>
        </p:spPr>
        <p:txBody>
          <a:bodyPr wrap="square" lIns="0" tIns="0" rIns="0" bIns="0" anchor="t">
            <a:spAutoFit/>
          </a:bodyPr>
          <a:lstStyle/>
          <a:p>
            <a:pPr algn="l"/>
            <a:r>
              <a:rPr sz="1600" b="0" i="1">
                <a:solidFill>
                  <a:srgbClr val="5B6B73"/>
                </a:solidFill>
                <a:latin typeface="Calibri"/>
              </a:rPr>
              <a:t>How much does the time multiply from n = 65,536 to n = 1,048,576?</a:t>
            </a:r>
          </a:p>
        </p:txBody>
      </p:sp>
      <p:graphicFrame>
        <p:nvGraphicFramePr>
          <p:cNvPr id="4" name="Chart 3"/>
          <p:cNvGraphicFramePr>
            <a:graphicFrameLocks noGrp="1"/>
          </p:cNvGraphicFramePr>
          <p:nvPr/>
        </p:nvGraphicFramePr>
        <p:xfrm>
          <a:off x="548640" y="1645920"/>
          <a:ext cx="6766560" cy="45720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5" name="Table 4"/>
          <p:cNvGraphicFramePr>
            <a:graphicFrameLocks noGrp="1"/>
          </p:cNvGraphicFramePr>
          <p:nvPr/>
        </p:nvGraphicFramePr>
        <p:xfrm>
          <a:off x="7589520" y="1645920"/>
          <a:ext cx="4023360" cy="2694432"/>
        </p:xfrm>
        <a:graphic>
          <a:graphicData uri="http://schemas.openxmlformats.org/drawingml/2006/table">
            <a:tbl>
              <a:tblPr firstRow="1" bandRow="1">
                <a:tableStyleId>{5940675A-B579-460E-94D1-54222C63F5DA}</a:tableStyleId>
              </a:tblPr>
              <a:tblGrid>
                <a:gridCol w="1737360">
                  <a:extLst>
                    <a:ext uri="{9D8B030D-6E8A-4147-A177-3AD203B41FA5}">
                      <a16:colId xmlns:a16="http://schemas.microsoft.com/office/drawing/2014/main" val="20000"/>
                    </a:ext>
                  </a:extLst>
                </a:gridCol>
                <a:gridCol w="1051560">
                  <a:extLst>
                    <a:ext uri="{9D8B030D-6E8A-4147-A177-3AD203B41FA5}">
                      <a16:colId xmlns:a16="http://schemas.microsoft.com/office/drawing/2014/main" val="20001"/>
                    </a:ext>
                  </a:extLst>
                </a:gridCol>
                <a:gridCol w="1234440">
                  <a:extLst>
                    <a:ext uri="{9D8B030D-6E8A-4147-A177-3AD203B41FA5}">
                      <a16:colId xmlns:a16="http://schemas.microsoft.com/office/drawing/2014/main" val="20002"/>
                    </a:ext>
                  </a:extLst>
                </a:gridCol>
              </a:tblGrid>
              <a:tr h="438912">
                <a:tc>
                  <a:txBody>
                    <a:bodyPr/>
                    <a:lstStyle/>
                    <a:p>
                      <a:pPr algn="l"/>
                      <a:r>
                        <a:rPr sz="1400" b="1" i="0">
                          <a:solidFill>
                            <a:srgbClr val="FFFFFF"/>
                          </a:solidFill>
                          <a:latin typeface="Calibri"/>
                        </a:rPr>
                        <a:t>Scenario</a:t>
                      </a:r>
                    </a:p>
                  </a:txBody>
                  <a:tcPr marT="36576" marB="36576" anchor="ctr">
                    <a:lnL w="9525">
                      <a:solidFill>
                        <a:srgbClr val="D5E2E0"/>
                      </a:solidFill>
                    </a:lnL>
                    <a:lnR w="9525">
                      <a:solidFill>
                        <a:srgbClr val="D5E2E0"/>
                      </a:solidFill>
                    </a:lnR>
                    <a:lnT w="9525">
                      <a:solidFill>
                        <a:srgbClr val="D5E2E0"/>
                      </a:solidFill>
                    </a:lnT>
                    <a:lnB w="9525">
                      <a:solidFill>
                        <a:srgbClr val="D5E2E0"/>
                      </a:solidFill>
                    </a:lnB>
                    <a:solidFill>
                      <a:srgbClr val="0B3C49"/>
                    </a:solidFill>
                  </a:tcPr>
                </a:tc>
                <a:tc>
                  <a:txBody>
                    <a:bodyPr/>
                    <a:lstStyle/>
                    <a:p>
                      <a:pPr algn="l"/>
                      <a:r>
                        <a:rPr sz="1400" b="1" i="0">
                          <a:solidFill>
                            <a:srgbClr val="FFFFFF"/>
                          </a:solidFill>
                          <a:latin typeface="Calibri"/>
                        </a:rPr>
                        <a:t>Theory</a:t>
                      </a:r>
                    </a:p>
                  </a:txBody>
                  <a:tcPr marT="36576" marB="36576" anchor="ctr">
                    <a:lnL w="9525">
                      <a:solidFill>
                        <a:srgbClr val="D5E2E0"/>
                      </a:solidFill>
                    </a:lnL>
                    <a:lnR w="9525">
                      <a:solidFill>
                        <a:srgbClr val="D5E2E0"/>
                      </a:solidFill>
                    </a:lnR>
                    <a:lnT w="9525">
                      <a:solidFill>
                        <a:srgbClr val="D5E2E0"/>
                      </a:solidFill>
                    </a:lnT>
                    <a:lnB w="9525">
                      <a:solidFill>
                        <a:srgbClr val="D5E2E0"/>
                      </a:solidFill>
                    </a:lnB>
                    <a:solidFill>
                      <a:srgbClr val="0B3C49"/>
                    </a:solidFill>
                  </a:tcPr>
                </a:tc>
                <a:tc>
                  <a:txBody>
                    <a:bodyPr/>
                    <a:lstStyle/>
                    <a:p>
                      <a:pPr algn="l"/>
                      <a:r>
                        <a:rPr sz="1400" b="1" i="0">
                          <a:solidFill>
                            <a:srgbClr val="FFFFFF"/>
                          </a:solidFill>
                          <a:latin typeface="Calibri"/>
                        </a:rPr>
                        <a:t>Highest R²</a:t>
                      </a:r>
                    </a:p>
                  </a:txBody>
                  <a:tcPr marT="36576" marB="36576" anchor="ctr">
                    <a:lnL w="9525">
                      <a:solidFill>
                        <a:srgbClr val="D5E2E0"/>
                      </a:solidFill>
                    </a:lnL>
                    <a:lnR w="9525">
                      <a:solidFill>
                        <a:srgbClr val="D5E2E0"/>
                      </a:solidFill>
                    </a:lnR>
                    <a:lnT w="9525">
                      <a:solidFill>
                        <a:srgbClr val="D5E2E0"/>
                      </a:solidFill>
                    </a:lnT>
                    <a:lnB w="9525">
                      <a:solidFill>
                        <a:srgbClr val="D5E2E0"/>
                      </a:solidFill>
                    </a:lnB>
                    <a:solidFill>
                      <a:srgbClr val="0B3C49"/>
                    </a:solidFill>
                  </a:tcPr>
                </a:tc>
                <a:extLst>
                  <a:ext uri="{0D108BD9-81ED-4DB2-BD59-A6C34878D82A}">
                    <a16:rowId xmlns:a16="http://schemas.microsoft.com/office/drawing/2014/main" val="10000"/>
                  </a:ext>
                </a:extLst>
              </a:tr>
              <a:tr h="438912">
                <a:tc>
                  <a:txBody>
                    <a:bodyPr/>
                    <a:lstStyle/>
                    <a:p>
                      <a:pPr algn="l"/>
                      <a:r>
                        <a:rPr sz="1400" b="0" i="0">
                          <a:solidFill>
                            <a:srgbClr val="1D2B33"/>
                          </a:solidFill>
                          <a:latin typeface="Calibri"/>
                        </a:rPr>
                        <a:t>Random inversions</a:t>
                      </a:r>
                    </a:p>
                  </a:txBody>
                  <a:tcPr marT="36576" marB="36576" anchor="ctr">
                    <a:lnL w="9525">
                      <a:solidFill>
                        <a:srgbClr val="D5E2E0"/>
                      </a:solidFill>
                    </a:lnL>
                    <a:lnR w="9525">
                      <a:solidFill>
                        <a:srgbClr val="D5E2E0"/>
                      </a:solidFill>
                    </a:lnR>
                    <a:lnT w="9525">
                      <a:solidFill>
                        <a:srgbClr val="D5E2E0"/>
                      </a:solidFill>
                    </a:lnT>
                    <a:lnB w="9525">
                      <a:solidFill>
                        <a:srgbClr val="D5E2E0"/>
                      </a:solidFill>
                    </a:lnB>
                    <a:solidFill>
                      <a:srgbClr val="FFFFFF"/>
                    </a:solidFill>
                  </a:tcPr>
                </a:tc>
                <a:tc>
                  <a:txBody>
                    <a:bodyPr/>
                    <a:lstStyle/>
                    <a:p>
                      <a:pPr algn="l"/>
                      <a:r>
                        <a:rPr sz="1400" b="0" i="0">
                          <a:solidFill>
                            <a:srgbClr val="1D2B33"/>
                          </a:solidFill>
                          <a:latin typeface="Calibri"/>
                        </a:rPr>
                        <a:t>n log n</a:t>
                      </a:r>
                    </a:p>
                  </a:txBody>
                  <a:tcPr marT="36576" marB="36576" anchor="ctr">
                    <a:lnL w="9525">
                      <a:solidFill>
                        <a:srgbClr val="D5E2E0"/>
                      </a:solidFill>
                    </a:lnL>
                    <a:lnR w="9525">
                      <a:solidFill>
                        <a:srgbClr val="D5E2E0"/>
                      </a:solidFill>
                    </a:lnR>
                    <a:lnT w="9525">
                      <a:solidFill>
                        <a:srgbClr val="D5E2E0"/>
                      </a:solidFill>
                    </a:lnT>
                    <a:lnB w="9525">
                      <a:solidFill>
                        <a:srgbClr val="D5E2E0"/>
                      </a:solidFill>
                    </a:lnB>
                    <a:solidFill>
                      <a:srgbClr val="FFFFFF"/>
                    </a:solidFill>
                  </a:tcPr>
                </a:tc>
                <a:tc>
                  <a:txBody>
                    <a:bodyPr/>
                    <a:lstStyle/>
                    <a:p>
                      <a:pPr algn="l"/>
                      <a:r>
                        <a:rPr sz="1400" b="0" i="0">
                          <a:solidFill>
                            <a:srgbClr val="1D2B33"/>
                          </a:solidFill>
                          <a:latin typeface="Calibri"/>
                        </a:rPr>
                        <a:t>n log² n</a:t>
                      </a:r>
                    </a:p>
                  </a:txBody>
                  <a:tcPr marT="36576" marB="36576" anchor="ctr">
                    <a:lnL w="9525">
                      <a:solidFill>
                        <a:srgbClr val="D5E2E0"/>
                      </a:solidFill>
                    </a:lnL>
                    <a:lnR w="9525">
                      <a:solidFill>
                        <a:srgbClr val="D5E2E0"/>
                      </a:solidFill>
                    </a:lnR>
                    <a:lnT w="9525">
                      <a:solidFill>
                        <a:srgbClr val="D5E2E0"/>
                      </a:solidFill>
                    </a:lnT>
                    <a:lnB w="9525">
                      <a:solidFill>
                        <a:srgbClr val="D5E2E0"/>
                      </a:solidFill>
                    </a:lnB>
                    <a:solidFill>
                      <a:srgbClr val="FFFFFF"/>
                    </a:solidFill>
                  </a:tcPr>
                </a:tc>
                <a:extLst>
                  <a:ext uri="{0D108BD9-81ED-4DB2-BD59-A6C34878D82A}">
                    <a16:rowId xmlns:a16="http://schemas.microsoft.com/office/drawing/2014/main" val="10001"/>
                  </a:ext>
                </a:extLst>
              </a:tr>
              <a:tr h="438912">
                <a:tc>
                  <a:txBody>
                    <a:bodyPr/>
                    <a:lstStyle/>
                    <a:p>
                      <a:pPr algn="l"/>
                      <a:r>
                        <a:rPr sz="1400" b="0" i="0">
                          <a:solidFill>
                            <a:srgbClr val="1D2B33"/>
                          </a:solidFill>
                          <a:latin typeface="Calibri"/>
                        </a:rPr>
                        <a:t>Decreasing inversions</a:t>
                      </a:r>
                    </a:p>
                  </a:txBody>
                  <a:tcPr marT="36576" marB="36576" anchor="ctr">
                    <a:lnL w="9525">
                      <a:solidFill>
                        <a:srgbClr val="D5E2E0"/>
                      </a:solidFill>
                    </a:lnL>
                    <a:lnR w="9525">
                      <a:solidFill>
                        <a:srgbClr val="D5E2E0"/>
                      </a:solidFill>
                    </a:lnR>
                    <a:lnT w="9525">
                      <a:solidFill>
                        <a:srgbClr val="D5E2E0"/>
                      </a:solidFill>
                    </a:lnT>
                    <a:lnB w="9525">
                      <a:solidFill>
                        <a:srgbClr val="D5E2E0"/>
                      </a:solidFill>
                    </a:lnB>
                    <a:solidFill>
                      <a:srgbClr val="EAF3F1"/>
                    </a:solidFill>
                  </a:tcPr>
                </a:tc>
                <a:tc>
                  <a:txBody>
                    <a:bodyPr/>
                    <a:lstStyle/>
                    <a:p>
                      <a:pPr algn="l"/>
                      <a:r>
                        <a:rPr sz="1400" b="0" i="0">
                          <a:solidFill>
                            <a:srgbClr val="1D2B33"/>
                          </a:solidFill>
                          <a:latin typeface="Calibri"/>
                        </a:rPr>
                        <a:t>n log n</a:t>
                      </a:r>
                    </a:p>
                  </a:txBody>
                  <a:tcPr marT="36576" marB="36576" anchor="ctr">
                    <a:lnL w="9525">
                      <a:solidFill>
                        <a:srgbClr val="D5E2E0"/>
                      </a:solidFill>
                    </a:lnL>
                    <a:lnR w="9525">
                      <a:solidFill>
                        <a:srgbClr val="D5E2E0"/>
                      </a:solidFill>
                    </a:lnR>
                    <a:lnT w="9525">
                      <a:solidFill>
                        <a:srgbClr val="D5E2E0"/>
                      </a:solidFill>
                    </a:lnT>
                    <a:lnB w="9525">
                      <a:solidFill>
                        <a:srgbClr val="D5E2E0"/>
                      </a:solidFill>
                    </a:lnB>
                    <a:solidFill>
                      <a:srgbClr val="EAF3F1"/>
                    </a:solidFill>
                  </a:tcPr>
                </a:tc>
                <a:tc>
                  <a:txBody>
                    <a:bodyPr/>
                    <a:lstStyle/>
                    <a:p>
                      <a:pPr algn="l"/>
                      <a:r>
                        <a:rPr sz="1400" b="0" i="0">
                          <a:solidFill>
                            <a:srgbClr val="1D2B33"/>
                          </a:solidFill>
                          <a:latin typeface="Calibri"/>
                        </a:rPr>
                        <a:t>n log² n</a:t>
                      </a:r>
                    </a:p>
                  </a:txBody>
                  <a:tcPr marT="36576" marB="36576" anchor="ctr">
                    <a:lnL w="9525">
                      <a:solidFill>
                        <a:srgbClr val="D5E2E0"/>
                      </a:solidFill>
                    </a:lnL>
                    <a:lnR w="9525">
                      <a:solidFill>
                        <a:srgbClr val="D5E2E0"/>
                      </a:solidFill>
                    </a:lnR>
                    <a:lnT w="9525">
                      <a:solidFill>
                        <a:srgbClr val="D5E2E0"/>
                      </a:solidFill>
                    </a:lnT>
                    <a:lnB w="9525">
                      <a:solidFill>
                        <a:srgbClr val="D5E2E0"/>
                      </a:solidFill>
                    </a:lnB>
                    <a:solidFill>
                      <a:srgbClr val="EAF3F1"/>
                    </a:solidFill>
                  </a:tcPr>
                </a:tc>
                <a:extLst>
                  <a:ext uri="{0D108BD9-81ED-4DB2-BD59-A6C34878D82A}">
                    <a16:rowId xmlns:a16="http://schemas.microsoft.com/office/drawing/2014/main" val="10002"/>
                  </a:ext>
                </a:extLst>
              </a:tr>
              <a:tr h="438912">
                <a:tc>
                  <a:txBody>
                    <a:bodyPr/>
                    <a:lstStyle/>
                    <a:p>
                      <a:pPr algn="l"/>
                      <a:r>
                        <a:rPr sz="1400" b="0" i="0">
                          <a:solidFill>
                            <a:srgbClr val="1D2B33"/>
                          </a:solidFill>
                          <a:latin typeface="Calibri"/>
                        </a:rPr>
                        <a:t>Random Quick Sort</a:t>
                      </a:r>
                    </a:p>
                  </a:txBody>
                  <a:tcPr marT="36576" marB="36576" anchor="ctr">
                    <a:lnL w="9525">
                      <a:solidFill>
                        <a:srgbClr val="D5E2E0"/>
                      </a:solidFill>
                    </a:lnL>
                    <a:lnR w="9525">
                      <a:solidFill>
                        <a:srgbClr val="D5E2E0"/>
                      </a:solidFill>
                    </a:lnR>
                    <a:lnT w="9525">
                      <a:solidFill>
                        <a:srgbClr val="D5E2E0"/>
                      </a:solidFill>
                    </a:lnT>
                    <a:lnB w="9525">
                      <a:solidFill>
                        <a:srgbClr val="D5E2E0"/>
                      </a:solidFill>
                    </a:lnB>
                    <a:solidFill>
                      <a:srgbClr val="FFFFFF"/>
                    </a:solidFill>
                  </a:tcPr>
                </a:tc>
                <a:tc>
                  <a:txBody>
                    <a:bodyPr/>
                    <a:lstStyle/>
                    <a:p>
                      <a:pPr algn="l"/>
                      <a:r>
                        <a:rPr sz="1400" b="0" i="0">
                          <a:solidFill>
                            <a:srgbClr val="1D2B33"/>
                          </a:solidFill>
                          <a:latin typeface="Calibri"/>
                        </a:rPr>
                        <a:t>n log n</a:t>
                      </a:r>
                    </a:p>
                  </a:txBody>
                  <a:tcPr marT="36576" marB="36576" anchor="ctr">
                    <a:lnL w="9525">
                      <a:solidFill>
                        <a:srgbClr val="D5E2E0"/>
                      </a:solidFill>
                    </a:lnL>
                    <a:lnR w="9525">
                      <a:solidFill>
                        <a:srgbClr val="D5E2E0"/>
                      </a:solidFill>
                    </a:lnR>
                    <a:lnT w="9525">
                      <a:solidFill>
                        <a:srgbClr val="D5E2E0"/>
                      </a:solidFill>
                    </a:lnT>
                    <a:lnB w="9525">
                      <a:solidFill>
                        <a:srgbClr val="D5E2E0"/>
                      </a:solidFill>
                    </a:lnB>
                    <a:solidFill>
                      <a:srgbClr val="FFFFFF"/>
                    </a:solidFill>
                  </a:tcPr>
                </a:tc>
                <a:tc>
                  <a:txBody>
                    <a:bodyPr/>
                    <a:lstStyle/>
                    <a:p>
                      <a:pPr algn="l"/>
                      <a:r>
                        <a:rPr sz="1400" b="0" i="0">
                          <a:solidFill>
                            <a:srgbClr val="1D2B33"/>
                          </a:solidFill>
                          <a:latin typeface="Calibri"/>
                        </a:rPr>
                        <a:t>n log² n</a:t>
                      </a:r>
                    </a:p>
                  </a:txBody>
                  <a:tcPr marT="36576" marB="36576" anchor="ctr">
                    <a:lnL w="9525">
                      <a:solidFill>
                        <a:srgbClr val="D5E2E0"/>
                      </a:solidFill>
                    </a:lnL>
                    <a:lnR w="9525">
                      <a:solidFill>
                        <a:srgbClr val="D5E2E0"/>
                      </a:solidFill>
                    </a:lnR>
                    <a:lnT w="9525">
                      <a:solidFill>
                        <a:srgbClr val="D5E2E0"/>
                      </a:solidFill>
                    </a:lnT>
                    <a:lnB w="9525">
                      <a:solidFill>
                        <a:srgbClr val="D5E2E0"/>
                      </a:solidFill>
                    </a:lnB>
                    <a:solidFill>
                      <a:srgbClr val="FFFFFF"/>
                    </a:solidFill>
                  </a:tcPr>
                </a:tc>
                <a:extLst>
                  <a:ext uri="{0D108BD9-81ED-4DB2-BD59-A6C34878D82A}">
                    <a16:rowId xmlns:a16="http://schemas.microsoft.com/office/drawing/2014/main" val="10003"/>
                  </a:ext>
                </a:extLst>
              </a:tr>
              <a:tr h="438912">
                <a:tc>
                  <a:txBody>
                    <a:bodyPr/>
                    <a:lstStyle/>
                    <a:p>
                      <a:pPr algn="l"/>
                      <a:r>
                        <a:rPr sz="1400" b="0" i="0">
                          <a:solidFill>
                            <a:srgbClr val="1D2B33"/>
                          </a:solidFill>
                          <a:latin typeface="Calibri"/>
                        </a:rPr>
                        <a:t>Duplicate Quick Sort</a:t>
                      </a:r>
                    </a:p>
                  </a:txBody>
                  <a:tcPr marT="36576" marB="36576" anchor="ctr">
                    <a:lnL w="9525">
                      <a:solidFill>
                        <a:srgbClr val="D5E2E0"/>
                      </a:solidFill>
                    </a:lnL>
                    <a:lnR w="9525">
                      <a:solidFill>
                        <a:srgbClr val="D5E2E0"/>
                      </a:solidFill>
                    </a:lnR>
                    <a:lnT w="9525">
                      <a:solidFill>
                        <a:srgbClr val="D5E2E0"/>
                      </a:solidFill>
                    </a:lnT>
                    <a:lnB w="9525">
                      <a:solidFill>
                        <a:srgbClr val="D5E2E0"/>
                      </a:solidFill>
                    </a:lnB>
                    <a:solidFill>
                      <a:srgbClr val="EAF3F1"/>
                    </a:solidFill>
                  </a:tcPr>
                </a:tc>
                <a:tc>
                  <a:txBody>
                    <a:bodyPr/>
                    <a:lstStyle/>
                    <a:p>
                      <a:pPr algn="l"/>
                      <a:r>
                        <a:rPr sz="1400" b="0" i="0">
                          <a:solidFill>
                            <a:srgbClr val="1D2B33"/>
                          </a:solidFill>
                          <a:latin typeface="Calibri"/>
                        </a:rPr>
                        <a:t>n</a:t>
                      </a:r>
                    </a:p>
                  </a:txBody>
                  <a:tcPr marT="36576" marB="36576" anchor="ctr">
                    <a:lnL w="9525">
                      <a:solidFill>
                        <a:srgbClr val="D5E2E0"/>
                      </a:solidFill>
                    </a:lnL>
                    <a:lnR w="9525">
                      <a:solidFill>
                        <a:srgbClr val="D5E2E0"/>
                      </a:solidFill>
                    </a:lnR>
                    <a:lnT w="9525">
                      <a:solidFill>
                        <a:srgbClr val="D5E2E0"/>
                      </a:solidFill>
                    </a:lnT>
                    <a:lnB w="9525">
                      <a:solidFill>
                        <a:srgbClr val="D5E2E0"/>
                      </a:solidFill>
                    </a:lnB>
                    <a:solidFill>
                      <a:srgbClr val="EAF3F1"/>
                    </a:solidFill>
                  </a:tcPr>
                </a:tc>
                <a:tc>
                  <a:txBody>
                    <a:bodyPr/>
                    <a:lstStyle/>
                    <a:p>
                      <a:pPr algn="l"/>
                      <a:r>
                        <a:rPr sz="1400" b="0" i="0">
                          <a:solidFill>
                            <a:srgbClr val="1D2B33"/>
                          </a:solidFill>
                          <a:latin typeface="Calibri"/>
                        </a:rPr>
                        <a:t>n log n</a:t>
                      </a:r>
                    </a:p>
                  </a:txBody>
                  <a:tcPr marT="36576" marB="36576" anchor="ctr">
                    <a:lnL w="9525">
                      <a:solidFill>
                        <a:srgbClr val="D5E2E0"/>
                      </a:solidFill>
                    </a:lnL>
                    <a:lnR w="9525">
                      <a:solidFill>
                        <a:srgbClr val="D5E2E0"/>
                      </a:solidFill>
                    </a:lnR>
                    <a:lnT w="9525">
                      <a:solidFill>
                        <a:srgbClr val="D5E2E0"/>
                      </a:solidFill>
                    </a:lnT>
                    <a:lnB w="9525">
                      <a:solidFill>
                        <a:srgbClr val="D5E2E0"/>
                      </a:solidFill>
                    </a:lnB>
                    <a:solidFill>
                      <a:srgbClr val="EAF3F1"/>
                    </a:solidFill>
                  </a:tcPr>
                </a:tc>
                <a:extLst>
                  <a:ext uri="{0D108BD9-81ED-4DB2-BD59-A6C34878D82A}">
                    <a16:rowId xmlns:a16="http://schemas.microsoft.com/office/drawing/2014/main" val="10004"/>
                  </a:ext>
                </a:extLst>
              </a:tr>
              <a:tr h="438912">
                <a:tc>
                  <a:txBody>
                    <a:bodyPr/>
                    <a:lstStyle/>
                    <a:p>
                      <a:pPr algn="l"/>
                      <a:r>
                        <a:rPr sz="1400" b="0" i="0">
                          <a:solidFill>
                            <a:srgbClr val="1D2B33"/>
                          </a:solidFill>
                          <a:latin typeface="Calibri"/>
                        </a:rPr>
                        <a:t>Closest pair</a:t>
                      </a:r>
                    </a:p>
                  </a:txBody>
                  <a:tcPr marT="36576" marB="36576" anchor="ctr">
                    <a:lnL w="9525">
                      <a:solidFill>
                        <a:srgbClr val="D5E2E0"/>
                      </a:solidFill>
                    </a:lnL>
                    <a:lnR w="9525">
                      <a:solidFill>
                        <a:srgbClr val="D5E2E0"/>
                      </a:solidFill>
                    </a:lnR>
                    <a:lnT w="9525">
                      <a:solidFill>
                        <a:srgbClr val="D5E2E0"/>
                      </a:solidFill>
                    </a:lnT>
                    <a:lnB w="9525">
                      <a:solidFill>
                        <a:srgbClr val="D5E2E0"/>
                      </a:solidFill>
                    </a:lnB>
                    <a:solidFill>
                      <a:srgbClr val="FFFFFF"/>
                    </a:solidFill>
                  </a:tcPr>
                </a:tc>
                <a:tc>
                  <a:txBody>
                    <a:bodyPr/>
                    <a:lstStyle/>
                    <a:p>
                      <a:pPr algn="l"/>
                      <a:r>
                        <a:rPr sz="1400" b="0" i="0">
                          <a:solidFill>
                            <a:srgbClr val="1D2B33"/>
                          </a:solidFill>
                          <a:latin typeface="Calibri"/>
                        </a:rPr>
                        <a:t>n log² n</a:t>
                      </a:r>
                    </a:p>
                  </a:txBody>
                  <a:tcPr marT="36576" marB="36576" anchor="ctr">
                    <a:lnL w="9525">
                      <a:solidFill>
                        <a:srgbClr val="D5E2E0"/>
                      </a:solidFill>
                    </a:lnL>
                    <a:lnR w="9525">
                      <a:solidFill>
                        <a:srgbClr val="D5E2E0"/>
                      </a:solidFill>
                    </a:lnR>
                    <a:lnT w="9525">
                      <a:solidFill>
                        <a:srgbClr val="D5E2E0"/>
                      </a:solidFill>
                    </a:lnT>
                    <a:lnB w="9525">
                      <a:solidFill>
                        <a:srgbClr val="D5E2E0"/>
                      </a:solidFill>
                    </a:lnB>
                    <a:solidFill>
                      <a:srgbClr val="FFFFFF"/>
                    </a:solidFill>
                  </a:tcPr>
                </a:tc>
                <a:tc>
                  <a:txBody>
                    <a:bodyPr/>
                    <a:lstStyle/>
                    <a:p>
                      <a:pPr algn="l"/>
                      <a:r>
                        <a:rPr sz="1400" b="0" i="0">
                          <a:solidFill>
                            <a:srgbClr val="1D2B33"/>
                          </a:solidFill>
                          <a:latin typeface="Calibri"/>
                        </a:rPr>
                        <a:t>n log² n</a:t>
                      </a:r>
                    </a:p>
                  </a:txBody>
                  <a:tcPr marT="36576" marB="36576" anchor="ctr">
                    <a:lnL w="9525">
                      <a:solidFill>
                        <a:srgbClr val="D5E2E0"/>
                      </a:solidFill>
                    </a:lnL>
                    <a:lnR w="9525">
                      <a:solidFill>
                        <a:srgbClr val="D5E2E0"/>
                      </a:solidFill>
                    </a:lnR>
                    <a:lnT w="9525">
                      <a:solidFill>
                        <a:srgbClr val="D5E2E0"/>
                      </a:solidFill>
                    </a:lnT>
                    <a:lnB w="9525">
                      <a:solidFill>
                        <a:srgbClr val="D5E2E0"/>
                      </a:solidFill>
                    </a:lnB>
                    <a:solidFill>
                      <a:srgbClr val="FFFFFF"/>
                    </a:solidFill>
                  </a:tcPr>
                </a:tc>
                <a:extLst>
                  <a:ext uri="{0D108BD9-81ED-4DB2-BD59-A6C34878D82A}">
                    <a16:rowId xmlns:a16="http://schemas.microsoft.com/office/drawing/2014/main" val="10005"/>
                  </a:ext>
                </a:extLst>
              </a:tr>
            </a:tbl>
          </a:graphicData>
        </a:graphic>
      </p:graphicFrame>
      <p:sp>
        <p:nvSpPr>
          <p:cNvPr id="6" name="Rounded Rectangle 5"/>
          <p:cNvSpPr/>
          <p:nvPr/>
        </p:nvSpPr>
        <p:spPr>
          <a:xfrm>
            <a:off x="7589520" y="4526280"/>
            <a:ext cx="4023360" cy="1691640"/>
          </a:xfrm>
          <a:prstGeom prst="roundRect">
            <a:avLst>
              <a:gd name="adj" fmla="val 8000"/>
            </a:avLst>
          </a:prstGeom>
          <a:solidFill>
            <a:srgbClr val="FBED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772400" y="4572000"/>
            <a:ext cx="3657600" cy="1600200"/>
          </a:xfrm>
          <a:prstGeom prst="rect">
            <a:avLst/>
          </a:prstGeom>
          <a:noFill/>
        </p:spPr>
        <p:txBody>
          <a:bodyPr wrap="square" lIns="0" tIns="0" rIns="0" bIns="0" anchor="ctr">
            <a:spAutoFit/>
          </a:bodyPr>
          <a:lstStyle/>
          <a:p>
            <a:pPr algn="l"/>
            <a:r>
              <a:rPr sz="1400" b="1" i="0">
                <a:solidFill>
                  <a:srgbClr val="1D2B33"/>
                </a:solidFill>
                <a:latin typeface="Calibri"/>
              </a:rPr>
              <a:t>R² cannot separate n, n log n and n log² n: all are above 0.998. </a:t>
            </a:r>
            <a:r>
              <a:rPr sz="1400" b="0" i="0">
                <a:solidFill>
                  <a:srgbClr val="1D2B33"/>
                </a:solidFill>
                <a:latin typeface="Calibri"/>
              </a:rPr>
              <a:t>The growth factor is better evidence: closest pair grows like n log² n and duplicates stay near linear.</a:t>
            </a:r>
          </a:p>
        </p:txBody>
      </p:sp>
      <p:sp>
        <p:nvSpPr>
          <p:cNvPr id="8" name="TextBox 7"/>
          <p:cNvSpPr txBox="1"/>
          <p:nvPr/>
        </p:nvSpPr>
        <p:spPr>
          <a:xfrm>
            <a:off x="10881360" y="6400800"/>
            <a:ext cx="822960" cy="274320"/>
          </a:xfrm>
          <a:prstGeom prst="rect">
            <a:avLst/>
          </a:prstGeom>
          <a:noFill/>
        </p:spPr>
        <p:txBody>
          <a:bodyPr wrap="square" lIns="0" tIns="0" rIns="0" bIns="0" anchor="t">
            <a:spAutoFit/>
          </a:bodyPr>
          <a:lstStyle/>
          <a:p>
            <a:pPr algn="r"/>
            <a:r>
              <a:rPr sz="1100" b="0" i="0">
                <a:solidFill>
                  <a:srgbClr val="5B6B73"/>
                </a:solidFill>
                <a:latin typeface="Calibri"/>
              </a:rPr>
              <a:t>20</a:t>
            </a:r>
          </a:p>
        </p:txBody>
      </p:sp>
      <p:sp>
        <p:nvSpPr>
          <p:cNvPr id="9" name="TextBox 8"/>
          <p:cNvSpPr txBox="1"/>
          <p:nvPr/>
        </p:nvSpPr>
        <p:spPr>
          <a:xfrm>
            <a:off x="548640" y="6400800"/>
            <a:ext cx="7315200" cy="274320"/>
          </a:xfrm>
          <a:prstGeom prst="rect">
            <a:avLst/>
          </a:prstGeom>
          <a:noFill/>
        </p:spPr>
        <p:txBody>
          <a:bodyPr wrap="square" lIns="0" tIns="0" rIns="0" bIns="0" anchor="t">
            <a:spAutoFit/>
          </a:bodyPr>
          <a:lstStyle/>
          <a:p>
            <a:pPr algn="l"/>
            <a:r>
              <a:rPr sz="1100" b="0" i="0">
                <a:solidFill>
                  <a:srgbClr val="5B6B73"/>
                </a:solidFill>
                <a:latin typeface="Calibri"/>
              </a:rPr>
              <a:t>CyED II · Integrative Assignment 1 · Divide and conquer in Scala</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47472"/>
            <a:ext cx="11064240" cy="731520"/>
          </a:xfrm>
          <a:prstGeom prst="rect">
            <a:avLst/>
          </a:prstGeom>
          <a:noFill/>
        </p:spPr>
        <p:txBody>
          <a:bodyPr wrap="square" lIns="0" tIns="0" rIns="0" bIns="0" anchor="b">
            <a:spAutoFit/>
          </a:bodyPr>
          <a:lstStyle/>
          <a:p>
            <a:pPr algn="l"/>
            <a:r>
              <a:rPr sz="3400" b="1" i="0">
                <a:solidFill>
                  <a:srgbClr val="1D2B33"/>
                </a:solidFill>
                <a:latin typeface="Cambria"/>
              </a:rPr>
              <a:t>What explains the deviations</a:t>
            </a:r>
          </a:p>
        </p:txBody>
      </p:sp>
      <p:sp>
        <p:nvSpPr>
          <p:cNvPr id="3" name="Oval 2"/>
          <p:cNvSpPr/>
          <p:nvPr/>
        </p:nvSpPr>
        <p:spPr>
          <a:xfrm>
            <a:off x="548640" y="1600200"/>
            <a:ext cx="685800" cy="685800"/>
          </a:xfrm>
          <a:prstGeom prst="ellipse">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500" b="1" i="0">
                <a:solidFill>
                  <a:srgbClr val="FFFFFF"/>
                </a:solidFill>
                <a:latin typeface="Cambria"/>
              </a:rPr>
              <a:t>GC</a:t>
            </a:r>
          </a:p>
        </p:txBody>
      </p:sp>
      <p:sp>
        <p:nvSpPr>
          <p:cNvPr id="4" name="TextBox 3"/>
          <p:cNvSpPr txBox="1"/>
          <p:nvPr/>
        </p:nvSpPr>
        <p:spPr>
          <a:xfrm>
            <a:off x="1463040" y="1508760"/>
            <a:ext cx="4480560" cy="1371600"/>
          </a:xfrm>
          <a:prstGeom prst="rect">
            <a:avLst/>
          </a:prstGeom>
          <a:noFill/>
        </p:spPr>
        <p:txBody>
          <a:bodyPr wrap="square" lIns="0" tIns="0" rIns="0" bIns="0" anchor="t">
            <a:spAutoFit/>
          </a:bodyPr>
          <a:lstStyle/>
          <a:p>
            <a:pPr algn="l">
              <a:spcAft>
                <a:spcPts val="300"/>
              </a:spcAft>
            </a:pPr>
            <a:r>
              <a:rPr sz="1800" b="1" i="0">
                <a:solidFill>
                  <a:srgbClr val="5B6B73"/>
                </a:solidFill>
                <a:latin typeface="Cambria"/>
              </a:rPr>
              <a:t>Garbage collector</a:t>
            </a:r>
          </a:p>
          <a:p>
            <a:pPr algn="l">
              <a:spcAft>
                <a:spcPts val="300"/>
              </a:spcAft>
            </a:pPr>
            <a:r>
              <a:rPr sz="1500" b="0" i="0">
                <a:solidFill>
                  <a:srgbClr val="5B6B73"/>
                </a:solidFill>
                <a:latin typeface="Calibri"/>
              </a:rPr>
              <a:t>Pauses grow with memory use; with 10⁶ immutable nodes they weigh more.</a:t>
            </a:r>
          </a:p>
        </p:txBody>
      </p:sp>
      <p:sp>
        <p:nvSpPr>
          <p:cNvPr id="5" name="Oval 4"/>
          <p:cNvSpPr/>
          <p:nvPr/>
        </p:nvSpPr>
        <p:spPr>
          <a:xfrm>
            <a:off x="548640" y="3200400"/>
            <a:ext cx="685800" cy="685800"/>
          </a:xfrm>
          <a:prstGeom prst="ellipse">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500" b="1" i="0">
                <a:solidFill>
                  <a:srgbClr val="FFFFFF"/>
                </a:solidFill>
                <a:latin typeface="Cambria"/>
              </a:rPr>
              <a:t>JIT</a:t>
            </a:r>
          </a:p>
        </p:txBody>
      </p:sp>
      <p:sp>
        <p:nvSpPr>
          <p:cNvPr id="6" name="TextBox 5"/>
          <p:cNvSpPr txBox="1"/>
          <p:nvPr/>
        </p:nvSpPr>
        <p:spPr>
          <a:xfrm>
            <a:off x="1463040" y="3108960"/>
            <a:ext cx="4480560" cy="1371600"/>
          </a:xfrm>
          <a:prstGeom prst="rect">
            <a:avLst/>
          </a:prstGeom>
          <a:noFill/>
        </p:spPr>
        <p:txBody>
          <a:bodyPr wrap="square" lIns="0" tIns="0" rIns="0" bIns="0" anchor="t">
            <a:spAutoFit/>
          </a:bodyPr>
          <a:lstStyle/>
          <a:p>
            <a:pPr algn="l">
              <a:spcAft>
                <a:spcPts val="300"/>
              </a:spcAft>
            </a:pPr>
            <a:r>
              <a:rPr sz="1800" b="1" i="0">
                <a:solidFill>
                  <a:srgbClr val="5B6B73"/>
                </a:solidFill>
                <a:latin typeface="Cambria"/>
              </a:rPr>
              <a:t>JIT compilation</a:t>
            </a:r>
          </a:p>
          <a:p>
            <a:pPr algn="l">
              <a:spcAft>
                <a:spcPts val="300"/>
              </a:spcAft>
            </a:pPr>
            <a:r>
              <a:rPr sz="1500" b="0" i="0">
                <a:solidFill>
                  <a:srgbClr val="5B6B73"/>
                </a:solidFill>
                <a:latin typeface="Calibri"/>
              </a:rPr>
              <a:t>May not be finished after 5 warm-up runs; mostly affects medium sizes.</a:t>
            </a:r>
          </a:p>
        </p:txBody>
      </p:sp>
      <p:sp>
        <p:nvSpPr>
          <p:cNvPr id="7" name="Oval 6"/>
          <p:cNvSpPr/>
          <p:nvPr/>
        </p:nvSpPr>
        <p:spPr>
          <a:xfrm>
            <a:off x="548640" y="4800600"/>
            <a:ext cx="685800" cy="685800"/>
          </a:xfrm>
          <a:prstGeom prst="ellipse">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500" b="1" i="0">
                <a:solidFill>
                  <a:srgbClr val="FFFFFF"/>
                </a:solidFill>
                <a:latin typeface="Cambria"/>
              </a:rPr>
              <a:t>OS</a:t>
            </a:r>
          </a:p>
        </p:txBody>
      </p:sp>
      <p:sp>
        <p:nvSpPr>
          <p:cNvPr id="8" name="TextBox 7"/>
          <p:cNvSpPr txBox="1"/>
          <p:nvPr/>
        </p:nvSpPr>
        <p:spPr>
          <a:xfrm>
            <a:off x="1463040" y="4709160"/>
            <a:ext cx="4480560" cy="1371600"/>
          </a:xfrm>
          <a:prstGeom prst="rect">
            <a:avLst/>
          </a:prstGeom>
          <a:noFill/>
        </p:spPr>
        <p:txBody>
          <a:bodyPr wrap="square" lIns="0" tIns="0" rIns="0" bIns="0" anchor="t">
            <a:spAutoFit/>
          </a:bodyPr>
          <a:lstStyle/>
          <a:p>
            <a:pPr algn="l">
              <a:spcAft>
                <a:spcPts val="300"/>
              </a:spcAft>
            </a:pPr>
            <a:r>
              <a:rPr sz="1800" b="1" i="0">
                <a:solidFill>
                  <a:srgbClr val="5B6B73"/>
                </a:solidFill>
                <a:latin typeface="Cambria"/>
              </a:rPr>
              <a:t>System processes</a:t>
            </a:r>
          </a:p>
          <a:p>
            <a:pPr algn="l">
              <a:spcAft>
                <a:spcPts val="300"/>
              </a:spcAft>
            </a:pPr>
            <a:r>
              <a:rPr sz="1500" b="0" i="0">
                <a:solidFill>
                  <a:srgbClr val="5B6B73"/>
                </a:solidFill>
                <a:latin typeface="Calibri"/>
              </a:rPr>
              <a:t>Windows background load adds variance between runs.</a:t>
            </a:r>
          </a:p>
        </p:txBody>
      </p:sp>
      <p:sp>
        <p:nvSpPr>
          <p:cNvPr id="9" name="Oval 8"/>
          <p:cNvSpPr/>
          <p:nvPr/>
        </p:nvSpPr>
        <p:spPr>
          <a:xfrm>
            <a:off x="6172200" y="1600200"/>
            <a:ext cx="685800" cy="685800"/>
          </a:xfrm>
          <a:prstGeom prst="ellipse">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500" b="1" i="0">
                <a:solidFill>
                  <a:srgbClr val="FFFFFF"/>
                </a:solidFill>
                <a:latin typeface="Cambria"/>
              </a:rPr>
              <a:t>1×</a:t>
            </a:r>
          </a:p>
        </p:txBody>
      </p:sp>
      <p:sp>
        <p:nvSpPr>
          <p:cNvPr id="10" name="TextBox 9"/>
          <p:cNvSpPr txBox="1"/>
          <p:nvPr/>
        </p:nvSpPr>
        <p:spPr>
          <a:xfrm>
            <a:off x="7086600" y="1508760"/>
            <a:ext cx="4480560" cy="1371600"/>
          </a:xfrm>
          <a:prstGeom prst="rect">
            <a:avLst/>
          </a:prstGeom>
          <a:noFill/>
        </p:spPr>
        <p:txBody>
          <a:bodyPr wrap="square" lIns="0" tIns="0" rIns="0" bIns="0" anchor="t">
            <a:spAutoFit/>
          </a:bodyPr>
          <a:lstStyle/>
          <a:p>
            <a:pPr algn="l">
              <a:spcAft>
                <a:spcPts val="300"/>
              </a:spcAft>
            </a:pPr>
            <a:r>
              <a:rPr sz="1800" b="1" i="0">
                <a:solidFill>
                  <a:srgbClr val="5B6B73"/>
                </a:solidFill>
                <a:latin typeface="Cambria"/>
              </a:rPr>
              <a:t>One input per size</a:t>
            </a:r>
          </a:p>
          <a:p>
            <a:pPr algn="l">
              <a:spcAft>
                <a:spcPts val="300"/>
              </a:spcAft>
            </a:pPr>
            <a:r>
              <a:rPr sz="1500" b="0" i="0">
                <a:solidFill>
                  <a:srgbClr val="5B6B73"/>
                </a:solidFill>
                <a:latin typeface="Calibri"/>
              </a:rPr>
              <a:t>Fixed seed: reproducible, but no variation between inputs.</a:t>
            </a:r>
          </a:p>
        </p:txBody>
      </p:sp>
      <p:sp>
        <p:nvSpPr>
          <p:cNvPr id="11" name="Oval 10"/>
          <p:cNvSpPr/>
          <p:nvPr/>
        </p:nvSpPr>
        <p:spPr>
          <a:xfrm>
            <a:off x="6172200" y="3200400"/>
            <a:ext cx="685800" cy="685800"/>
          </a:xfrm>
          <a:prstGeom prst="ellipse">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500" b="1" i="0">
                <a:solidFill>
                  <a:srgbClr val="FFFFFF"/>
                </a:solidFill>
                <a:latin typeface="Cambria"/>
              </a:rPr>
              <a:t>+n</a:t>
            </a:r>
          </a:p>
        </p:txBody>
      </p:sp>
      <p:sp>
        <p:nvSpPr>
          <p:cNvPr id="12" name="TextBox 11"/>
          <p:cNvSpPr txBox="1"/>
          <p:nvPr/>
        </p:nvSpPr>
        <p:spPr>
          <a:xfrm>
            <a:off x="7086600" y="3108960"/>
            <a:ext cx="4480560" cy="1371600"/>
          </a:xfrm>
          <a:prstGeom prst="rect">
            <a:avLst/>
          </a:prstGeom>
          <a:noFill/>
        </p:spPr>
        <p:txBody>
          <a:bodyPr wrap="square" lIns="0" tIns="0" rIns="0" bIns="0" anchor="t">
            <a:spAutoFit/>
          </a:bodyPr>
          <a:lstStyle/>
          <a:p>
            <a:pPr algn="l">
              <a:spcAft>
                <a:spcPts val="300"/>
              </a:spcAft>
            </a:pPr>
            <a:r>
              <a:rPr sz="1800" b="1" i="0">
                <a:solidFill>
                  <a:srgbClr val="5B6B73"/>
                </a:solidFill>
                <a:latin typeface="Cambria"/>
              </a:rPr>
              <a:t>Consuming the output</a:t>
            </a:r>
          </a:p>
          <a:p>
            <a:pPr algn="l">
              <a:spcAft>
                <a:spcPts val="300"/>
              </a:spcAft>
            </a:pPr>
            <a:r>
              <a:rPr sz="1500" b="0" i="0">
                <a:solidFill>
                  <a:srgbClr val="5B6B73"/>
                </a:solidFill>
                <a:latin typeface="Calibri"/>
              </a:rPr>
              <a:t>Quick Sort time includes a linear pass over the result.</a:t>
            </a:r>
          </a:p>
        </p:txBody>
      </p:sp>
      <p:sp>
        <p:nvSpPr>
          <p:cNvPr id="13" name="Oval 12"/>
          <p:cNvSpPr/>
          <p:nvPr/>
        </p:nvSpPr>
        <p:spPr>
          <a:xfrm>
            <a:off x="6172200" y="4800600"/>
            <a:ext cx="685800" cy="685800"/>
          </a:xfrm>
          <a:prstGeom prst="ellipse">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500" b="1" i="0">
                <a:solidFill>
                  <a:srgbClr val="FFFFFF"/>
                </a:solidFill>
                <a:latin typeface="Cambria"/>
              </a:rPr>
              <a:t>µs</a:t>
            </a:r>
          </a:p>
        </p:txBody>
      </p:sp>
      <p:sp>
        <p:nvSpPr>
          <p:cNvPr id="14" name="TextBox 13"/>
          <p:cNvSpPr txBox="1"/>
          <p:nvPr/>
        </p:nvSpPr>
        <p:spPr>
          <a:xfrm>
            <a:off x="7086600" y="4709160"/>
            <a:ext cx="4480560" cy="1371600"/>
          </a:xfrm>
          <a:prstGeom prst="rect">
            <a:avLst/>
          </a:prstGeom>
          <a:noFill/>
        </p:spPr>
        <p:txBody>
          <a:bodyPr wrap="square" lIns="0" tIns="0" rIns="0" bIns="0" anchor="t">
            <a:spAutoFit/>
          </a:bodyPr>
          <a:lstStyle/>
          <a:p>
            <a:pPr algn="l">
              <a:spcAft>
                <a:spcPts val="300"/>
              </a:spcAft>
            </a:pPr>
            <a:r>
              <a:rPr sz="1800" b="1" i="0">
                <a:solidFill>
                  <a:srgbClr val="5B6B73"/>
                </a:solidFill>
                <a:latin typeface="Cambria"/>
              </a:rPr>
              <a:t>Toy sizes</a:t>
            </a:r>
          </a:p>
          <a:p>
            <a:pPr algn="l">
              <a:spcAft>
                <a:spcPts val="300"/>
              </a:spcAft>
            </a:pPr>
            <a:r>
              <a:rPr sz="1500" b="0" i="0">
                <a:solidFill>
                  <a:srgbClr val="5B6B73"/>
                </a:solidFill>
                <a:latin typeface="Calibri"/>
              </a:rPr>
              <a:t>Microseconds: clock noise dominates the measurement.</a:t>
            </a:r>
          </a:p>
        </p:txBody>
      </p:sp>
      <p:sp>
        <p:nvSpPr>
          <p:cNvPr id="15" name="TextBox 14"/>
          <p:cNvSpPr txBox="1"/>
          <p:nvPr/>
        </p:nvSpPr>
        <p:spPr>
          <a:xfrm>
            <a:off x="10881360" y="6400800"/>
            <a:ext cx="822960" cy="274320"/>
          </a:xfrm>
          <a:prstGeom prst="rect">
            <a:avLst/>
          </a:prstGeom>
          <a:noFill/>
        </p:spPr>
        <p:txBody>
          <a:bodyPr wrap="square" lIns="0" tIns="0" rIns="0" bIns="0" anchor="t">
            <a:spAutoFit/>
          </a:bodyPr>
          <a:lstStyle/>
          <a:p>
            <a:pPr algn="r"/>
            <a:r>
              <a:rPr sz="1100" b="0" i="0">
                <a:solidFill>
                  <a:srgbClr val="5B6B73"/>
                </a:solidFill>
                <a:latin typeface="Calibri"/>
              </a:rPr>
              <a:t>21</a:t>
            </a:r>
          </a:p>
        </p:txBody>
      </p:sp>
      <p:sp>
        <p:nvSpPr>
          <p:cNvPr id="16" name="TextBox 15"/>
          <p:cNvSpPr txBox="1"/>
          <p:nvPr/>
        </p:nvSpPr>
        <p:spPr>
          <a:xfrm>
            <a:off x="548640" y="6400800"/>
            <a:ext cx="7315200" cy="274320"/>
          </a:xfrm>
          <a:prstGeom prst="rect">
            <a:avLst/>
          </a:prstGeom>
          <a:noFill/>
        </p:spPr>
        <p:txBody>
          <a:bodyPr wrap="square" lIns="0" tIns="0" rIns="0" bIns="0" anchor="t">
            <a:spAutoFit/>
          </a:bodyPr>
          <a:lstStyle/>
          <a:p>
            <a:pPr algn="l"/>
            <a:r>
              <a:rPr sz="1100" b="0" i="0">
                <a:solidFill>
                  <a:srgbClr val="5B6B73"/>
                </a:solidFill>
                <a:latin typeface="Calibri"/>
              </a:rPr>
              <a:t>CyED II · Integrative Assignment 1 · Divide and conquer in Scala</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B3C49"/>
        </a:solidFill>
        <a:effectLst/>
      </p:bgPr>
    </p:bg>
    <p:spTree>
      <p:nvGrpSpPr>
        <p:cNvPr id="1" name=""/>
        <p:cNvGrpSpPr/>
        <p:nvPr/>
      </p:nvGrpSpPr>
      <p:grpSpPr>
        <a:xfrm>
          <a:off x="0" y="0"/>
          <a:ext cx="0" cy="0"/>
          <a:chOff x="0" y="0"/>
          <a:chExt cx="0" cy="0"/>
        </a:xfrm>
      </p:grpSpPr>
      <p:sp>
        <p:nvSpPr>
          <p:cNvPr id="2" name="TextBox 1"/>
          <p:cNvSpPr txBox="1"/>
          <p:nvPr/>
        </p:nvSpPr>
        <p:spPr>
          <a:xfrm>
            <a:off x="548640" y="347472"/>
            <a:ext cx="11064240" cy="731520"/>
          </a:xfrm>
          <a:prstGeom prst="rect">
            <a:avLst/>
          </a:prstGeom>
          <a:noFill/>
        </p:spPr>
        <p:txBody>
          <a:bodyPr wrap="square" lIns="0" tIns="0" rIns="0" bIns="0" anchor="b">
            <a:spAutoFit/>
          </a:bodyPr>
          <a:lstStyle/>
          <a:p>
            <a:pPr algn="l"/>
            <a:r>
              <a:rPr sz="3400" b="1" i="0">
                <a:solidFill>
                  <a:srgbClr val="FFFFFF"/>
                </a:solidFill>
                <a:latin typeface="Cambria"/>
              </a:rPr>
              <a:t>Conclusions</a:t>
            </a:r>
          </a:p>
        </p:txBody>
      </p:sp>
      <p:sp>
        <p:nvSpPr>
          <p:cNvPr id="3" name="Rounded Rectangle 2"/>
          <p:cNvSpPr/>
          <p:nvPr/>
        </p:nvSpPr>
        <p:spPr>
          <a:xfrm>
            <a:off x="548640" y="1554480"/>
            <a:ext cx="5440680" cy="2011680"/>
          </a:xfrm>
          <a:prstGeom prst="roundRect">
            <a:avLst>
              <a:gd name="adj" fmla="val 8000"/>
            </a:avLst>
          </a:prstGeom>
          <a:solidFill>
            <a:srgbClr val="1450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822959" y="1828800"/>
            <a:ext cx="548640" cy="548640"/>
          </a:xfrm>
          <a:prstGeom prst="ellipse">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800" b="1" i="0">
                <a:solidFill>
                  <a:srgbClr val="FFFFFF"/>
                </a:solidFill>
                <a:latin typeface="Cambria"/>
              </a:rPr>
              <a:t>1</a:t>
            </a:r>
          </a:p>
        </p:txBody>
      </p:sp>
      <p:sp>
        <p:nvSpPr>
          <p:cNvPr id="5" name="TextBox 4"/>
          <p:cNvSpPr txBox="1"/>
          <p:nvPr/>
        </p:nvSpPr>
        <p:spPr>
          <a:xfrm>
            <a:off x="1554480" y="1828800"/>
            <a:ext cx="4206240" cy="548640"/>
          </a:xfrm>
          <a:prstGeom prst="rect">
            <a:avLst/>
          </a:prstGeom>
          <a:noFill/>
        </p:spPr>
        <p:txBody>
          <a:bodyPr wrap="square" lIns="0" tIns="0" rIns="0" bIns="0" anchor="ctr">
            <a:spAutoFit/>
          </a:bodyPr>
          <a:lstStyle/>
          <a:p>
            <a:pPr algn="l"/>
            <a:r>
              <a:rPr sz="2000" b="1" i="0">
                <a:solidFill>
                  <a:srgbClr val="FFFFFF"/>
                </a:solidFill>
                <a:latin typeface="Cambria"/>
              </a:rPr>
              <a:t>Correct</a:t>
            </a:r>
          </a:p>
        </p:txBody>
      </p:sp>
      <p:sp>
        <p:nvSpPr>
          <p:cNvPr id="6" name="TextBox 5"/>
          <p:cNvSpPr txBox="1"/>
          <p:nvPr/>
        </p:nvSpPr>
        <p:spPr>
          <a:xfrm>
            <a:off x="822959" y="2514600"/>
            <a:ext cx="4937760" cy="1005840"/>
          </a:xfrm>
          <a:prstGeom prst="rect">
            <a:avLst/>
          </a:prstGeom>
          <a:noFill/>
        </p:spPr>
        <p:txBody>
          <a:bodyPr wrap="square" lIns="0" tIns="0" rIns="0" bIns="0" anchor="t">
            <a:spAutoFit/>
          </a:bodyPr>
          <a:lstStyle/>
          <a:p>
            <a:pPr algn="l"/>
            <a:r>
              <a:rPr sz="1500" b="0" i="0">
                <a:solidFill>
                  <a:srgbClr val="D3E3E6"/>
                </a:solidFill>
                <a:latin typeface="Calibri"/>
              </a:rPr>
              <a:t>Proven by structural induction and tested against brute-force oracles, including edge cases and 3,280 exhaustive lists.</a:t>
            </a:r>
          </a:p>
        </p:txBody>
      </p:sp>
      <p:sp>
        <p:nvSpPr>
          <p:cNvPr id="7" name="Rounded Rectangle 6"/>
          <p:cNvSpPr/>
          <p:nvPr/>
        </p:nvSpPr>
        <p:spPr>
          <a:xfrm>
            <a:off x="6172200" y="1554480"/>
            <a:ext cx="5440680" cy="2011680"/>
          </a:xfrm>
          <a:prstGeom prst="roundRect">
            <a:avLst>
              <a:gd name="adj" fmla="val 8000"/>
            </a:avLst>
          </a:prstGeom>
          <a:solidFill>
            <a:srgbClr val="1450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6446520" y="1828800"/>
            <a:ext cx="548640" cy="548640"/>
          </a:xfrm>
          <a:prstGeom prst="ellipse">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800" b="1" i="0">
                <a:solidFill>
                  <a:srgbClr val="FFFFFF"/>
                </a:solidFill>
                <a:latin typeface="Cambria"/>
              </a:rPr>
              <a:t>2</a:t>
            </a:r>
          </a:p>
        </p:txBody>
      </p:sp>
      <p:sp>
        <p:nvSpPr>
          <p:cNvPr id="9" name="TextBox 8"/>
          <p:cNvSpPr txBox="1"/>
          <p:nvPr/>
        </p:nvSpPr>
        <p:spPr>
          <a:xfrm>
            <a:off x="7178040" y="1828800"/>
            <a:ext cx="4206240" cy="548640"/>
          </a:xfrm>
          <a:prstGeom prst="rect">
            <a:avLst/>
          </a:prstGeom>
          <a:noFill/>
        </p:spPr>
        <p:txBody>
          <a:bodyPr wrap="square" lIns="0" tIns="0" rIns="0" bIns="0" anchor="ctr">
            <a:spAutoFit/>
          </a:bodyPr>
          <a:lstStyle/>
          <a:p>
            <a:pPr algn="l"/>
            <a:r>
              <a:rPr sz="2000" b="1" i="0">
                <a:solidFill>
                  <a:srgbClr val="FFFFFF"/>
                </a:solidFill>
                <a:latin typeface="Cambria"/>
              </a:rPr>
              <a:t>Efficient</a:t>
            </a:r>
          </a:p>
        </p:txBody>
      </p:sp>
      <p:sp>
        <p:nvSpPr>
          <p:cNvPr id="10" name="TextBox 9"/>
          <p:cNvSpPr txBox="1"/>
          <p:nvPr/>
        </p:nvSpPr>
        <p:spPr>
          <a:xfrm>
            <a:off x="6446520" y="2514600"/>
            <a:ext cx="4937760" cy="1005840"/>
          </a:xfrm>
          <a:prstGeom prst="rect">
            <a:avLst/>
          </a:prstGeom>
          <a:noFill/>
        </p:spPr>
        <p:txBody>
          <a:bodyPr wrap="square" lIns="0" tIns="0" rIns="0" bIns="0" anchor="t">
            <a:spAutoFit/>
          </a:bodyPr>
          <a:lstStyle/>
          <a:p>
            <a:pPr algn="l"/>
            <a:r>
              <a:rPr sz="1500" b="0" i="0">
                <a:solidFill>
                  <a:srgbClr val="D3E3E6"/>
                </a:solidFill>
                <a:latin typeface="Calibri"/>
              </a:rPr>
              <a:t>Inversions and Quick Sort Θ(n log n), closest pair Θ(n log² n); Quick Sort drops to Θ(n) with many repeated values.</a:t>
            </a:r>
          </a:p>
        </p:txBody>
      </p:sp>
      <p:sp>
        <p:nvSpPr>
          <p:cNvPr id="11" name="Rounded Rectangle 10"/>
          <p:cNvSpPr/>
          <p:nvPr/>
        </p:nvSpPr>
        <p:spPr>
          <a:xfrm>
            <a:off x="548640" y="3840480"/>
            <a:ext cx="5440680" cy="2011680"/>
          </a:xfrm>
          <a:prstGeom prst="roundRect">
            <a:avLst>
              <a:gd name="adj" fmla="val 8000"/>
            </a:avLst>
          </a:prstGeom>
          <a:solidFill>
            <a:srgbClr val="1450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822959" y="4114800"/>
            <a:ext cx="548640" cy="548640"/>
          </a:xfrm>
          <a:prstGeom prst="ellipse">
            <a:avLst/>
          </a:prstGeom>
          <a:solidFill>
            <a:srgbClr val="E9C46A"/>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800" b="1" i="0">
                <a:solidFill>
                  <a:srgbClr val="0B3C49"/>
                </a:solidFill>
                <a:latin typeface="Cambria"/>
              </a:rPr>
              <a:t>3</a:t>
            </a:r>
          </a:p>
        </p:txBody>
      </p:sp>
      <p:sp>
        <p:nvSpPr>
          <p:cNvPr id="13" name="TextBox 12"/>
          <p:cNvSpPr txBox="1"/>
          <p:nvPr/>
        </p:nvSpPr>
        <p:spPr>
          <a:xfrm>
            <a:off x="1554480" y="4114800"/>
            <a:ext cx="4206240" cy="548640"/>
          </a:xfrm>
          <a:prstGeom prst="rect">
            <a:avLst/>
          </a:prstGeom>
          <a:noFill/>
        </p:spPr>
        <p:txBody>
          <a:bodyPr wrap="square" lIns="0" tIns="0" rIns="0" bIns="0" anchor="ctr">
            <a:spAutoFit/>
          </a:bodyPr>
          <a:lstStyle/>
          <a:p>
            <a:pPr algn="l"/>
            <a:r>
              <a:rPr sz="2000" b="1" i="0">
                <a:solidFill>
                  <a:srgbClr val="FFFFFF"/>
                </a:solidFill>
                <a:latin typeface="Cambria"/>
              </a:rPr>
              <a:t>Functional and robust</a:t>
            </a:r>
          </a:p>
        </p:txBody>
      </p:sp>
      <p:sp>
        <p:nvSpPr>
          <p:cNvPr id="14" name="TextBox 13"/>
          <p:cNvSpPr txBox="1"/>
          <p:nvPr/>
        </p:nvSpPr>
        <p:spPr>
          <a:xfrm>
            <a:off x="822959" y="4800600"/>
            <a:ext cx="4937760" cy="1005840"/>
          </a:xfrm>
          <a:prstGeom prst="rect">
            <a:avLst/>
          </a:prstGeom>
          <a:noFill/>
        </p:spPr>
        <p:txBody>
          <a:bodyPr wrap="square" lIns="0" tIns="0" rIns="0" bIns="0" anchor="t">
            <a:spAutoFit/>
          </a:bodyPr>
          <a:lstStyle/>
          <a:p>
            <a:pPr algn="l"/>
            <a:r>
              <a:rPr sz="1500" b="0" i="0">
                <a:solidFill>
                  <a:srgbClr val="D3E3E6"/>
                </a:solidFill>
                <a:latin typeface="Calibri"/>
              </a:rPr>
              <a:t>No higher-order functions or mutation; @tailrec, Long and Double prevent stack and integer overflow.</a:t>
            </a:r>
          </a:p>
        </p:txBody>
      </p:sp>
      <p:sp>
        <p:nvSpPr>
          <p:cNvPr id="15" name="Rounded Rectangle 14"/>
          <p:cNvSpPr/>
          <p:nvPr/>
        </p:nvSpPr>
        <p:spPr>
          <a:xfrm>
            <a:off x="6172200" y="3840480"/>
            <a:ext cx="5440680" cy="2011680"/>
          </a:xfrm>
          <a:prstGeom prst="roundRect">
            <a:avLst>
              <a:gd name="adj" fmla="val 8000"/>
            </a:avLst>
          </a:prstGeom>
          <a:solidFill>
            <a:srgbClr val="1450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6446520" y="4114800"/>
            <a:ext cx="548640" cy="548640"/>
          </a:xfrm>
          <a:prstGeom prst="ellipse">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800" b="1" i="0">
                <a:solidFill>
                  <a:srgbClr val="FFFFFF"/>
                </a:solidFill>
                <a:latin typeface="Cambria"/>
              </a:rPr>
              <a:t>4</a:t>
            </a:r>
          </a:p>
        </p:txBody>
      </p:sp>
      <p:sp>
        <p:nvSpPr>
          <p:cNvPr id="17" name="TextBox 16"/>
          <p:cNvSpPr txBox="1"/>
          <p:nvPr/>
        </p:nvSpPr>
        <p:spPr>
          <a:xfrm>
            <a:off x="7178040" y="4114800"/>
            <a:ext cx="4206240" cy="548640"/>
          </a:xfrm>
          <a:prstGeom prst="rect">
            <a:avLst/>
          </a:prstGeom>
          <a:noFill/>
        </p:spPr>
        <p:txBody>
          <a:bodyPr wrap="square" lIns="0" tIns="0" rIns="0" bIns="0" anchor="ctr">
            <a:spAutoFit/>
          </a:bodyPr>
          <a:lstStyle/>
          <a:p>
            <a:pPr algn="l"/>
            <a:r>
              <a:rPr sz="2000" b="1" i="0">
                <a:solidFill>
                  <a:srgbClr val="FFFFFF"/>
                </a:solidFill>
                <a:latin typeface="Cambria"/>
              </a:rPr>
              <a:t>Confirmed in practice</a:t>
            </a:r>
          </a:p>
        </p:txBody>
      </p:sp>
      <p:sp>
        <p:nvSpPr>
          <p:cNvPr id="18" name="TextBox 17"/>
          <p:cNvSpPr txBox="1"/>
          <p:nvPr/>
        </p:nvSpPr>
        <p:spPr>
          <a:xfrm>
            <a:off x="6446520" y="4800600"/>
            <a:ext cx="4937760" cy="1005840"/>
          </a:xfrm>
          <a:prstGeom prst="rect">
            <a:avLst/>
          </a:prstGeom>
          <a:noFill/>
        </p:spPr>
        <p:txBody>
          <a:bodyPr wrap="square" lIns="0" tIns="0" rIns="0" bIns="0" anchor="t">
            <a:spAutoFit/>
          </a:bodyPr>
          <a:lstStyle/>
          <a:p>
            <a:pPr algn="l"/>
            <a:r>
              <a:rPr sz="1500" b="0" i="0">
                <a:solidFill>
                  <a:srgbClr val="D3E3E6"/>
                </a:solidFill>
                <a:latin typeface="Calibri"/>
              </a:rPr>
              <a:t>Measured growth follows the theory in all 5 scenarios, up to one million elements.</a:t>
            </a:r>
          </a:p>
        </p:txBody>
      </p:sp>
      <p:sp>
        <p:nvSpPr>
          <p:cNvPr id="19" name="TextBox 18"/>
          <p:cNvSpPr txBox="1"/>
          <p:nvPr/>
        </p:nvSpPr>
        <p:spPr>
          <a:xfrm>
            <a:off x="548640" y="5897880"/>
            <a:ext cx="11064240" cy="411480"/>
          </a:xfrm>
          <a:prstGeom prst="rect">
            <a:avLst/>
          </a:prstGeom>
          <a:noFill/>
        </p:spPr>
        <p:txBody>
          <a:bodyPr wrap="square" lIns="0" tIns="0" rIns="0" bIns="0" anchor="t">
            <a:spAutoFit/>
          </a:bodyPr>
          <a:lstStyle/>
          <a:p>
            <a:pPr algn="r"/>
            <a:r>
              <a:rPr sz="2000" b="1" i="0">
                <a:solidFill>
                  <a:srgbClr val="E9C46A"/>
                </a:solidFill>
                <a:latin typeface="Cambria"/>
              </a:rPr>
              <a:t>Questions?</a:t>
            </a:r>
          </a:p>
        </p:txBody>
      </p:sp>
      <p:sp>
        <p:nvSpPr>
          <p:cNvPr id="20" name="TextBox 19"/>
          <p:cNvSpPr txBox="1"/>
          <p:nvPr/>
        </p:nvSpPr>
        <p:spPr>
          <a:xfrm>
            <a:off x="10881360" y="6400800"/>
            <a:ext cx="822960" cy="274320"/>
          </a:xfrm>
          <a:prstGeom prst="rect">
            <a:avLst/>
          </a:prstGeom>
          <a:noFill/>
        </p:spPr>
        <p:txBody>
          <a:bodyPr wrap="square" lIns="0" tIns="0" rIns="0" bIns="0" anchor="t">
            <a:spAutoFit/>
          </a:bodyPr>
          <a:lstStyle/>
          <a:p>
            <a:pPr algn="r"/>
            <a:r>
              <a:rPr sz="1100" b="0" i="0">
                <a:solidFill>
                  <a:srgbClr val="9FB8BF"/>
                </a:solidFill>
                <a:latin typeface="Calibri"/>
              </a:rPr>
              <a:t>22</a:t>
            </a:r>
          </a:p>
        </p:txBody>
      </p:sp>
      <p:sp>
        <p:nvSpPr>
          <p:cNvPr id="21" name="TextBox 20"/>
          <p:cNvSpPr txBox="1"/>
          <p:nvPr/>
        </p:nvSpPr>
        <p:spPr>
          <a:xfrm>
            <a:off x="548640" y="6400800"/>
            <a:ext cx="7315200" cy="274320"/>
          </a:xfrm>
          <a:prstGeom prst="rect">
            <a:avLst/>
          </a:prstGeom>
          <a:noFill/>
        </p:spPr>
        <p:txBody>
          <a:bodyPr wrap="square" lIns="0" tIns="0" rIns="0" bIns="0" anchor="t">
            <a:spAutoFit/>
          </a:bodyPr>
          <a:lstStyle/>
          <a:p>
            <a:pPr algn="l"/>
            <a:r>
              <a:rPr sz="1100" b="0" i="0">
                <a:solidFill>
                  <a:srgbClr val="9FB8BF"/>
                </a:solidFill>
                <a:latin typeface="Calibri"/>
              </a:rPr>
              <a:t>CyED II · Integrative Assignment 1 · Divide and conquer in Scala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108</TotalTime>
  <Words>3903</Words>
  <Application>Microsoft Office PowerPoint</Application>
  <PresentationFormat>Panorámica</PresentationFormat>
  <Paragraphs>432</Paragraphs>
  <Slides>22</Slides>
  <Notes>22</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22</vt:i4>
      </vt:variant>
    </vt:vector>
  </HeadingPairs>
  <TitlesOfParts>
    <vt:vector size="27" baseType="lpstr">
      <vt:lpstr>Arial</vt:lpstr>
      <vt:lpstr>Calibri</vt:lpstr>
      <vt:lpstr>Cambria</vt:lpstr>
      <vt:lpstr>Consolas</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Divide y vencerás en Scala puramente funcional</dc:title>
  <dc:subject/>
  <dc:creator>Juan Andrés Ariza López</dc:creator>
  <cp:keywords/>
  <dc:description>generated using python-pptx</dc:description>
  <cp:lastModifiedBy>juan ariza</cp:lastModifiedBy>
  <cp:revision>1</cp:revision>
  <dcterms:created xsi:type="dcterms:W3CDTF">2013-01-27T09:14:16Z</dcterms:created>
  <dcterms:modified xsi:type="dcterms:W3CDTF">2026-10-23T19:23:00Z</dcterms:modified>
  <cp:category/>
</cp:coreProperties>
</file>